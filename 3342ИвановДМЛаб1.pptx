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7" r:id="rId30"/>
    <p:sldId id="288" r:id="rId31"/>
    <p:sldId id="289" r:id="rId32"/>
    <p:sldId id="290" r:id="rId3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94620" autoAdjust="0"/>
  </p:normalViewPr>
  <p:slideViewPr>
    <p:cSldViewPr snapToGrid="0">
      <p:cViewPr varScale="1">
        <p:scale>
          <a:sx n="114" d="100"/>
          <a:sy n="114" d="100"/>
        </p:scale>
        <p:origin x="438" y="114"/>
      </p:cViewPr>
      <p:guideLst/>
    </p:cSldViewPr>
  </p:slideViewPr>
  <p:outlineViewPr>
    <p:cViewPr>
      <p:scale>
        <a:sx n="33" d="100"/>
        <a:sy n="33" d="100"/>
      </p:scale>
      <p:origin x="0" y="-138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B763CB-886B-4F9D-A0F7-D0608E060852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7F6234-5DAF-4D04-B983-CB9A793410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6488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F6234-5DAF-4D04-B983-CB9A7934107E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3914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F6234-5DAF-4D04-B983-CB9A7934107E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74551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F6234-5DAF-4D04-B983-CB9A7934107E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57880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F6234-5DAF-4D04-B983-CB9A7934107E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05059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F6234-5DAF-4D04-B983-CB9A7934107E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9480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F6234-5DAF-4D04-B983-CB9A7934107E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3115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F6234-5DAF-4D04-B983-CB9A7934107E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03817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F6234-5DAF-4D04-B983-CB9A7934107E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18526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F6234-5DAF-4D04-B983-CB9A7934107E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7116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1B5A89-BB92-4131-9EF6-1C626C0DAB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F70737F-7137-4C19-BE97-0B62ACBB53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32FDE2F-2B2A-4406-B0D1-EF8C7CCBA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085A5-2DD2-4FD2-A6F3-985531B76307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E6CDF54-6CEB-47E7-BFF1-89FA246CF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9CD9FA4-0A0D-4645-B527-0CF3F0603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5242F-5107-4051-A9AE-5A298DFB6A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0517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995C76-5F18-4242-9AB9-80F56D785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4A359C-6E92-4608-97C6-2E1F7CE86C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93295D-8689-4F96-87A2-C8C0B3601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085A5-2DD2-4FD2-A6F3-985531B76307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AF9B386-B61B-4742-ACFE-4E416B21B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A961505-FF6A-4613-930A-181CCB052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5242F-5107-4051-A9AE-5A298DFB6A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684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ACAA07-D053-4797-B797-6B8D7BAA1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CF42B7B-BBC6-4224-A6B8-6E1BB2E41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EAB877E-EB4D-4141-8832-55AD7F6C7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085A5-2DD2-4FD2-A6F3-985531B76307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1686197-4BC8-4A42-B7DF-4EB690ABE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DC720B9-9E8E-4290-BAD4-3280A4435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5242F-5107-4051-A9AE-5A298DFB6A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4271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636BA1-073D-4C2A-A826-7C5A9A37F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E85961-E306-4A02-867B-39B54A51FF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15E561C-11CB-4FDE-9AEA-DEC2F10F4E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9F10357-EA56-499A-B450-19471E212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085A5-2DD2-4FD2-A6F3-985531B76307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63D07B9-C465-48DB-99BF-BF7C6C735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E12B3F7-3200-46CD-B12E-59F2D6514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5242F-5107-4051-A9AE-5A298DFB6A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5407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EE6351-C687-42B2-8A48-9D1E609D6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0907039-8EA6-49FF-90C0-46412A87E1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B70F2C8-4DEC-44B7-9BAA-BDD63568DC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142BA2-7AF2-4324-AC18-05F436B4C5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3DAA2AE-A706-497E-9105-C9B3644099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3B2FB57-8349-4569-A362-574F4D394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085A5-2DD2-4FD2-A6F3-985531B76307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F7F7B0D-B795-4F80-A330-91D572D89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1F271B3-D215-496D-9C7F-2C12D66E6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5242F-5107-4051-A9AE-5A298DFB6A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4286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DF741A-A3A7-4304-A362-1D2441442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D7009CE-DEFF-4418-AF38-238915903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085A5-2DD2-4FD2-A6F3-985531B76307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090F83B-1429-4903-A58A-16B6571BC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7692C4B-8843-4753-9D31-EEFBF6736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5242F-5107-4051-A9AE-5A298DFB6A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6824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D7C811C-226C-47D8-BE3B-9D0B3BF73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085A5-2DD2-4FD2-A6F3-985531B76307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D66651A-020A-4452-80FC-28C76A3E8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4A83A56-5877-4B81-A896-55CD90A22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5242F-5107-4051-A9AE-5A298DFB6A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8947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E690C-6406-4502-BC60-A4239CA31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F16622-CBE4-44F1-B27A-F6FC0277E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2B2413F-DAAF-43FE-996F-AA997CA567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A9428B7-DD43-47A8-995B-8B94E8DA5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085A5-2DD2-4FD2-A6F3-985531B76307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82527E6-9AE5-4756-8B35-B6F7A9DDE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B38945D-5EDF-40DA-B849-D985D2BF1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5242F-5107-4051-A9AE-5A298DFB6A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4970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54EBD0-7D90-4BEE-A8BB-FD71853A2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79E7D20-23A1-47DB-ACFE-1200F40D67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04D6AEC-3D22-4FA7-BD48-C022C39C2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5D658EF-58D1-4381-AF5D-DD611C00A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085A5-2DD2-4FD2-A6F3-985531B76307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BD616E4-C66E-4080-A082-C25A9C5D1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22517DC-702E-4CC0-9A83-25004388B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5242F-5107-4051-A9AE-5A298DFB6A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1843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A5A7A0-C79A-4C1A-ACCC-855F66419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31AFA79-798C-4DAF-A28A-724F155565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9B229F1-B2E2-47D3-BEEE-3592001A2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085A5-2DD2-4FD2-A6F3-985531B76307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C41C3E5-6617-4269-ADA1-03E5C2171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A70EC36-22F8-4EC1-935B-C2EEA8D39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5242F-5107-4051-A9AE-5A298DFB6A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3871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6E613FD-BD18-4570-BEEE-F30ADA259E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9C575E5-40E1-4197-A7A4-48442C0BE4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60AE530-1700-4E40-A78F-04E67CF51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085A5-2DD2-4FD2-A6F3-985531B76307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6A4D0C-29CA-4574-A81C-2E799E6EE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42DD481-26A6-41EB-A084-98448221F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5242F-5107-4051-A9AE-5A298DFB6A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6813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5BBFE0-74D1-4288-9715-1EADE1973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7CAFAC-0BEF-4A66-8FF5-D1ED116835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0223FBF-5E58-4DEF-958D-1801B50149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6085A5-2DD2-4FD2-A6F3-985531B76307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563C47-4544-439A-BD04-59E6E502F3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EC6FD8D-4B3E-414C-BB4C-8B7BA84815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5242F-5107-4051-A9AE-5A298DFB6A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6394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6856284-14A6-445D-9082-6502F99211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1079" y="3573710"/>
            <a:ext cx="8349842" cy="2143855"/>
          </a:xfrm>
        </p:spPr>
        <p:txBody>
          <a:bodyPr anchor="ctr">
            <a:noAutofit/>
          </a:bodyPr>
          <a:lstStyle/>
          <a:p>
            <a:pPr algn="l"/>
            <a:r>
              <a:rPr lang="ru-RU" dirty="0"/>
              <a:t>Студент: _______________ Иванов Данила , группа 3342 </a:t>
            </a:r>
          </a:p>
          <a:p>
            <a:pPr algn="l">
              <a:lnSpc>
                <a:spcPct val="250000"/>
              </a:lnSpc>
            </a:pPr>
            <a:r>
              <a:rPr lang="ru-RU" dirty="0"/>
              <a:t>Руководитель:___________ Племянников А.К., доцент каф. ИБ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6E4397-3EB9-428B-83F1-7BCE3338FD07}"/>
              </a:ext>
            </a:extLst>
          </p:cNvPr>
          <p:cNvSpPr txBox="1"/>
          <p:nvPr/>
        </p:nvSpPr>
        <p:spPr>
          <a:xfrm>
            <a:off x="1524000" y="343101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Санкт-Петербургский государственный электротехнический </a:t>
            </a:r>
            <a:endParaRPr lang="en-US" dirty="0"/>
          </a:p>
          <a:p>
            <a:pPr algn="ctr"/>
            <a:r>
              <a:rPr lang="ru-RU" dirty="0"/>
              <a:t>университет «ЛЭТИ» им. В.И. Ульянова (Ленина)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9C12BF-F26D-4B30-A4BA-CA2AC7C4EB70}"/>
              </a:ext>
            </a:extLst>
          </p:cNvPr>
          <p:cNvSpPr txBox="1"/>
          <p:nvPr/>
        </p:nvSpPr>
        <p:spPr>
          <a:xfrm>
            <a:off x="1524000" y="1731145"/>
            <a:ext cx="9144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Лабораторная №</a:t>
            </a:r>
            <a:r>
              <a:rPr lang="en-US" sz="2400" dirty="0"/>
              <a:t> 1</a:t>
            </a:r>
          </a:p>
          <a:p>
            <a:pPr algn="ctr"/>
            <a:r>
              <a:rPr lang="ru-RU" sz="3200" i="1" dirty="0"/>
              <a:t> </a:t>
            </a:r>
            <a:r>
              <a:rPr lang="ru-RU" sz="2800" i="1" dirty="0"/>
              <a:t>Изучение классических шифров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F6A747-1450-4635-A64E-CE9BCA7B70FD}"/>
              </a:ext>
            </a:extLst>
          </p:cNvPr>
          <p:cNvSpPr txBox="1"/>
          <p:nvPr/>
        </p:nvSpPr>
        <p:spPr>
          <a:xfrm>
            <a:off x="1524000" y="5868568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Сант-Петербург 2026</a:t>
            </a:r>
          </a:p>
        </p:txBody>
      </p:sp>
    </p:spTree>
    <p:extLst>
      <p:ext uri="{BB962C8B-B14F-4D97-AF65-F5344CB8AC3E}">
        <p14:creationId xmlns:p14="http://schemas.microsoft.com/office/powerpoint/2010/main" val="450333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8D07D25B-21EF-4D5A-BBCE-8FF8B00B1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2750"/>
            <a:ext cx="10515600" cy="59187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/>
              <a:t>Цель.</a:t>
            </a:r>
            <a:r>
              <a:rPr lang="ru-RU" sz="2400" dirty="0"/>
              <a:t> Повышение компетентности в области зашифрования и расшифрования с помощью таких классических шрифтов, как </a:t>
            </a:r>
            <a:r>
              <a:rPr lang="en-US" sz="2400" dirty="0"/>
              <a:t>"Scytale", "</a:t>
            </a:r>
            <a:r>
              <a:rPr lang="ru-RU" sz="2400" dirty="0"/>
              <a:t>Агентурный", "</a:t>
            </a:r>
            <a:r>
              <a:rPr lang="en-US" sz="2400" dirty="0" err="1"/>
              <a:t>Vigenere</a:t>
            </a:r>
            <a:r>
              <a:rPr lang="en-US" sz="2400" dirty="0"/>
              <a:t>", "Hill", "ADFGVX"</a:t>
            </a:r>
            <a:r>
              <a:rPr lang="ru-RU" sz="2400" dirty="0"/>
              <a:t>.</a:t>
            </a:r>
          </a:p>
          <a:p>
            <a:pPr marL="0" indent="0">
              <a:buNone/>
            </a:pPr>
            <a:r>
              <a:rPr lang="ru-RU" sz="2400" dirty="0"/>
              <a:t>Для достижения поставленной цели предстояло решить следующие основные задачи:</a:t>
            </a:r>
          </a:p>
          <a:p>
            <a:pPr marL="0" indent="0">
              <a:buNone/>
            </a:pPr>
            <a:r>
              <a:rPr lang="en-US" sz="2400" dirty="0"/>
              <a:t>1) </a:t>
            </a:r>
            <a:r>
              <a:rPr lang="ru-RU" sz="2400" dirty="0"/>
              <a:t>Изучить шифр </a:t>
            </a:r>
            <a:r>
              <a:rPr lang="en-US" sz="2400" dirty="0"/>
              <a:t>"Scytale"</a:t>
            </a:r>
            <a:endParaRPr lang="ru-RU" sz="2400" dirty="0"/>
          </a:p>
          <a:p>
            <a:pPr marL="0" indent="0">
              <a:buNone/>
            </a:pPr>
            <a:r>
              <a:rPr lang="ru-RU" sz="2400" dirty="0"/>
              <a:t>2) Изучить шифр </a:t>
            </a:r>
            <a:r>
              <a:rPr lang="en-US" sz="2400" dirty="0"/>
              <a:t>"</a:t>
            </a:r>
            <a:r>
              <a:rPr lang="ru-RU" sz="2400" dirty="0"/>
              <a:t>Агентурный</a:t>
            </a:r>
            <a:r>
              <a:rPr lang="en-US" sz="2400" dirty="0"/>
              <a:t>"</a:t>
            </a:r>
            <a:endParaRPr lang="ru-RU" sz="2400" dirty="0"/>
          </a:p>
          <a:p>
            <a:pPr marL="0" indent="0">
              <a:buNone/>
            </a:pPr>
            <a:r>
              <a:rPr lang="ru-RU" sz="2400" dirty="0"/>
              <a:t>3) Изучить шифр </a:t>
            </a:r>
            <a:r>
              <a:rPr lang="en-US" sz="2400" dirty="0"/>
              <a:t>"</a:t>
            </a:r>
            <a:r>
              <a:rPr lang="en-US" sz="2400" dirty="0" err="1"/>
              <a:t>Vigenere</a:t>
            </a:r>
            <a:r>
              <a:rPr lang="en-US" sz="2400" dirty="0"/>
              <a:t>"</a:t>
            </a:r>
            <a:endParaRPr lang="ru-RU" sz="2400" dirty="0"/>
          </a:p>
          <a:p>
            <a:pPr marL="0" indent="0">
              <a:buNone/>
            </a:pPr>
            <a:r>
              <a:rPr lang="ru-RU" sz="2400" dirty="0"/>
              <a:t>4) Изучить шифр </a:t>
            </a:r>
            <a:r>
              <a:rPr lang="en-US" sz="2400" dirty="0"/>
              <a:t>"Hill"</a:t>
            </a:r>
            <a:endParaRPr lang="ru-RU" sz="2400" dirty="0"/>
          </a:p>
          <a:p>
            <a:pPr marL="0" indent="0">
              <a:buNone/>
            </a:pPr>
            <a:r>
              <a:rPr lang="ru-RU" sz="2400" dirty="0"/>
              <a:t>5) Изучить шифр </a:t>
            </a:r>
            <a:r>
              <a:rPr lang="en-US" sz="2400" dirty="0"/>
              <a:t>"ADFGVX"</a:t>
            </a:r>
            <a:endParaRPr lang="ru-RU" sz="2400" dirty="0"/>
          </a:p>
          <a:p>
            <a:pPr marL="0" indent="0">
              <a:buNone/>
            </a:pPr>
            <a:r>
              <a:rPr lang="ru-RU" sz="2400" dirty="0"/>
              <a:t>6) Изучить шифр, заданный вариантом.</a:t>
            </a:r>
          </a:p>
          <a:p>
            <a:pPr marL="0" indent="0"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348240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A26705-683D-4D4C-9B36-779125C4E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Scytale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035605-D5AF-48E3-8D2E-86123DDFCE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err="1"/>
              <a:t>Scytale</a:t>
            </a:r>
            <a:r>
              <a:rPr lang="ru-RU" dirty="0"/>
              <a:t> - классический перестановочный шифр. При его использовании изменяется порядок символов исходного сообщения.</a:t>
            </a:r>
          </a:p>
          <a:p>
            <a:pPr marL="0" indent="0">
              <a:buNone/>
            </a:pPr>
            <a:r>
              <a:rPr lang="ru-RU" dirty="0"/>
              <a:t>Ключом является количество строк в табличном представлении алгоритма.</a:t>
            </a:r>
          </a:p>
          <a:p>
            <a:pPr marL="0" indent="0">
              <a:buNone/>
            </a:pPr>
            <a:r>
              <a:rPr lang="ru-RU" dirty="0"/>
              <a:t>Количество столбцов будет вычисляться, как ⌈n / k⌉, где n - длина открытого текста, k - ключ.</a:t>
            </a:r>
          </a:p>
          <a:p>
            <a:pPr marL="0" indent="0">
              <a:buNone/>
            </a:pPr>
            <a:r>
              <a:rPr lang="ru-RU" dirty="0"/>
              <a:t>Сложность атаки методом грубой силы</a:t>
            </a:r>
            <a:r>
              <a:rPr lang="en-US" dirty="0"/>
              <a:t>: O(n), </a:t>
            </a:r>
            <a:r>
              <a:rPr lang="ru-RU" dirty="0"/>
              <a:t>где </a:t>
            </a:r>
            <a:r>
              <a:rPr lang="en-US" dirty="0"/>
              <a:t>n – </a:t>
            </a:r>
            <a:r>
              <a:rPr lang="ru-RU" dirty="0"/>
              <a:t>длина </a:t>
            </a:r>
            <a:r>
              <a:rPr lang="ru-RU" dirty="0" err="1"/>
              <a:t>шифротекста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97800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7B502656-4955-44DE-8F40-D8FFAF25B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1639"/>
            <a:ext cx="3769311" cy="5715324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Открытый текст</a:t>
            </a:r>
            <a:r>
              <a:rPr lang="en-US" dirty="0"/>
              <a:t>: </a:t>
            </a:r>
            <a:r>
              <a:rPr lang="en-US" dirty="0" err="1"/>
              <a:t>danila</a:t>
            </a:r>
            <a:r>
              <a:rPr lang="en-US" dirty="0"/>
              <a:t> (</a:t>
            </a:r>
            <a:r>
              <a:rPr lang="ru-RU" dirty="0"/>
              <a:t>6 символов</a:t>
            </a:r>
            <a:r>
              <a:rPr lang="en-US" dirty="0"/>
              <a:t>)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Ключ</a:t>
            </a:r>
            <a:r>
              <a:rPr lang="en-US" dirty="0"/>
              <a:t>: 7</a:t>
            </a:r>
            <a:endParaRPr lang="ru-RU" dirty="0"/>
          </a:p>
          <a:p>
            <a:pPr marL="0" indent="0">
              <a:buNone/>
            </a:pPr>
            <a:r>
              <a:rPr lang="ru-RU" dirty="0" err="1"/>
              <a:t>Шифротекст</a:t>
            </a:r>
            <a:r>
              <a:rPr lang="en-US" dirty="0"/>
              <a:t>: </a:t>
            </a:r>
            <a:r>
              <a:rPr lang="en-US" dirty="0" err="1"/>
              <a:t>danila</a:t>
            </a:r>
            <a:r>
              <a:rPr lang="en-US" dirty="0"/>
              <a:t>_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ACEE3B1-BDEE-427F-B3B5-BA2AD5141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9262" y="461639"/>
            <a:ext cx="5135270" cy="2901374"/>
          </a:xfrm>
          <a:prstGeom prst="rect">
            <a:avLst/>
          </a:prstGeom>
        </p:spPr>
      </p:pic>
      <p:graphicFrame>
        <p:nvGraphicFramePr>
          <p:cNvPr id="5" name="Таблица 5">
            <a:extLst>
              <a:ext uri="{FF2B5EF4-FFF2-40B4-BE49-F238E27FC236}">
                <a16:creationId xmlns:a16="http://schemas.microsoft.com/office/drawing/2014/main" id="{68FC206D-5665-454D-8976-FF84B6F6DF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11831"/>
              </p:ext>
            </p:extLst>
          </p:nvPr>
        </p:nvGraphicFramePr>
        <p:xfrm>
          <a:off x="7756139" y="3693685"/>
          <a:ext cx="1341515" cy="2595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41515">
                  <a:extLst>
                    <a:ext uri="{9D8B030D-6E8A-4147-A177-3AD203B41FA5}">
                      <a16:colId xmlns:a16="http://schemas.microsoft.com/office/drawing/2014/main" val="26072596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0681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9411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2306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1634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08298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7440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6218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1047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7B502656-4955-44DE-8F40-D8FFAF25B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1639"/>
            <a:ext cx="3968692" cy="5715324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Открытый текст</a:t>
            </a:r>
            <a:r>
              <a:rPr lang="en-US" dirty="0"/>
              <a:t>: </a:t>
            </a:r>
            <a:r>
              <a:rPr lang="en-US" dirty="0" err="1"/>
              <a:t>danila</a:t>
            </a:r>
            <a:r>
              <a:rPr lang="en-US" dirty="0"/>
              <a:t> (</a:t>
            </a:r>
            <a:r>
              <a:rPr lang="ru-RU" dirty="0"/>
              <a:t>6 символов</a:t>
            </a:r>
            <a:r>
              <a:rPr lang="en-US" dirty="0"/>
              <a:t>)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Ключ</a:t>
            </a:r>
            <a:r>
              <a:rPr lang="en-US" dirty="0"/>
              <a:t>: 5</a:t>
            </a:r>
            <a:endParaRPr lang="ru-RU" dirty="0"/>
          </a:p>
          <a:p>
            <a:pPr marL="0" indent="0">
              <a:buNone/>
            </a:pPr>
            <a:r>
              <a:rPr lang="ru-RU" dirty="0" err="1"/>
              <a:t>Шифротекст</a:t>
            </a:r>
            <a:r>
              <a:rPr lang="en-US" dirty="0"/>
              <a:t>: </a:t>
            </a:r>
            <a:r>
              <a:rPr lang="en-US" dirty="0" err="1"/>
              <a:t>dnl</a:t>
            </a:r>
            <a:r>
              <a:rPr lang="en-US" dirty="0"/>
              <a:t>__</a:t>
            </a:r>
            <a:r>
              <a:rPr lang="en-US" dirty="0" err="1"/>
              <a:t>aia</a:t>
            </a:r>
            <a:r>
              <a:rPr lang="en-US" dirty="0"/>
              <a:t>__</a:t>
            </a:r>
            <a:endParaRPr lang="ru-RU" dirty="0"/>
          </a:p>
        </p:txBody>
      </p:sp>
      <p:graphicFrame>
        <p:nvGraphicFramePr>
          <p:cNvPr id="5" name="Таблица 5">
            <a:extLst>
              <a:ext uri="{FF2B5EF4-FFF2-40B4-BE49-F238E27FC236}">
                <a16:creationId xmlns:a16="http://schemas.microsoft.com/office/drawing/2014/main" id="{68FC206D-5665-454D-8976-FF84B6F6DF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0964444"/>
              </p:ext>
            </p:extLst>
          </p:nvPr>
        </p:nvGraphicFramePr>
        <p:xfrm>
          <a:off x="7756138" y="3693685"/>
          <a:ext cx="1885012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2506">
                  <a:extLst>
                    <a:ext uri="{9D8B030D-6E8A-4147-A177-3AD203B41FA5}">
                      <a16:colId xmlns:a16="http://schemas.microsoft.com/office/drawing/2014/main" val="2607259622"/>
                    </a:ext>
                  </a:extLst>
                </a:gridCol>
                <a:gridCol w="942506">
                  <a:extLst>
                    <a:ext uri="{9D8B030D-6E8A-4147-A177-3AD203B41FA5}">
                      <a16:colId xmlns:a16="http://schemas.microsoft.com/office/drawing/2014/main" val="42678984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0681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9411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2306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1634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0829858"/>
                  </a:ext>
                </a:extLst>
              </a:tr>
            </a:tbl>
          </a:graphicData>
        </a:graphic>
      </p:graphicFrame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FFD26BC-4AD2-4BD0-B69E-47C2D7973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249" y="485479"/>
            <a:ext cx="5123294" cy="2833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111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7B502656-4955-44DE-8F40-D8FFAF25B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1639"/>
            <a:ext cx="3769311" cy="5715324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Открытый текст</a:t>
            </a:r>
            <a:r>
              <a:rPr lang="en-US" dirty="0"/>
              <a:t>: </a:t>
            </a:r>
            <a:r>
              <a:rPr lang="en-US" dirty="0" err="1"/>
              <a:t>danila</a:t>
            </a:r>
            <a:r>
              <a:rPr lang="en-US" dirty="0"/>
              <a:t> (</a:t>
            </a:r>
            <a:r>
              <a:rPr lang="ru-RU" dirty="0"/>
              <a:t>6 символов</a:t>
            </a:r>
            <a:r>
              <a:rPr lang="en-US" dirty="0"/>
              <a:t>)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Ключ</a:t>
            </a:r>
            <a:r>
              <a:rPr lang="en-US" dirty="0"/>
              <a:t>: 2</a:t>
            </a:r>
            <a:endParaRPr lang="ru-RU" dirty="0"/>
          </a:p>
          <a:p>
            <a:pPr marL="0" indent="0">
              <a:buNone/>
            </a:pPr>
            <a:r>
              <a:rPr lang="ru-RU" dirty="0" err="1"/>
              <a:t>Шифротекст</a:t>
            </a:r>
            <a:r>
              <a:rPr lang="en-US" dirty="0"/>
              <a:t>: </a:t>
            </a:r>
            <a:r>
              <a:rPr lang="en-US" dirty="0" err="1"/>
              <a:t>dialna</a:t>
            </a:r>
            <a:endParaRPr lang="ru-RU" dirty="0"/>
          </a:p>
        </p:txBody>
      </p:sp>
      <p:graphicFrame>
        <p:nvGraphicFramePr>
          <p:cNvPr id="5" name="Таблица 5">
            <a:extLst>
              <a:ext uri="{FF2B5EF4-FFF2-40B4-BE49-F238E27FC236}">
                <a16:creationId xmlns:a16="http://schemas.microsoft.com/office/drawing/2014/main" id="{68FC206D-5665-454D-8976-FF84B6F6DF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7714872"/>
              </p:ext>
            </p:extLst>
          </p:nvPr>
        </p:nvGraphicFramePr>
        <p:xfrm>
          <a:off x="7250110" y="4048792"/>
          <a:ext cx="3136764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5588">
                  <a:extLst>
                    <a:ext uri="{9D8B030D-6E8A-4147-A177-3AD203B41FA5}">
                      <a16:colId xmlns:a16="http://schemas.microsoft.com/office/drawing/2014/main" val="2607259622"/>
                    </a:ext>
                  </a:extLst>
                </a:gridCol>
                <a:gridCol w="1045588">
                  <a:extLst>
                    <a:ext uri="{9D8B030D-6E8A-4147-A177-3AD203B41FA5}">
                      <a16:colId xmlns:a16="http://schemas.microsoft.com/office/drawing/2014/main" val="4267898490"/>
                    </a:ext>
                  </a:extLst>
                </a:gridCol>
                <a:gridCol w="1045588">
                  <a:extLst>
                    <a:ext uri="{9D8B030D-6E8A-4147-A177-3AD203B41FA5}">
                      <a16:colId xmlns:a16="http://schemas.microsoft.com/office/drawing/2014/main" val="39626576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0681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9411592"/>
                  </a:ext>
                </a:extLst>
              </a:tr>
            </a:tbl>
          </a:graphicData>
        </a:graphic>
      </p:graphicFrame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F181B52-56CA-4EE7-91CD-5A2452425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0594" y="461639"/>
            <a:ext cx="5310599" cy="2885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772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B35AD5-00B0-4B52-9165-3CBE1E2D1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Внешняя спецификация алгоритма расшифрования </a:t>
            </a:r>
            <a:r>
              <a:rPr lang="ru-RU" dirty="0" err="1"/>
              <a:t>Scytale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3016DD-B914-4265-9319-CB3EC84B3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Назначение: восстановление открытого текста из шифровки</a:t>
            </a:r>
          </a:p>
          <a:p>
            <a:pPr marL="0" indent="0">
              <a:buNone/>
            </a:pPr>
            <a:r>
              <a:rPr lang="ru-RU" dirty="0"/>
              <a:t>Входные данные</a:t>
            </a:r>
            <a:r>
              <a:rPr lang="en-US" dirty="0"/>
              <a:t>: C – </a:t>
            </a:r>
            <a:r>
              <a:rPr lang="ru-RU" dirty="0" err="1"/>
              <a:t>шифротекст</a:t>
            </a:r>
            <a:r>
              <a:rPr lang="en-US" dirty="0"/>
              <a:t>; k – </a:t>
            </a:r>
            <a:r>
              <a:rPr lang="ru-RU" dirty="0"/>
              <a:t>ключ</a:t>
            </a:r>
          </a:p>
          <a:p>
            <a:pPr marL="0" indent="0">
              <a:buNone/>
            </a:pPr>
            <a:r>
              <a:rPr lang="ru-RU" dirty="0"/>
              <a:t>Выходные данные</a:t>
            </a:r>
            <a:r>
              <a:rPr lang="en-US" dirty="0"/>
              <a:t>: S – </a:t>
            </a:r>
            <a:r>
              <a:rPr lang="ru-RU" dirty="0"/>
              <a:t>расшифрованное сообщение </a:t>
            </a:r>
          </a:p>
          <a:p>
            <a:pPr marL="0" indent="0">
              <a:buNone/>
            </a:pPr>
            <a:r>
              <a:rPr lang="ru-RU" dirty="0"/>
              <a:t>Ограничения</a:t>
            </a:r>
            <a:r>
              <a:rPr lang="en-US" dirty="0"/>
              <a:t>: C – </a:t>
            </a:r>
            <a:r>
              <a:rPr lang="ru-RU" dirty="0"/>
              <a:t>набор символов</a:t>
            </a:r>
            <a:r>
              <a:rPr lang="en-US" dirty="0"/>
              <a:t>;</a:t>
            </a:r>
            <a:r>
              <a:rPr lang="ru-RU" dirty="0"/>
              <a:t> </a:t>
            </a:r>
            <a:r>
              <a:rPr lang="en-US" dirty="0"/>
              <a:t>k – </a:t>
            </a:r>
            <a:r>
              <a:rPr lang="ru-RU" dirty="0"/>
              <a:t>целое положительное число.</a:t>
            </a:r>
          </a:p>
          <a:p>
            <a:pPr marL="0" indent="0">
              <a:buNone/>
            </a:pPr>
            <a:r>
              <a:rPr lang="ru-RU" dirty="0"/>
              <a:t>Алгоритм расшифрования</a:t>
            </a:r>
            <a:r>
              <a:rPr lang="en-US" dirty="0"/>
              <a:t>: </a:t>
            </a:r>
            <a:r>
              <a:rPr lang="ru-RU" dirty="0"/>
              <a:t>Строится таблица размером </a:t>
            </a:r>
            <a:r>
              <a:rPr lang="en-US" dirty="0"/>
              <a:t>k </a:t>
            </a:r>
            <a:r>
              <a:rPr lang="ru-RU" dirty="0"/>
              <a:t>строк и </a:t>
            </a:r>
            <a:r>
              <a:rPr lang="en-US" dirty="0"/>
              <a:t>⌈n / k⌉</a:t>
            </a:r>
            <a:r>
              <a:rPr lang="ru-RU" dirty="0"/>
              <a:t> столбцов, где </a:t>
            </a:r>
            <a:r>
              <a:rPr lang="en-US" dirty="0"/>
              <a:t>n – </a:t>
            </a:r>
            <a:r>
              <a:rPr lang="ru-RU" dirty="0"/>
              <a:t>длина </a:t>
            </a:r>
            <a:r>
              <a:rPr lang="en-US" dirty="0"/>
              <a:t>C.</a:t>
            </a:r>
            <a:r>
              <a:rPr lang="ru-RU" dirty="0"/>
              <a:t> </a:t>
            </a:r>
            <a:r>
              <a:rPr lang="ru-RU" dirty="0" err="1"/>
              <a:t>Шифротекст</a:t>
            </a:r>
            <a:r>
              <a:rPr lang="ru-RU" dirty="0"/>
              <a:t> записывается по столбцам сверху</a:t>
            </a:r>
            <a:r>
              <a:rPr lang="en-US" dirty="0"/>
              <a:t> </a:t>
            </a:r>
            <a:r>
              <a:rPr lang="ru-RU" dirty="0"/>
              <a:t>вниз, начиная с левого столбца. После этого текст читается построчно, это и будет восстановленный открытый текст.</a:t>
            </a:r>
          </a:p>
        </p:txBody>
      </p:sp>
    </p:spTree>
    <p:extLst>
      <p:ext uri="{BB962C8B-B14F-4D97-AF65-F5344CB8AC3E}">
        <p14:creationId xmlns:p14="http://schemas.microsoft.com/office/powerpoint/2010/main" val="3346743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FD2AFE-7527-4C91-A833-92EEB19D6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Блок-схема алгоритма расшифрования </a:t>
            </a:r>
            <a:r>
              <a:rPr lang="en-US" dirty="0"/>
              <a:t>Scytale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20F7143-0164-40B8-B9B6-824173CF6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9890" y="1191236"/>
            <a:ext cx="6022896" cy="5440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789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453DB0-C848-425C-B650-61690A9F4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Агентурный шифр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F51C46-4959-4521-A608-472EA65FC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Агентурный шифр замены</a:t>
            </a:r>
            <a:r>
              <a:rPr lang="en-US" dirty="0"/>
              <a:t> - </a:t>
            </a:r>
            <a:r>
              <a:rPr lang="ru-RU" dirty="0"/>
              <a:t>классический шифр </a:t>
            </a:r>
            <a:r>
              <a:rPr lang="ru-RU" dirty="0" err="1"/>
              <a:t>моноалфавитной</a:t>
            </a:r>
            <a:r>
              <a:rPr lang="ru-RU" dirty="0"/>
              <a:t> подстановки. При его использовании каждый символ исходного сообщения заменяется другим символом в соответствии с заданным ключом.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Ключом являются пароль и сдвиг.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Пароль используется для формирования ключевого алфавита: сначала записываются уникальные символы пароля, затем</a:t>
            </a:r>
            <a:r>
              <a:rPr lang="en-US" dirty="0"/>
              <a:t> - </a:t>
            </a:r>
            <a:r>
              <a:rPr lang="ru-RU" dirty="0"/>
              <a:t>оставшиеся символы алфавита.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Сдвиг определяет, на какое количество позиций смещается полученный ключевой алфавит при формировании таблицы замены.</a:t>
            </a:r>
          </a:p>
          <a:p>
            <a:pPr marL="0" indent="0">
              <a:buNone/>
            </a:pPr>
            <a:r>
              <a:rPr lang="ru-RU" dirty="0"/>
              <a:t>Сложность атаки методом грубой силы</a:t>
            </a:r>
            <a:r>
              <a:rPr lang="en-US" dirty="0"/>
              <a:t>: O(n!), </a:t>
            </a:r>
            <a:r>
              <a:rPr lang="ru-RU" dirty="0"/>
              <a:t>где </a:t>
            </a:r>
            <a:r>
              <a:rPr lang="en-US" dirty="0"/>
              <a:t>n – </a:t>
            </a:r>
            <a:r>
              <a:rPr lang="ru-RU" dirty="0"/>
              <a:t>мощность алфавита</a:t>
            </a:r>
            <a:r>
              <a:rPr lang="en-US" dirty="0"/>
              <a:t>. </a:t>
            </a:r>
            <a:r>
              <a:rPr lang="ru-RU" dirty="0"/>
              <a:t>Возможна атака методом частотного анализа.</a:t>
            </a:r>
          </a:p>
        </p:txBody>
      </p:sp>
    </p:spTree>
    <p:extLst>
      <p:ext uri="{BB962C8B-B14F-4D97-AF65-F5344CB8AC3E}">
        <p14:creationId xmlns:p14="http://schemas.microsoft.com/office/powerpoint/2010/main" val="361420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7B502656-4955-44DE-8F40-D8FFAF25B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1639"/>
            <a:ext cx="3769311" cy="1518081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Открытый текст</a:t>
            </a:r>
            <a:r>
              <a:rPr lang="en-US" dirty="0"/>
              <a:t>: </a:t>
            </a:r>
            <a:r>
              <a:rPr lang="en-US" dirty="0" err="1"/>
              <a:t>danila</a:t>
            </a:r>
            <a:r>
              <a:rPr lang="en-US" dirty="0"/>
              <a:t> </a:t>
            </a:r>
            <a:r>
              <a:rPr lang="ru-RU" dirty="0"/>
              <a:t>Ключ</a:t>
            </a:r>
            <a:r>
              <a:rPr lang="en-US" dirty="0"/>
              <a:t>: python; 0</a:t>
            </a:r>
            <a:endParaRPr lang="ru-RU" dirty="0"/>
          </a:p>
          <a:p>
            <a:pPr marL="0" indent="0">
              <a:buNone/>
            </a:pPr>
            <a:r>
              <a:rPr lang="ru-RU" dirty="0" err="1"/>
              <a:t>Шифротекст</a:t>
            </a:r>
            <a:r>
              <a:rPr lang="en-US" dirty="0"/>
              <a:t>: </a:t>
            </a:r>
            <a:r>
              <a:rPr lang="en-US" dirty="0" err="1"/>
              <a:t>hpicfp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409E16B-A29E-45BB-B8B3-610CF97C48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7611" y="461639"/>
            <a:ext cx="7560737" cy="406597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44E5BD7-B338-4DF4-9AD7-A89A48BE2E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4808" y="5125559"/>
            <a:ext cx="9362384" cy="715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368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7B502656-4955-44DE-8F40-D8FFAF25B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1639"/>
            <a:ext cx="3769311" cy="1518081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Открытый текст</a:t>
            </a:r>
            <a:r>
              <a:rPr lang="en-US" dirty="0"/>
              <a:t>: </a:t>
            </a:r>
            <a:r>
              <a:rPr lang="en-US" dirty="0" err="1"/>
              <a:t>danila</a:t>
            </a:r>
            <a:r>
              <a:rPr lang="en-US" dirty="0"/>
              <a:t> </a:t>
            </a:r>
            <a:r>
              <a:rPr lang="ru-RU" dirty="0"/>
              <a:t>Ключ</a:t>
            </a:r>
            <a:r>
              <a:rPr lang="en-US" dirty="0"/>
              <a:t>: python; </a:t>
            </a:r>
            <a:r>
              <a:rPr lang="ru-RU" dirty="0"/>
              <a:t>2</a:t>
            </a:r>
          </a:p>
          <a:p>
            <a:pPr marL="0" indent="0">
              <a:buNone/>
            </a:pPr>
            <a:r>
              <a:rPr lang="ru-RU" dirty="0" err="1"/>
              <a:t>Шифротекст</a:t>
            </a:r>
            <a:r>
              <a:rPr lang="en-US" dirty="0"/>
              <a:t>: </a:t>
            </a:r>
            <a:r>
              <a:rPr lang="en-US" dirty="0" err="1"/>
              <a:t>ntkeit</a:t>
            </a:r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6954B06-7591-4D38-B4DF-AA42FE8D6B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2100" y="461639"/>
            <a:ext cx="7621433" cy="4092606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96417BF-44B9-444A-8D36-4A42B5885D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4808" y="5330291"/>
            <a:ext cx="9362384" cy="71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8712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7B502656-4955-44DE-8F40-D8FFAF25B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1639"/>
            <a:ext cx="3769311" cy="1518081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Открытый текст</a:t>
            </a:r>
            <a:r>
              <a:rPr lang="en-US" dirty="0"/>
              <a:t>: </a:t>
            </a:r>
            <a:r>
              <a:rPr lang="en-US" dirty="0" err="1"/>
              <a:t>xyz</a:t>
            </a:r>
            <a:r>
              <a:rPr lang="en-US" dirty="0"/>
              <a:t> </a:t>
            </a:r>
            <a:r>
              <a:rPr lang="ru-RU" dirty="0"/>
              <a:t>Ключ</a:t>
            </a:r>
            <a:r>
              <a:rPr lang="en-US" dirty="0"/>
              <a:t>: python; 1</a:t>
            </a:r>
            <a:endParaRPr lang="ru-RU" dirty="0"/>
          </a:p>
          <a:p>
            <a:pPr marL="0" indent="0">
              <a:buNone/>
            </a:pPr>
            <a:r>
              <a:rPr lang="ru-RU" dirty="0" err="1"/>
              <a:t>Шифротекст</a:t>
            </a:r>
            <a:r>
              <a:rPr lang="en-US" dirty="0"/>
              <a:t>: </a:t>
            </a:r>
            <a:r>
              <a:rPr lang="en-US" dirty="0" err="1"/>
              <a:t>xzp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40E8586-7F9D-4B54-8A83-E0AFCE5955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489" y="461639"/>
            <a:ext cx="7621433" cy="409821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455A864-716D-4B6E-BE75-52D042369F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4808" y="5288849"/>
            <a:ext cx="9362383" cy="743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3067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B35AD5-00B0-4B52-9165-3CBE1E2D1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Внешняя спецификация алгоритма расшифрования Агентурного шифра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3016DD-B914-4265-9319-CB3EC84B3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Назначение: восстановление открытого текста из шифровки</a:t>
            </a:r>
          </a:p>
          <a:p>
            <a:pPr marL="0" indent="0">
              <a:buNone/>
            </a:pPr>
            <a:r>
              <a:rPr lang="ru-RU" dirty="0"/>
              <a:t>Входные данные</a:t>
            </a:r>
            <a:r>
              <a:rPr lang="en-US" dirty="0"/>
              <a:t>: C – </a:t>
            </a:r>
            <a:r>
              <a:rPr lang="ru-RU" dirty="0" err="1"/>
              <a:t>шифротекст</a:t>
            </a:r>
            <a:r>
              <a:rPr lang="en-US" dirty="0"/>
              <a:t>; s – </a:t>
            </a:r>
            <a:r>
              <a:rPr lang="ru-RU" dirty="0"/>
              <a:t>ключ</a:t>
            </a:r>
            <a:r>
              <a:rPr lang="en-US" dirty="0"/>
              <a:t>, </a:t>
            </a:r>
            <a:r>
              <a:rPr lang="ru-RU" dirty="0"/>
              <a:t>сдвиг алфавита</a:t>
            </a:r>
            <a:r>
              <a:rPr lang="en-US" dirty="0"/>
              <a:t>; p – </a:t>
            </a:r>
            <a:r>
              <a:rPr lang="ru-RU" dirty="0"/>
              <a:t>ключ, пароль.</a:t>
            </a:r>
          </a:p>
          <a:p>
            <a:pPr marL="0" indent="0">
              <a:buNone/>
            </a:pPr>
            <a:r>
              <a:rPr lang="ru-RU" dirty="0"/>
              <a:t>Выходные данные</a:t>
            </a:r>
            <a:r>
              <a:rPr lang="en-US" dirty="0"/>
              <a:t>: S – </a:t>
            </a:r>
            <a:r>
              <a:rPr lang="ru-RU" dirty="0"/>
              <a:t>расшифрованное сообщение </a:t>
            </a:r>
          </a:p>
          <a:p>
            <a:pPr marL="0" indent="0">
              <a:buNone/>
            </a:pPr>
            <a:r>
              <a:rPr lang="ru-RU" dirty="0"/>
              <a:t>Ограничения</a:t>
            </a:r>
            <a:r>
              <a:rPr lang="en-US" dirty="0"/>
              <a:t>: C, p – </a:t>
            </a:r>
            <a:r>
              <a:rPr lang="ru-RU" dirty="0"/>
              <a:t>набор символов</a:t>
            </a:r>
            <a:r>
              <a:rPr lang="en-US" dirty="0"/>
              <a:t>;</a:t>
            </a:r>
            <a:r>
              <a:rPr lang="ru-RU" dirty="0"/>
              <a:t> </a:t>
            </a:r>
            <a:r>
              <a:rPr lang="en-US" dirty="0"/>
              <a:t>s – </a:t>
            </a:r>
            <a:r>
              <a:rPr lang="ru-RU" dirty="0"/>
              <a:t>целое неотрицательное число</a:t>
            </a:r>
            <a:r>
              <a:rPr lang="en-US" dirty="0"/>
              <a:t>;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Алгоритм расшифрования</a:t>
            </a:r>
            <a:r>
              <a:rPr lang="en-US" dirty="0"/>
              <a:t>: </a:t>
            </a:r>
            <a:r>
              <a:rPr lang="ru-RU" dirty="0"/>
              <a:t>Сформировать ключевой алфавит на основе пароля p:</a:t>
            </a:r>
            <a:r>
              <a:rPr lang="en-US" dirty="0"/>
              <a:t> </a:t>
            </a:r>
            <a:r>
              <a:rPr lang="ru-RU" dirty="0"/>
              <a:t>удалить повторяющиеся символы из p</a:t>
            </a:r>
            <a:r>
              <a:rPr lang="en-US" dirty="0"/>
              <a:t>, </a:t>
            </a:r>
            <a:r>
              <a:rPr lang="ru-RU" dirty="0"/>
              <a:t>дописать символы исходного алфавита, отсутствующие в p.</a:t>
            </a:r>
            <a:r>
              <a:rPr lang="en-US" dirty="0"/>
              <a:t> </a:t>
            </a:r>
            <a:r>
              <a:rPr lang="ru-RU" dirty="0"/>
              <a:t>Выполнить обратный сдвиг полученного ключевого алфавита на s позиций.</a:t>
            </a:r>
            <a:r>
              <a:rPr lang="en-US" dirty="0"/>
              <a:t> </a:t>
            </a:r>
            <a:r>
              <a:rPr lang="ru-RU" dirty="0"/>
              <a:t>Для каждого символа шифровки C определить его положение в полученном алфавите и записать найденный символы в строку 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415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FD2AFE-7527-4C91-A833-92EEB19D6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Блок-схема алгоритма расшифрования Агентурного шифра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A765203-45CC-4175-B452-4766A37CF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4585" y="1132513"/>
            <a:ext cx="3187803" cy="5632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301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214ACA-4998-4BD0-BAA5-980BA0F99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Vigenere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75B5D6-C0A4-47C0-933F-05540B0C3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err="1"/>
              <a:t>Vigenere</a:t>
            </a:r>
            <a:r>
              <a:rPr lang="ru-RU" dirty="0"/>
              <a:t> - классический </a:t>
            </a:r>
            <a:r>
              <a:rPr lang="ru-RU" dirty="0" err="1"/>
              <a:t>полиалфавитный</a:t>
            </a:r>
            <a:r>
              <a:rPr lang="ru-RU" dirty="0"/>
              <a:t> шифр подстановки. При его использовании изменяются символы исходного сообщения в соответствии с ключом.</a:t>
            </a:r>
          </a:p>
          <a:p>
            <a:pPr marL="0" indent="0">
              <a:buNone/>
            </a:pPr>
            <a:r>
              <a:rPr lang="ru-RU" dirty="0"/>
              <a:t>Ключом является периодически повторяющееся ключевое слово.</a:t>
            </a:r>
          </a:p>
          <a:p>
            <a:pPr marL="0" indent="0">
              <a:buNone/>
            </a:pPr>
            <a:r>
              <a:rPr lang="ru-RU" dirty="0"/>
              <a:t>Для шифрования каждый символ открытого текста складывается с соответствующим символом ключа по модулю размера алфавита. Полученный символ добавляется в </a:t>
            </a:r>
            <a:r>
              <a:rPr lang="ru-RU" dirty="0" err="1"/>
              <a:t>шифротекст</a:t>
            </a:r>
            <a:r>
              <a:rPr lang="ru-RU" dirty="0"/>
              <a:t>. Если ключ короче открытого текста, он циклически повторяется до необходимой длины.</a:t>
            </a:r>
          </a:p>
          <a:p>
            <a:pPr marL="0" indent="0">
              <a:buNone/>
            </a:pPr>
            <a:r>
              <a:rPr lang="ru-RU" dirty="0"/>
              <a:t>Сложность атаки методом грубой силы</a:t>
            </a:r>
            <a:r>
              <a:rPr lang="en-US" dirty="0"/>
              <a:t>: O(n!</a:t>
            </a:r>
            <a:r>
              <a:rPr lang="ru-RU" dirty="0"/>
              <a:t> </a:t>
            </a:r>
            <a:r>
              <a:rPr lang="en-US" dirty="0"/>
              <a:t>/ (n - m)!), </a:t>
            </a:r>
            <a:r>
              <a:rPr lang="ru-RU" dirty="0"/>
              <a:t>где </a:t>
            </a:r>
            <a:r>
              <a:rPr lang="en-US" dirty="0"/>
              <a:t>n – </a:t>
            </a:r>
            <a:r>
              <a:rPr lang="ru-RU" dirty="0"/>
              <a:t>мощность алфавита</a:t>
            </a:r>
            <a:r>
              <a:rPr lang="en-US" dirty="0"/>
              <a:t>, m – </a:t>
            </a:r>
            <a:r>
              <a:rPr lang="ru-RU" dirty="0"/>
              <a:t>длина ключа. Возможна атака через автокорреляционный и статистический методы.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69683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7B502656-4955-44DE-8F40-D8FFAF25B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1639"/>
            <a:ext cx="3769311" cy="1518081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Открытый текст</a:t>
            </a:r>
            <a:r>
              <a:rPr lang="en-US" dirty="0"/>
              <a:t>: </a:t>
            </a:r>
            <a:r>
              <a:rPr lang="en-US" dirty="0" err="1"/>
              <a:t>danila</a:t>
            </a:r>
            <a:r>
              <a:rPr lang="en-US" dirty="0"/>
              <a:t> </a:t>
            </a:r>
            <a:r>
              <a:rPr lang="ru-RU" dirty="0"/>
              <a:t>Ключ</a:t>
            </a:r>
            <a:r>
              <a:rPr lang="en-US" dirty="0"/>
              <a:t>: key</a:t>
            </a:r>
            <a:endParaRPr lang="ru-RU" dirty="0"/>
          </a:p>
          <a:p>
            <a:pPr marL="0" indent="0">
              <a:buNone/>
            </a:pPr>
            <a:r>
              <a:rPr lang="ru-RU" dirty="0" err="1"/>
              <a:t>Шифротекст</a:t>
            </a:r>
            <a:r>
              <a:rPr lang="en-US" dirty="0"/>
              <a:t>: </a:t>
            </a:r>
            <a:r>
              <a:rPr lang="en-US" dirty="0" err="1"/>
              <a:t>nelspy</a:t>
            </a:r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407CFC6-B739-4156-9E5A-AC28CF721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511" y="461639"/>
            <a:ext cx="7443831" cy="371693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C37E9D7-97CD-401C-A6BC-4A2DDC955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3212" y="4579646"/>
            <a:ext cx="6505575" cy="187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0290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7B502656-4955-44DE-8F40-D8FFAF25B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1639"/>
            <a:ext cx="3769311" cy="1518081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Открытый текст</a:t>
            </a:r>
            <a:r>
              <a:rPr lang="en-US" dirty="0"/>
              <a:t>: java </a:t>
            </a:r>
            <a:r>
              <a:rPr lang="ru-RU" dirty="0"/>
              <a:t>Ключ</a:t>
            </a:r>
            <a:r>
              <a:rPr lang="en-US" dirty="0"/>
              <a:t>: key</a:t>
            </a:r>
            <a:endParaRPr lang="ru-RU" dirty="0"/>
          </a:p>
          <a:p>
            <a:pPr marL="0" indent="0">
              <a:buNone/>
            </a:pPr>
            <a:r>
              <a:rPr lang="ru-RU" dirty="0" err="1"/>
              <a:t>Шифротекст</a:t>
            </a:r>
            <a:r>
              <a:rPr lang="en-US" dirty="0"/>
              <a:t>: </a:t>
            </a:r>
            <a:r>
              <a:rPr lang="en-US" dirty="0" err="1"/>
              <a:t>tetk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3D961E8-6C34-446A-A1A4-DEA3C7B66A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0130" y="461639"/>
            <a:ext cx="7856869" cy="392580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786BAE5-20F2-45DA-AFB6-82E91911E5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2737" y="4692111"/>
            <a:ext cx="6486525" cy="181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3130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B35AD5-00B0-4B52-9165-3CBE1E2D1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Внешняя спецификация алгоритма расшифрования </a:t>
            </a:r>
            <a:r>
              <a:rPr lang="en-US" dirty="0" err="1"/>
              <a:t>Vigenere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3016DD-B914-4265-9319-CB3EC84B3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Назначение: восстановление открытого текста из шифровки</a:t>
            </a:r>
          </a:p>
          <a:p>
            <a:pPr marL="0" indent="0">
              <a:buNone/>
            </a:pPr>
            <a:r>
              <a:rPr lang="ru-RU" dirty="0"/>
              <a:t>Входные данные</a:t>
            </a:r>
            <a:r>
              <a:rPr lang="en-US" dirty="0"/>
              <a:t>: C – </a:t>
            </a:r>
            <a:r>
              <a:rPr lang="ru-RU" dirty="0" err="1"/>
              <a:t>шифротекст</a:t>
            </a:r>
            <a:r>
              <a:rPr lang="en-US" dirty="0"/>
              <a:t>; p – </a:t>
            </a:r>
            <a:r>
              <a:rPr lang="ru-RU" dirty="0"/>
              <a:t>ключ, ключевое слово.</a:t>
            </a:r>
          </a:p>
          <a:p>
            <a:pPr marL="0" indent="0">
              <a:buNone/>
            </a:pPr>
            <a:r>
              <a:rPr lang="ru-RU" dirty="0"/>
              <a:t>Выходные данные</a:t>
            </a:r>
            <a:r>
              <a:rPr lang="en-US" dirty="0"/>
              <a:t>: S – </a:t>
            </a:r>
            <a:r>
              <a:rPr lang="ru-RU" dirty="0"/>
              <a:t>расшифрованное сообщение </a:t>
            </a:r>
          </a:p>
          <a:p>
            <a:pPr marL="0" indent="0">
              <a:buNone/>
            </a:pPr>
            <a:r>
              <a:rPr lang="ru-RU" dirty="0"/>
              <a:t>Ограничения</a:t>
            </a:r>
            <a:r>
              <a:rPr lang="en-US" dirty="0"/>
              <a:t>: C, p – </a:t>
            </a:r>
            <a:r>
              <a:rPr lang="ru-RU" dirty="0"/>
              <a:t>набор символов</a:t>
            </a:r>
            <a:r>
              <a:rPr lang="en-US" dirty="0"/>
              <a:t>;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Алгоритм расшифрования</a:t>
            </a:r>
            <a:r>
              <a:rPr lang="en-US" dirty="0"/>
              <a:t>: </a:t>
            </a:r>
            <a:r>
              <a:rPr lang="ru-RU" dirty="0"/>
              <a:t>Пронумеровать буквы алфавита порядковыми номерами от 0 до </a:t>
            </a:r>
            <a:r>
              <a:rPr lang="en-US" dirty="0"/>
              <a:t>n. </a:t>
            </a:r>
            <a:r>
              <a:rPr lang="ru-RU" dirty="0"/>
              <a:t>Повторять ключ p циклически до длины </a:t>
            </a:r>
            <a:r>
              <a:rPr lang="ru-RU" dirty="0" err="1"/>
              <a:t>шифротекста</a:t>
            </a:r>
            <a:r>
              <a:rPr lang="ru-RU" dirty="0"/>
              <a:t> C. Для каждого символа шифровки Cᵢ и ключа </a:t>
            </a:r>
            <a:r>
              <a:rPr lang="en-US" dirty="0"/>
              <a:t>pi</a:t>
            </a:r>
            <a:r>
              <a:rPr lang="ru-RU" dirty="0"/>
              <a:t> определить его числовое значение.</a:t>
            </a:r>
            <a:r>
              <a:rPr lang="en-US" dirty="0"/>
              <a:t> </a:t>
            </a:r>
            <a:r>
              <a:rPr lang="ru-RU" dirty="0"/>
              <a:t>Вычислить числовое значение символа открытого текста по формуле:</a:t>
            </a:r>
            <a:r>
              <a:rPr lang="en-US" dirty="0"/>
              <a:t> </a:t>
            </a:r>
            <a:r>
              <a:rPr lang="ru-RU" dirty="0"/>
              <a:t>Sᵢ = (Cᵢ − pᵢ) </a:t>
            </a:r>
            <a:r>
              <a:rPr lang="ru-RU" dirty="0" err="1"/>
              <a:t>mod</a:t>
            </a:r>
            <a:r>
              <a:rPr lang="ru-RU" dirty="0"/>
              <a:t> </a:t>
            </a:r>
            <a:r>
              <a:rPr lang="en-US" dirty="0"/>
              <a:t>m, </a:t>
            </a:r>
            <a:r>
              <a:rPr lang="ru-RU" dirty="0"/>
              <a:t>где </a:t>
            </a:r>
            <a:r>
              <a:rPr lang="en-US" dirty="0"/>
              <a:t>m – </a:t>
            </a:r>
            <a:r>
              <a:rPr lang="ru-RU" dirty="0"/>
              <a:t>размер алфавита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900111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FD2AFE-7527-4C91-A833-92EEB19D6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Блок-схема алгоритма расшифрования </a:t>
            </a:r>
            <a:r>
              <a:rPr lang="en-US" dirty="0" err="1"/>
              <a:t>Vigenere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53B4D4B-58C6-44F7-8BB2-88913F6EF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3200" y="1283515"/>
            <a:ext cx="2915175" cy="5389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3653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A26705-683D-4D4C-9B36-779125C4E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Hill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035605-D5AF-48E3-8D2E-86123DDFC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7651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 err="1"/>
              <a:t>Hill</a:t>
            </a:r>
            <a:r>
              <a:rPr lang="ru-RU" dirty="0"/>
              <a:t> — классический полиграфический шифр подстановки. При его использовании символы открытого текста преобразуются в другие символы с помощью матричного умножения.</a:t>
            </a:r>
          </a:p>
          <a:p>
            <a:pPr marL="0" indent="0">
              <a:buNone/>
            </a:pPr>
            <a:r>
              <a:rPr lang="ru-RU" dirty="0"/>
              <a:t>Ключом является квадратная обратимая матрица размера </a:t>
            </a:r>
            <a:r>
              <a:rPr lang="en-US" dirty="0"/>
              <a:t>k * k. </a:t>
            </a:r>
            <a:r>
              <a:rPr lang="ru-RU" dirty="0"/>
              <a:t>Открытый текст переводится в числовую последовательность в соответствии с выбранным алфавитом и разбивается на блоки по </a:t>
            </a:r>
            <a:r>
              <a:rPr lang="en-US" dirty="0"/>
              <a:t>k</a:t>
            </a:r>
            <a:r>
              <a:rPr lang="ru-RU" dirty="0"/>
              <a:t> символов</a:t>
            </a:r>
            <a:r>
              <a:rPr lang="en-US" dirty="0"/>
              <a:t> (</a:t>
            </a:r>
            <a:r>
              <a:rPr lang="ru-RU" dirty="0"/>
              <a:t>если текст не делится на блоки, добавляется доп. символ </a:t>
            </a:r>
            <a:r>
              <a:rPr lang="en-US" dirty="0"/>
              <a:t>x)</a:t>
            </a:r>
            <a:r>
              <a:rPr lang="ru-RU" dirty="0"/>
              <a:t>.</a:t>
            </a:r>
            <a:r>
              <a:rPr lang="en-US" dirty="0"/>
              <a:t> </a:t>
            </a:r>
            <a:r>
              <a:rPr lang="ru-RU" dirty="0"/>
              <a:t>Каждый блок открытого текста из </a:t>
            </a:r>
            <a:r>
              <a:rPr lang="en-US" dirty="0"/>
              <a:t>k </a:t>
            </a:r>
            <a:r>
              <a:rPr lang="ru-RU" dirty="0"/>
              <a:t>символов представляется в виде столбца матрицы. Данная матрица умножается на ключ и результат делится по модулю на размер алфавита, из нее получается шифровка.</a:t>
            </a:r>
          </a:p>
          <a:p>
            <a:pPr marL="0" indent="0">
              <a:buNone/>
            </a:pPr>
            <a:r>
              <a:rPr lang="ru-RU" dirty="0"/>
              <a:t>Сложность атаки методом грубой силы</a:t>
            </a:r>
            <a:r>
              <a:rPr lang="en-US" dirty="0"/>
              <a:t>: O(n^(k*k)), </a:t>
            </a:r>
            <a:r>
              <a:rPr lang="ru-RU" dirty="0"/>
              <a:t>где </a:t>
            </a:r>
            <a:r>
              <a:rPr lang="en-US" dirty="0"/>
              <a:t>n – </a:t>
            </a:r>
            <a:r>
              <a:rPr lang="ru-RU" dirty="0"/>
              <a:t>мощность алфавита</a:t>
            </a:r>
            <a:r>
              <a:rPr lang="en-US" dirty="0"/>
              <a:t>, k – </a:t>
            </a:r>
            <a:r>
              <a:rPr lang="ru-RU" dirty="0"/>
              <a:t>размер блока. Возможна атака на основе знания исходного текста.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339279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7B502656-4955-44DE-8F40-D8FFAF25B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1638"/>
            <a:ext cx="3918358" cy="331340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Открытый текст</a:t>
            </a:r>
            <a:r>
              <a:rPr lang="en-US" dirty="0"/>
              <a:t>: </a:t>
            </a:r>
            <a:r>
              <a:rPr lang="en-US" dirty="0" err="1"/>
              <a:t>danilaiv</a:t>
            </a:r>
            <a:r>
              <a:rPr lang="en-US" dirty="0"/>
              <a:t> </a:t>
            </a:r>
            <a:r>
              <a:rPr lang="ru-RU" dirty="0"/>
              <a:t>Ключ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2 15 22  3</a:t>
            </a:r>
          </a:p>
          <a:p>
            <a:pPr marL="0" indent="0">
              <a:buNone/>
            </a:pPr>
            <a:r>
              <a:rPr lang="en-US" dirty="0"/>
              <a:t> 1  9  1 12</a:t>
            </a:r>
          </a:p>
          <a:p>
            <a:pPr marL="0" indent="0">
              <a:buNone/>
            </a:pPr>
            <a:r>
              <a:rPr lang="en-US" dirty="0"/>
              <a:t>16  7 13 11</a:t>
            </a:r>
          </a:p>
          <a:p>
            <a:pPr marL="0" indent="0">
              <a:buNone/>
            </a:pPr>
            <a:r>
              <a:rPr lang="en-US" dirty="0"/>
              <a:t> 8  5  9  6</a:t>
            </a:r>
          </a:p>
          <a:p>
            <a:pPr marL="0" indent="0">
              <a:buNone/>
            </a:pPr>
            <a:r>
              <a:rPr lang="ru-RU" dirty="0"/>
              <a:t>Шифровка</a:t>
            </a:r>
            <a:r>
              <a:rPr lang="en-US" dirty="0"/>
              <a:t>: </a:t>
            </a:r>
            <a:r>
              <a:rPr lang="en-US" dirty="0" err="1"/>
              <a:t>eithblra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433A9B5-2161-435E-B5DA-7CB7B9834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98" y="4841409"/>
            <a:ext cx="4535998" cy="166097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525863E-693B-46F2-8BE1-A85866F45F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4279" y="8389"/>
            <a:ext cx="7370356" cy="483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8557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7B502656-4955-44DE-8F40-D8FFAF25B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1638"/>
            <a:ext cx="3918358" cy="331340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Открытый текст</a:t>
            </a:r>
            <a:r>
              <a:rPr lang="en-US" dirty="0"/>
              <a:t>: </a:t>
            </a:r>
            <a:r>
              <a:rPr lang="en-US" dirty="0" err="1"/>
              <a:t>danila</a:t>
            </a:r>
            <a:r>
              <a:rPr lang="en-US" dirty="0"/>
              <a:t> </a:t>
            </a:r>
            <a:r>
              <a:rPr lang="ru-RU" dirty="0"/>
              <a:t>Ключ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2 15 22  3</a:t>
            </a:r>
          </a:p>
          <a:p>
            <a:pPr marL="0" indent="0">
              <a:buNone/>
            </a:pPr>
            <a:r>
              <a:rPr lang="en-US" dirty="0"/>
              <a:t> 1  9  1 12</a:t>
            </a:r>
          </a:p>
          <a:p>
            <a:pPr marL="0" indent="0">
              <a:buNone/>
            </a:pPr>
            <a:r>
              <a:rPr lang="en-US" dirty="0"/>
              <a:t>16  7 13 11</a:t>
            </a:r>
          </a:p>
          <a:p>
            <a:pPr marL="0" indent="0">
              <a:buNone/>
            </a:pPr>
            <a:r>
              <a:rPr lang="en-US" dirty="0"/>
              <a:t> 8  5  9  6</a:t>
            </a:r>
          </a:p>
          <a:p>
            <a:pPr marL="0" indent="0">
              <a:buNone/>
            </a:pPr>
            <a:r>
              <a:rPr lang="ru-RU" dirty="0"/>
              <a:t>Шифровка</a:t>
            </a:r>
            <a:r>
              <a:rPr lang="en-US" dirty="0"/>
              <a:t>: </a:t>
            </a:r>
            <a:r>
              <a:rPr lang="en-US" dirty="0" err="1"/>
              <a:t>eithzyar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8A7065A-E1F9-4AE7-BF01-871729EA7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6558" y="44479"/>
            <a:ext cx="7338700" cy="479693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2920855-2E04-46F8-A9A0-2F95EEE22E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733" y="4844429"/>
            <a:ext cx="5115669" cy="1853394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43AE5D4-E673-40AC-B453-A27D2A307D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9191" y="5285351"/>
            <a:ext cx="6124575" cy="97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1630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B35AD5-00B0-4B52-9165-3CBE1E2D1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Внешняя спецификация алгоритма расшифрования </a:t>
            </a:r>
            <a:r>
              <a:rPr lang="en-US" dirty="0"/>
              <a:t>Hill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3016DD-B914-4265-9319-CB3EC84B3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Назначение: восстановление открытого текста из шифровки</a:t>
            </a:r>
          </a:p>
          <a:p>
            <a:pPr marL="0" indent="0">
              <a:buNone/>
            </a:pPr>
            <a:r>
              <a:rPr lang="ru-RU" dirty="0"/>
              <a:t>Входные данные</a:t>
            </a:r>
            <a:r>
              <a:rPr lang="en-US" dirty="0"/>
              <a:t>: C – </a:t>
            </a:r>
            <a:r>
              <a:rPr lang="ru-RU" dirty="0"/>
              <a:t>шифровка</a:t>
            </a:r>
            <a:r>
              <a:rPr lang="en-US" dirty="0"/>
              <a:t>; K – </a:t>
            </a:r>
            <a:r>
              <a:rPr lang="ru-RU" dirty="0"/>
              <a:t>ключ, матрица</a:t>
            </a:r>
            <a:r>
              <a:rPr lang="en-US" dirty="0"/>
              <a:t> </a:t>
            </a:r>
            <a:r>
              <a:rPr lang="ru-RU" dirty="0"/>
              <a:t>размером </a:t>
            </a:r>
            <a:r>
              <a:rPr lang="en-US" dirty="0"/>
              <a:t>k*k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dirty="0"/>
              <a:t>Выходные данные</a:t>
            </a:r>
            <a:r>
              <a:rPr lang="en-US" dirty="0"/>
              <a:t>: S – </a:t>
            </a:r>
            <a:r>
              <a:rPr lang="ru-RU" dirty="0"/>
              <a:t>расшифрованное сообщение </a:t>
            </a:r>
          </a:p>
          <a:p>
            <a:pPr marL="0" indent="0">
              <a:buNone/>
            </a:pPr>
            <a:r>
              <a:rPr lang="ru-RU" dirty="0"/>
              <a:t>Ограничения</a:t>
            </a:r>
            <a:r>
              <a:rPr lang="en-US" dirty="0"/>
              <a:t>: K – </a:t>
            </a:r>
            <a:r>
              <a:rPr lang="ru-RU" dirty="0"/>
              <a:t>квадратная обратимая матрица по модулю </a:t>
            </a:r>
            <a:r>
              <a:rPr lang="en-US" dirty="0"/>
              <a:t>m, </a:t>
            </a:r>
            <a:r>
              <a:rPr lang="ru-RU" dirty="0"/>
              <a:t>где </a:t>
            </a:r>
            <a:r>
              <a:rPr lang="en-US" dirty="0"/>
              <a:t>m – </a:t>
            </a:r>
            <a:r>
              <a:rPr lang="ru-RU" dirty="0"/>
              <a:t>размер алфавита</a:t>
            </a:r>
          </a:p>
          <a:p>
            <a:pPr marL="0" indent="0">
              <a:buNone/>
            </a:pPr>
            <a:r>
              <a:rPr lang="ru-RU" dirty="0"/>
              <a:t>Алгоритм расшифрования</a:t>
            </a:r>
            <a:r>
              <a:rPr lang="en-US" dirty="0"/>
              <a:t>: </a:t>
            </a:r>
            <a:r>
              <a:rPr lang="ru-RU" dirty="0"/>
              <a:t>Пронумеровать буквы алфавита порядковыми номерами от 0 до </a:t>
            </a:r>
            <a:r>
              <a:rPr lang="en-US" dirty="0"/>
              <a:t>n. </a:t>
            </a:r>
            <a:r>
              <a:rPr lang="ru-RU" dirty="0"/>
              <a:t>Разбить шифровку на блоки по </a:t>
            </a:r>
            <a:r>
              <a:rPr lang="en-US" dirty="0"/>
              <a:t>k. </a:t>
            </a:r>
            <a:r>
              <a:rPr lang="ru-RU" dirty="0"/>
              <a:t>Каждый блок представить в виде столбца матрицы </a:t>
            </a:r>
            <a:r>
              <a:rPr lang="en-US" dirty="0"/>
              <a:t>P. </a:t>
            </a:r>
            <a:r>
              <a:rPr lang="ru-RU" dirty="0"/>
              <a:t>Получить</a:t>
            </a:r>
          </a:p>
          <a:p>
            <a:pPr marL="0" indent="0">
              <a:buNone/>
            </a:pPr>
            <a:r>
              <a:rPr lang="en-US" dirty="0"/>
              <a:t>R = (K^-1 * P) mod m </a:t>
            </a:r>
            <a:r>
              <a:rPr lang="ru-RU" dirty="0"/>
              <a:t>и перевести числовые значения в символы алфавита</a:t>
            </a:r>
            <a:r>
              <a:rPr lang="en-US" dirty="0"/>
              <a:t>. </a:t>
            </a:r>
            <a:r>
              <a:rPr lang="ru-RU" dirty="0"/>
              <a:t>Каждый столбец </a:t>
            </a:r>
            <a:r>
              <a:rPr lang="en-US" dirty="0"/>
              <a:t>R – </a:t>
            </a:r>
            <a:r>
              <a:rPr lang="ru-RU" dirty="0"/>
              <a:t>блок открытого текста.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3254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FD2AFE-7527-4C91-A833-92EEB19D6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Блок-схема алгоритма расшифрования </a:t>
            </a:r>
            <a:r>
              <a:rPr lang="en-US" dirty="0"/>
              <a:t>Hill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1AB1B08-8443-41CB-A614-96C8B08C2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7658" y="1468389"/>
            <a:ext cx="5294188" cy="5196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8930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A26705-683D-4D4C-9B36-779125C4E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ADFGVX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035605-D5AF-48E3-8D2E-86123DDFC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2906"/>
            <a:ext cx="10515600" cy="514245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ADFGVX — классический фракционный перестановочный шифр.</a:t>
            </a:r>
          </a:p>
          <a:p>
            <a:pPr marL="0" indent="0">
              <a:buNone/>
            </a:pPr>
            <a:r>
              <a:rPr lang="ru-RU" dirty="0"/>
              <a:t>Ключами являются пароль подстановки и пароль перестановки.</a:t>
            </a:r>
          </a:p>
          <a:p>
            <a:pPr marL="0" indent="0">
              <a:buNone/>
            </a:pPr>
            <a:r>
              <a:rPr lang="ru-RU" dirty="0"/>
              <a:t>Пароль </a:t>
            </a:r>
            <a:r>
              <a:rPr lang="ru-RU" u="sng" dirty="0"/>
              <a:t>подстановки</a:t>
            </a:r>
            <a:r>
              <a:rPr lang="ru-RU" dirty="0"/>
              <a:t> смещает алфавит внутри таблицы </a:t>
            </a:r>
            <a:r>
              <a:rPr lang="en-US" dirty="0"/>
              <a:t>ADFGVX: </a:t>
            </a:r>
            <a:r>
              <a:rPr lang="ru-RU" dirty="0"/>
              <a:t>сначала идут символы пароля затем остальной алфавит. С помощью таблицы каждому символу исходного сообщения ставится в соответствие пара символов из набора A, D, F, G, V, X.</a:t>
            </a:r>
          </a:p>
          <a:p>
            <a:pPr marL="0" indent="0">
              <a:buNone/>
            </a:pPr>
            <a:r>
              <a:rPr lang="ru-RU" dirty="0"/>
              <a:t>После подстановки полученная последовательность символов записывается в таблицу с количеством столбцов, равным длине пароля перестановки. Пароль </a:t>
            </a:r>
            <a:r>
              <a:rPr lang="ru-RU" u="sng" dirty="0"/>
              <a:t>перестановки</a:t>
            </a:r>
            <a:r>
              <a:rPr lang="ru-RU" dirty="0"/>
              <a:t> определяет порядок перестановки столбцов таблицы. После перестановки символы считываются по столбцам, формируя зашифрованное сообщение.</a:t>
            </a:r>
          </a:p>
          <a:p>
            <a:pPr marL="0" indent="0">
              <a:buNone/>
            </a:pPr>
            <a:r>
              <a:rPr lang="ru-RU" dirty="0"/>
              <a:t>Сложность атаки методом грубой силы</a:t>
            </a:r>
            <a:r>
              <a:rPr lang="en-US" dirty="0"/>
              <a:t>: O(n</a:t>
            </a:r>
            <a:r>
              <a:rPr lang="ru-RU" dirty="0"/>
              <a:t>! * </a:t>
            </a:r>
            <a:r>
              <a:rPr lang="en-US" dirty="0"/>
              <a:t>m!), </a:t>
            </a:r>
            <a:r>
              <a:rPr lang="ru-RU" dirty="0"/>
              <a:t>где </a:t>
            </a:r>
            <a:r>
              <a:rPr lang="en-US" dirty="0"/>
              <a:t>n – </a:t>
            </a:r>
            <a:r>
              <a:rPr lang="ru-RU" dirty="0"/>
              <a:t>мощность алфавита</a:t>
            </a:r>
            <a:r>
              <a:rPr lang="en-US" dirty="0"/>
              <a:t>, m – </a:t>
            </a:r>
            <a:r>
              <a:rPr lang="ru-RU" dirty="0"/>
              <a:t>размер пароля перестановки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55650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7B502656-4955-44DE-8F40-D8FFAF25B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1638"/>
            <a:ext cx="4069360" cy="33134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Открытый текст</a:t>
            </a:r>
            <a:r>
              <a:rPr lang="en-US" dirty="0"/>
              <a:t>: DANILAX </a:t>
            </a:r>
            <a:r>
              <a:rPr lang="ru-RU" dirty="0"/>
              <a:t>Ключ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ru-RU" dirty="0"/>
              <a:t>подстановки</a:t>
            </a:r>
            <a:r>
              <a:rPr lang="en-US" dirty="0"/>
              <a:t>: key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перестановки</a:t>
            </a:r>
            <a:r>
              <a:rPr lang="en-US" dirty="0"/>
              <a:t>: BAR</a:t>
            </a:r>
          </a:p>
          <a:p>
            <a:pPr marL="0" indent="0">
              <a:buNone/>
            </a:pPr>
            <a:r>
              <a:rPr lang="ru-RU" dirty="0"/>
              <a:t>Шифровка</a:t>
            </a:r>
            <a:r>
              <a:rPr lang="en-US" dirty="0"/>
              <a:t>: AFVAADGDAVAFFG</a:t>
            </a:r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C29B9AB-587A-4AFB-9B23-5529A469D0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7709" y="238886"/>
            <a:ext cx="7043933" cy="380460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B34D4DB-DDB4-4235-9945-68D11B8CD6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316" y="4043494"/>
            <a:ext cx="4260603" cy="245684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F44749C-2CB2-4A66-B583-8537FE6072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7709" y="4576591"/>
            <a:ext cx="6219825" cy="139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9739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B35AD5-00B0-4B52-9165-3CBE1E2D1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Внешняя спецификация алгоритма расшифрования </a:t>
            </a:r>
            <a:r>
              <a:rPr lang="en-US" dirty="0"/>
              <a:t>ADFGVX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3016DD-B914-4265-9319-CB3EC84B3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Назначение: восстановление открытого текста из шифровки</a:t>
            </a:r>
          </a:p>
          <a:p>
            <a:pPr marL="0" indent="0">
              <a:buNone/>
            </a:pPr>
            <a:r>
              <a:rPr lang="ru-RU" dirty="0"/>
              <a:t>Входные данные</a:t>
            </a:r>
            <a:r>
              <a:rPr lang="en-US" dirty="0"/>
              <a:t>: C – </a:t>
            </a:r>
            <a:r>
              <a:rPr lang="ru-RU" dirty="0"/>
              <a:t>шифровка</a:t>
            </a:r>
            <a:r>
              <a:rPr lang="en-US" dirty="0"/>
              <a:t>; K</a:t>
            </a:r>
            <a:r>
              <a:rPr lang="ru-RU" dirty="0"/>
              <a:t>1</a:t>
            </a:r>
            <a:r>
              <a:rPr lang="en-US" dirty="0"/>
              <a:t> – </a:t>
            </a:r>
            <a:r>
              <a:rPr lang="ru-RU" dirty="0"/>
              <a:t>ключ, пароль подстановки</a:t>
            </a:r>
            <a:r>
              <a:rPr lang="en-US" dirty="0"/>
              <a:t>; K2 – </a:t>
            </a:r>
            <a:r>
              <a:rPr lang="ru-RU" dirty="0"/>
              <a:t>ключ, пароль перестановки</a:t>
            </a:r>
            <a:r>
              <a:rPr lang="en-US" dirty="0"/>
              <a:t>; A – </a:t>
            </a:r>
            <a:r>
              <a:rPr lang="ru-RU" dirty="0"/>
              <a:t>алфавит</a:t>
            </a:r>
            <a:r>
              <a:rPr lang="en-US" dirty="0"/>
              <a:t> (26 </a:t>
            </a:r>
            <a:r>
              <a:rPr lang="ru-RU" dirty="0"/>
              <a:t>латинских букв + 10 цифр</a:t>
            </a:r>
            <a:r>
              <a:rPr lang="en-US" dirty="0"/>
              <a:t>)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dirty="0"/>
              <a:t>Выходные данные</a:t>
            </a:r>
            <a:r>
              <a:rPr lang="en-US" dirty="0"/>
              <a:t>: S – </a:t>
            </a:r>
            <a:r>
              <a:rPr lang="ru-RU" dirty="0"/>
              <a:t>расшифрованное сообщение </a:t>
            </a:r>
          </a:p>
          <a:p>
            <a:pPr marL="0" indent="0">
              <a:buNone/>
            </a:pPr>
            <a:r>
              <a:rPr lang="ru-RU" dirty="0"/>
              <a:t>Ограничения</a:t>
            </a:r>
            <a:r>
              <a:rPr lang="en-US" dirty="0"/>
              <a:t>: C </a:t>
            </a:r>
            <a:r>
              <a:rPr lang="ru-RU" dirty="0"/>
              <a:t>из символов </a:t>
            </a:r>
            <a:r>
              <a:rPr lang="en-US" dirty="0"/>
              <a:t>(A,D,F,G,V,X); 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Алгоритм расшифрования</a:t>
            </a:r>
            <a:r>
              <a:rPr lang="en-US" dirty="0"/>
              <a:t>: </a:t>
            </a:r>
            <a:r>
              <a:rPr lang="ru-RU" dirty="0"/>
              <a:t>Построить таблицу подстановки </a:t>
            </a:r>
            <a:r>
              <a:rPr lang="en-US" dirty="0"/>
              <a:t>T </a:t>
            </a:r>
            <a:r>
              <a:rPr lang="ru-RU" dirty="0"/>
              <a:t>по </a:t>
            </a:r>
            <a:r>
              <a:rPr lang="en-US" dirty="0"/>
              <a:t>K1</a:t>
            </a:r>
            <a:r>
              <a:rPr lang="ru-RU" dirty="0"/>
              <a:t> и алфавиту. Построить таблицу перестановки </a:t>
            </a:r>
            <a:r>
              <a:rPr lang="en-US" dirty="0"/>
              <a:t>E(</a:t>
            </a:r>
            <a:r>
              <a:rPr lang="ru-RU" dirty="0"/>
              <a:t>⌈длина(</a:t>
            </a:r>
            <a:r>
              <a:rPr lang="en-US" dirty="0"/>
              <a:t>C</a:t>
            </a:r>
            <a:r>
              <a:rPr lang="ru-RU" dirty="0"/>
              <a:t>)</a:t>
            </a:r>
            <a:r>
              <a:rPr lang="en-US" dirty="0"/>
              <a:t> / </a:t>
            </a:r>
            <a:r>
              <a:rPr lang="ru-RU" dirty="0"/>
              <a:t>длина</a:t>
            </a:r>
            <a:r>
              <a:rPr lang="en-US" dirty="0"/>
              <a:t>(K2)</a:t>
            </a:r>
            <a:r>
              <a:rPr lang="ru-RU" dirty="0"/>
              <a:t>⌉</a:t>
            </a:r>
            <a:r>
              <a:rPr lang="en-US" dirty="0"/>
              <a:t> </a:t>
            </a:r>
            <a:r>
              <a:rPr lang="ru-RU" dirty="0"/>
              <a:t>строк</a:t>
            </a:r>
            <a:r>
              <a:rPr lang="en-US" dirty="0"/>
              <a:t>; </a:t>
            </a:r>
            <a:r>
              <a:rPr lang="ru-RU" dirty="0"/>
              <a:t>длина</a:t>
            </a:r>
            <a:r>
              <a:rPr lang="en-US" dirty="0"/>
              <a:t>(K2) </a:t>
            </a:r>
            <a:r>
              <a:rPr lang="ru-RU" dirty="0"/>
              <a:t>столбцов</a:t>
            </a:r>
            <a:r>
              <a:rPr lang="en-US" dirty="0"/>
              <a:t>). </a:t>
            </a:r>
            <a:r>
              <a:rPr lang="ru-RU" dirty="0"/>
              <a:t>Если длина(</a:t>
            </a:r>
            <a:r>
              <a:rPr lang="en-US" dirty="0"/>
              <a:t>C</a:t>
            </a:r>
            <a:r>
              <a:rPr lang="ru-RU" dirty="0"/>
              <a:t>)</a:t>
            </a:r>
            <a:r>
              <a:rPr lang="en-US" dirty="0"/>
              <a:t> mod </a:t>
            </a:r>
            <a:r>
              <a:rPr lang="ru-RU" dirty="0"/>
              <a:t>длина(</a:t>
            </a:r>
            <a:r>
              <a:rPr lang="en-US" dirty="0"/>
              <a:t>K2</a:t>
            </a:r>
            <a:r>
              <a:rPr lang="ru-RU" dirty="0"/>
              <a:t>)</a:t>
            </a:r>
            <a:r>
              <a:rPr lang="en-US" dirty="0"/>
              <a:t> != 0, </a:t>
            </a:r>
            <a:r>
              <a:rPr lang="ru-RU" dirty="0"/>
              <a:t>то сначала после перестановки </a:t>
            </a:r>
            <a:r>
              <a:rPr lang="en-US" dirty="0"/>
              <a:t>K2 </a:t>
            </a:r>
            <a:r>
              <a:rPr lang="ru-RU" dirty="0"/>
              <a:t>в алфавитный порядок определить, в каких столбцах будут неполное заполнение. С учетом этого вписать шифровку в </a:t>
            </a:r>
            <a:r>
              <a:rPr lang="en-US" dirty="0"/>
              <a:t>E </a:t>
            </a:r>
            <a:r>
              <a:rPr lang="ru-RU" dirty="0"/>
              <a:t>сверху вниз по сортированному </a:t>
            </a:r>
            <a:r>
              <a:rPr lang="en-US" dirty="0"/>
              <a:t>K2, </a:t>
            </a:r>
            <a:r>
              <a:rPr lang="ru-RU" dirty="0"/>
              <a:t>затем переставить столбцы </a:t>
            </a:r>
            <a:r>
              <a:rPr lang="en-US" dirty="0"/>
              <a:t>E</a:t>
            </a:r>
            <a:r>
              <a:rPr lang="ru-RU" dirty="0"/>
              <a:t> в соответствии с  начальным порядком. После этого читать построчно слева направо и по 2-ум символам получать итоговый символ из открытого текста.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1649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FD2AFE-7527-4C91-A833-92EEB19D6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Блок-схема алгоритма расшифрования </a:t>
            </a:r>
            <a:r>
              <a:rPr lang="en-US" dirty="0"/>
              <a:t>ADFGVX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B9018B6-623A-48BC-98CC-97DAFF2F4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733" y="1195738"/>
            <a:ext cx="5243302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5168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A26705-683D-4D4C-9B36-779125C4E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Шифр, заданный вариантом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035605-D5AF-48E3-8D2E-86123DDFCE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Прототип шифра векторной перестановки - это метод симметричного шифрования, в котором порядок символов открытого текста меняется на основе числового вектора-ключа, при этом сами символы не изменяются.</a:t>
            </a:r>
          </a:p>
          <a:p>
            <a:pPr marL="0" indent="0">
              <a:buNone/>
            </a:pPr>
            <a:r>
              <a:rPr lang="ru-RU" dirty="0"/>
              <a:t>Ключом шифрования K является перестановка целых чисел от 1 до |B|, которая задает порядок следования байт в шифровке, где </a:t>
            </a:r>
            <a:r>
              <a:rPr lang="en-US" dirty="0"/>
              <a:t>B - </a:t>
            </a:r>
            <a:r>
              <a:rPr lang="ru-RU" dirty="0"/>
              <a:t>алфавит.</a:t>
            </a:r>
          </a:p>
          <a:p>
            <a:pPr marL="0" indent="0">
              <a:buNone/>
            </a:pPr>
            <a:r>
              <a:rPr lang="ru-RU" dirty="0"/>
              <a:t>Сложность атаки методом грубой силы</a:t>
            </a:r>
            <a:r>
              <a:rPr lang="en-US" dirty="0"/>
              <a:t>: O(n</a:t>
            </a:r>
            <a:r>
              <a:rPr lang="ru-RU" dirty="0"/>
              <a:t>!</a:t>
            </a:r>
            <a:r>
              <a:rPr lang="en-US" dirty="0"/>
              <a:t>), </a:t>
            </a:r>
            <a:r>
              <a:rPr lang="ru-RU" dirty="0"/>
              <a:t>где </a:t>
            </a:r>
            <a:r>
              <a:rPr lang="en-US" dirty="0"/>
              <a:t>n – </a:t>
            </a:r>
            <a:r>
              <a:rPr lang="ru-RU" dirty="0"/>
              <a:t>длина открытого текста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4448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8BC3E9C-C43D-4567-9F26-8D4D29135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800188"/>
            <a:ext cx="5553075" cy="89535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6F07305-272D-4374-ACA4-3F3F0E17D8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097897"/>
            <a:ext cx="5391150" cy="245745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DE09AE6-547D-4794-8197-C3CFC8A2F8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00" y="349934"/>
            <a:ext cx="5762968" cy="549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5500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FD2AFE-7527-4C91-A833-92EEB19D6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Блок-схема алгоритма зашифрования, заданного вариантом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AD2F789-2633-4C66-93C2-BAA370239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7207" y="1853966"/>
            <a:ext cx="3497586" cy="4159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3506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3A3AD6-602A-44EF-BB31-0BC2B03C4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87363C-4C8F-4121-B75F-883849C6B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849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500" dirty="0"/>
              <a:t>В работе получены следующие результаты</a:t>
            </a:r>
            <a:r>
              <a:rPr lang="en-US" sz="1500" dirty="0"/>
              <a:t>:</a:t>
            </a:r>
          </a:p>
          <a:p>
            <a:pPr marL="0" indent="0">
              <a:buNone/>
            </a:pPr>
            <a:r>
              <a:rPr lang="en-US" sz="1500" dirty="0"/>
              <a:t>1) </a:t>
            </a:r>
            <a:r>
              <a:rPr lang="ru-RU" sz="1500" dirty="0"/>
              <a:t>Изучен шифр </a:t>
            </a:r>
            <a:r>
              <a:rPr lang="en-US" sz="1500" dirty="0"/>
              <a:t>Scytale</a:t>
            </a:r>
            <a:r>
              <a:rPr lang="ru-RU" sz="1500" dirty="0"/>
              <a:t> и выявлены его следующие характеристики</a:t>
            </a:r>
            <a:r>
              <a:rPr lang="en-US" sz="1500" dirty="0"/>
              <a:t>: </a:t>
            </a:r>
            <a:r>
              <a:rPr lang="ru-RU" sz="1500" dirty="0"/>
              <a:t>перестановочный шифр</a:t>
            </a:r>
            <a:r>
              <a:rPr lang="en-US" sz="1500" dirty="0"/>
              <a:t>, </a:t>
            </a:r>
            <a:r>
              <a:rPr lang="ru-RU" sz="1500" dirty="0"/>
              <a:t>ключом является количество строк в табличном представлении. Сложность атаки методом грубой силы</a:t>
            </a:r>
            <a:r>
              <a:rPr lang="en-US" sz="1500" dirty="0"/>
              <a:t>: O(n), </a:t>
            </a:r>
            <a:r>
              <a:rPr lang="ru-RU" sz="1500" dirty="0"/>
              <a:t>где </a:t>
            </a:r>
            <a:r>
              <a:rPr lang="en-US" sz="1500" dirty="0"/>
              <a:t>n – </a:t>
            </a:r>
            <a:r>
              <a:rPr lang="ru-RU" sz="1500" dirty="0"/>
              <a:t>длина </a:t>
            </a:r>
            <a:r>
              <a:rPr lang="ru-RU" sz="1500" dirty="0" err="1"/>
              <a:t>шифротекста</a:t>
            </a:r>
            <a:r>
              <a:rPr lang="ru-RU" sz="1500" dirty="0"/>
              <a:t>.</a:t>
            </a:r>
          </a:p>
          <a:p>
            <a:pPr marL="0" indent="0">
              <a:buNone/>
            </a:pPr>
            <a:r>
              <a:rPr lang="ru-RU" sz="1500" dirty="0"/>
              <a:t>2) Изучен шифр Агентурный и выявлены его следующие характеристики</a:t>
            </a:r>
            <a:r>
              <a:rPr lang="en-US" sz="1500" dirty="0"/>
              <a:t>: </a:t>
            </a:r>
            <a:r>
              <a:rPr lang="ru-RU" sz="1500" dirty="0"/>
              <a:t>шифр </a:t>
            </a:r>
            <a:r>
              <a:rPr lang="ru-RU" sz="1500" dirty="0" err="1"/>
              <a:t>моноалфавитной</a:t>
            </a:r>
            <a:r>
              <a:rPr lang="ru-RU" sz="1500" dirty="0"/>
              <a:t> подстановки</a:t>
            </a:r>
            <a:r>
              <a:rPr lang="en-US" sz="1500" dirty="0"/>
              <a:t>, </a:t>
            </a:r>
            <a:r>
              <a:rPr lang="ru-RU" sz="1500" dirty="0"/>
              <a:t>ключом являются пароль (для формирования ключевого алфавита) и сдвиг. Сложность атаки методом грубой силы</a:t>
            </a:r>
            <a:r>
              <a:rPr lang="en-US" sz="1500" dirty="0"/>
              <a:t>: O(n!), </a:t>
            </a:r>
            <a:r>
              <a:rPr lang="ru-RU" sz="1500" dirty="0"/>
              <a:t>где </a:t>
            </a:r>
            <a:r>
              <a:rPr lang="en-US" sz="1500" dirty="0"/>
              <a:t>n – </a:t>
            </a:r>
            <a:r>
              <a:rPr lang="ru-RU" sz="1500" dirty="0"/>
              <a:t>мощность алфавита.</a:t>
            </a:r>
          </a:p>
          <a:p>
            <a:pPr marL="0" indent="0">
              <a:buNone/>
            </a:pPr>
            <a:r>
              <a:rPr lang="ru-RU" sz="1500" dirty="0"/>
              <a:t>3) Изучен шифр </a:t>
            </a:r>
            <a:r>
              <a:rPr lang="en-US" sz="1500" dirty="0" err="1"/>
              <a:t>Vigenere</a:t>
            </a:r>
            <a:r>
              <a:rPr lang="ru-RU" sz="1500" dirty="0"/>
              <a:t> и выявлены его следующие характеристики</a:t>
            </a:r>
            <a:r>
              <a:rPr lang="en-US" sz="1500" dirty="0"/>
              <a:t>: </a:t>
            </a:r>
            <a:r>
              <a:rPr lang="ru-RU" sz="1500" dirty="0" err="1"/>
              <a:t>полиалфавитный</a:t>
            </a:r>
            <a:r>
              <a:rPr lang="ru-RU" sz="1500" dirty="0"/>
              <a:t> шифр подстановки</a:t>
            </a:r>
            <a:r>
              <a:rPr lang="en-US" sz="1500" dirty="0"/>
              <a:t>, </a:t>
            </a:r>
            <a:r>
              <a:rPr lang="ru-RU" sz="1500" dirty="0"/>
              <a:t>ключом является периодически повторяющееся ключевое слово. Сложность атаки методом грубой силы</a:t>
            </a:r>
            <a:r>
              <a:rPr lang="en-US" sz="1500" dirty="0"/>
              <a:t>: O(n!</a:t>
            </a:r>
            <a:r>
              <a:rPr lang="ru-RU" sz="1500" dirty="0"/>
              <a:t> </a:t>
            </a:r>
            <a:r>
              <a:rPr lang="en-US" sz="1500" dirty="0"/>
              <a:t>/ (n - m)!), </a:t>
            </a:r>
            <a:r>
              <a:rPr lang="ru-RU" sz="1500" dirty="0"/>
              <a:t>где </a:t>
            </a:r>
            <a:r>
              <a:rPr lang="en-US" sz="1500" dirty="0"/>
              <a:t>n – </a:t>
            </a:r>
            <a:r>
              <a:rPr lang="ru-RU" sz="1500" dirty="0"/>
              <a:t>мощность алфавита</a:t>
            </a:r>
            <a:r>
              <a:rPr lang="en-US" sz="1500" dirty="0"/>
              <a:t>, m – </a:t>
            </a:r>
            <a:r>
              <a:rPr lang="ru-RU" sz="1500" dirty="0"/>
              <a:t>длина ключа.</a:t>
            </a:r>
          </a:p>
          <a:p>
            <a:pPr marL="0" indent="0">
              <a:buNone/>
            </a:pPr>
            <a:r>
              <a:rPr lang="ru-RU" sz="1500" dirty="0"/>
              <a:t>4) Изучен шифр </a:t>
            </a:r>
            <a:r>
              <a:rPr lang="en-US" sz="1500" dirty="0"/>
              <a:t>Hill</a:t>
            </a:r>
            <a:r>
              <a:rPr lang="ru-RU" sz="1500" dirty="0"/>
              <a:t> и выявлены его следующие характеристики</a:t>
            </a:r>
            <a:r>
              <a:rPr lang="en-US" sz="1500" dirty="0"/>
              <a:t>: </a:t>
            </a:r>
            <a:r>
              <a:rPr lang="ru-RU" sz="1500" dirty="0"/>
              <a:t>полиграфический шифр подстановки</a:t>
            </a:r>
            <a:r>
              <a:rPr lang="en-US" sz="1500" dirty="0"/>
              <a:t>, </a:t>
            </a:r>
            <a:r>
              <a:rPr lang="ru-RU" sz="1500" dirty="0"/>
              <a:t>ключом является квадратная обратимая матрица размера </a:t>
            </a:r>
            <a:r>
              <a:rPr lang="en-US" sz="1500" dirty="0"/>
              <a:t>k * k</a:t>
            </a:r>
            <a:r>
              <a:rPr lang="ru-RU" sz="1500" dirty="0"/>
              <a:t>. Сложность атаки методом грубой силы</a:t>
            </a:r>
            <a:r>
              <a:rPr lang="en-US" sz="1500" dirty="0"/>
              <a:t>: O(n^(k*k)), </a:t>
            </a:r>
            <a:r>
              <a:rPr lang="ru-RU" sz="1500" dirty="0"/>
              <a:t>где </a:t>
            </a:r>
            <a:r>
              <a:rPr lang="en-US" sz="1500" dirty="0"/>
              <a:t>n – </a:t>
            </a:r>
            <a:r>
              <a:rPr lang="ru-RU" sz="1500" dirty="0"/>
              <a:t>мощность алфавита</a:t>
            </a:r>
            <a:r>
              <a:rPr lang="en-US" sz="1500" dirty="0"/>
              <a:t>, k – </a:t>
            </a:r>
            <a:r>
              <a:rPr lang="ru-RU" sz="1500" dirty="0"/>
              <a:t>размер блока.</a:t>
            </a:r>
          </a:p>
          <a:p>
            <a:pPr marL="0" indent="0">
              <a:buNone/>
            </a:pPr>
            <a:r>
              <a:rPr lang="ru-RU" sz="1500" dirty="0"/>
              <a:t>5) Изучен шифр ADFGVX и выявлены его следующие характеристики</a:t>
            </a:r>
            <a:r>
              <a:rPr lang="en-US" sz="1500" dirty="0"/>
              <a:t>: </a:t>
            </a:r>
            <a:r>
              <a:rPr lang="ru-RU" sz="1500" dirty="0"/>
              <a:t>фракционный перестановочный шифр</a:t>
            </a:r>
            <a:r>
              <a:rPr lang="en-US" sz="1500" dirty="0"/>
              <a:t>, </a:t>
            </a:r>
            <a:r>
              <a:rPr lang="ru-RU" sz="1500" dirty="0"/>
              <a:t>ключами являются пароль подстановки и пароль перестановки. </a:t>
            </a:r>
            <a:r>
              <a:rPr lang="en-US" sz="1500" dirty="0"/>
              <a:t>O(n</a:t>
            </a:r>
            <a:r>
              <a:rPr lang="ru-RU" sz="1500" dirty="0"/>
              <a:t>! * </a:t>
            </a:r>
            <a:r>
              <a:rPr lang="en-US" sz="1500" dirty="0"/>
              <a:t>m!), </a:t>
            </a:r>
            <a:r>
              <a:rPr lang="ru-RU" sz="1500" dirty="0"/>
              <a:t>где </a:t>
            </a:r>
            <a:r>
              <a:rPr lang="en-US" sz="1500" dirty="0"/>
              <a:t>n – </a:t>
            </a:r>
            <a:r>
              <a:rPr lang="ru-RU" sz="1500" dirty="0"/>
              <a:t>мощность алфавита</a:t>
            </a:r>
            <a:r>
              <a:rPr lang="en-US" sz="1500" dirty="0"/>
              <a:t>, m – </a:t>
            </a:r>
            <a:r>
              <a:rPr lang="ru-RU" sz="1500" dirty="0"/>
              <a:t>размер пароля перестановки.</a:t>
            </a:r>
          </a:p>
          <a:p>
            <a:pPr marL="0" indent="0">
              <a:buNone/>
            </a:pPr>
            <a:r>
              <a:rPr lang="ru-RU" sz="1500" dirty="0"/>
              <a:t>6) Изучен прототип шифра векторной перестановки и выявлены его следующие характеристики</a:t>
            </a:r>
            <a:r>
              <a:rPr lang="en-US" sz="1500" dirty="0"/>
              <a:t>: </a:t>
            </a:r>
            <a:r>
              <a:rPr lang="ru-RU" sz="1500" dirty="0"/>
              <a:t>метод симметричного шифрования, в котором порядок символов открытого текста меняется на основе числового вектора-ключа</a:t>
            </a:r>
            <a:r>
              <a:rPr lang="en-US" sz="1500" dirty="0"/>
              <a:t>. </a:t>
            </a:r>
            <a:r>
              <a:rPr lang="ru-RU" sz="1500" dirty="0"/>
              <a:t>Разработан и </a:t>
            </a:r>
            <a:r>
              <a:rPr lang="ru-RU" sz="1500" dirty="0" err="1"/>
              <a:t>программно</a:t>
            </a:r>
            <a:r>
              <a:rPr lang="ru-RU" sz="1500" dirty="0"/>
              <a:t> реализован алгоритм шифрования</a:t>
            </a:r>
            <a:r>
              <a:rPr lang="en-US" sz="1500" dirty="0"/>
              <a:t>: </a:t>
            </a:r>
            <a:r>
              <a:rPr lang="ru-RU" sz="1500" dirty="0"/>
              <a:t>на вход подаются открытый текст, алфавит, ключ, на выходе получается шифровка.</a:t>
            </a:r>
          </a:p>
          <a:p>
            <a:pPr marL="0" indent="0">
              <a:buNone/>
            </a:pPr>
            <a:endParaRPr lang="ru-RU" sz="1500" dirty="0"/>
          </a:p>
        </p:txBody>
      </p:sp>
    </p:spTree>
    <p:extLst>
      <p:ext uri="{BB962C8B-B14F-4D97-AF65-F5344CB8AC3E}">
        <p14:creationId xmlns:p14="http://schemas.microsoft.com/office/powerpoint/2010/main" val="203615394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2952</TotalTime>
  <Words>1805</Words>
  <Application>Microsoft Office PowerPoint</Application>
  <PresentationFormat>Широкоэкранный</PresentationFormat>
  <Paragraphs>157</Paragraphs>
  <Slides>32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37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Scytale</vt:lpstr>
      <vt:lpstr>Презентация PowerPoint</vt:lpstr>
      <vt:lpstr>Презентация PowerPoint</vt:lpstr>
      <vt:lpstr>Презентация PowerPoint</vt:lpstr>
      <vt:lpstr>Внешняя спецификация алгоритма расшифрования Scytale</vt:lpstr>
      <vt:lpstr>Блок-схема алгоритма расшифрования Scytale</vt:lpstr>
      <vt:lpstr>Агентурный шифр</vt:lpstr>
      <vt:lpstr>Презентация PowerPoint</vt:lpstr>
      <vt:lpstr>Презентация PowerPoint</vt:lpstr>
      <vt:lpstr>Презентация PowerPoint</vt:lpstr>
      <vt:lpstr>Внешняя спецификация алгоритма расшифрования Агентурного шифра</vt:lpstr>
      <vt:lpstr>Блок-схема алгоритма расшифрования Агентурного шифра</vt:lpstr>
      <vt:lpstr>Vigenere</vt:lpstr>
      <vt:lpstr>Презентация PowerPoint</vt:lpstr>
      <vt:lpstr>Презентация PowerPoint</vt:lpstr>
      <vt:lpstr>Внешняя спецификация алгоритма расшифрования Vigenere</vt:lpstr>
      <vt:lpstr>Блок-схема алгоритма расшифрования Vigenere</vt:lpstr>
      <vt:lpstr>Hill</vt:lpstr>
      <vt:lpstr>Презентация PowerPoint</vt:lpstr>
      <vt:lpstr>Презентация PowerPoint</vt:lpstr>
      <vt:lpstr>Внешняя спецификация алгоритма расшифрования Hill</vt:lpstr>
      <vt:lpstr>Блок-схема алгоритма расшифрования Hill</vt:lpstr>
      <vt:lpstr>ADFGVX</vt:lpstr>
      <vt:lpstr>Презентация PowerPoint</vt:lpstr>
      <vt:lpstr>Внешняя спецификация алгоритма расшифрования ADFGVX</vt:lpstr>
      <vt:lpstr>Блок-схема алгоритма расшифрования ADFGVX</vt:lpstr>
      <vt:lpstr>Шифр, заданный вариантом</vt:lpstr>
      <vt:lpstr>Презентация PowerPoint</vt:lpstr>
      <vt:lpstr>Блок-схема алгоритма зашифрования, заданного вариантом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Danila Ivanov</dc:creator>
  <cp:lastModifiedBy>Danila Ivanov</cp:lastModifiedBy>
  <cp:revision>63</cp:revision>
  <dcterms:created xsi:type="dcterms:W3CDTF">2026-09-19T12:55:56Z</dcterms:created>
  <dcterms:modified xsi:type="dcterms:W3CDTF">2026-09-27T21:52:57Z</dcterms:modified>
</cp:coreProperties>
</file>