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70" r:id="rId13"/>
    <p:sldId id="271" r:id="rId14"/>
    <p:sldId id="273" r:id="rId15"/>
    <p:sldId id="275" r:id="rId16"/>
    <p:sldId id="292" r:id="rId17"/>
    <p:sldId id="293" r:id="rId18"/>
    <p:sldId id="294" r:id="rId19"/>
    <p:sldId id="277" r:id="rId20"/>
    <p:sldId id="276" r:id="rId21"/>
    <p:sldId id="278" r:id="rId22"/>
    <p:sldId id="282" r:id="rId23"/>
    <p:sldId id="279" r:id="rId24"/>
    <p:sldId id="280" r:id="rId25"/>
    <p:sldId id="281" r:id="rId26"/>
    <p:sldId id="283" r:id="rId27"/>
    <p:sldId id="284" r:id="rId28"/>
    <p:sldId id="286" r:id="rId29"/>
    <p:sldId id="287" r:id="rId30"/>
    <p:sldId id="288" r:id="rId31"/>
    <p:sldId id="289" r:id="rId32"/>
    <p:sldId id="295" r:id="rId33"/>
    <p:sldId id="290" r:id="rId3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D0DF9E-40BB-4CFC-BB19-6C5A265F5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A067971-2203-4A5B-9A51-C034FF5FD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86AB3D-8953-4BFE-B237-4A4FFAA5C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C088F-841B-4043-905B-04273E96865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D859C9-5B56-4F51-8409-5577EDA20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C19D7F-FB87-4BCC-8C79-C7F05647B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41D1B-BFD8-4455-A315-E964D9C7F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607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A5635-E51D-4A4A-93A0-728CE4B53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3F57B6-0FA5-4971-9E72-FFF10C325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AE1DD3-D5E8-4932-8D9E-2690EAA71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C088F-841B-4043-905B-04273E96865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A021CA-9A35-4D07-88E4-DD13D32D2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4F76C9-433B-400A-9C2F-9907346BF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41D1B-BFD8-4455-A315-E964D9C7F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3645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2772B5-4F60-467B-A12D-288FD4718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37A340-D152-4F55-9E4A-1C9D36A0B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39E588-7184-4BA2-917C-8366E02DE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C088F-841B-4043-905B-04273E96865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8A7F03-A78E-4E7D-9FA7-FC2B5B34E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EEBB4C-5826-43F0-B97D-8063A828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41D1B-BFD8-4455-A315-E964D9C7F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4142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10646A-C67D-4952-A222-29C5CE4B5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159D92-3B38-41C5-833D-821AA9363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4074702-FA29-443C-926B-91276F54A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93F756-D960-4D68-9CF8-F4951AFD7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C088F-841B-4043-905B-04273E96865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DA481D9-40F1-487A-8C07-FB2DCC7DE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ABBD21-5DB1-403D-8FDA-79D7A5793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41D1B-BFD8-4455-A315-E964D9C7F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954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A6E794-0658-489B-8E48-4CDF52F9E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CE3255-58DD-47E9-B2A2-FB239B0A6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D1E5F83-CDB7-4CC4-BCB6-55078F339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A29FC3-6A56-4EB5-B435-7CFD5A92A5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230AAF2-A5A4-431E-AB2D-36B4CE1CE6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9CA0246-2EBD-4781-B44B-143840367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C088F-841B-4043-905B-04273E96865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CBA9789-B71C-4106-84A3-561AB104E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EEABB42-DE6E-4E58-9496-762092271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41D1B-BFD8-4455-A315-E964D9C7F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027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A980F4-8579-477D-A745-0C3C3E9FA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11FD949-1A25-4281-BF4C-A4A3F99F2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C088F-841B-4043-905B-04273E96865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02B2A7-1D84-4999-89DE-035CFAF7A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34F7E60-C6A4-4819-B3D9-96FF04BAE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41D1B-BFD8-4455-A315-E964D9C7F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633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3801B29-9F64-49C1-80EB-157C7D104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C088F-841B-4043-905B-04273E96865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E6EB038-5A96-4353-A66F-88D8D0430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07EAF9-EE66-4C16-AE4C-96A75904F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41D1B-BFD8-4455-A315-E964D9C7F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318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669E1F-4E10-494D-B267-E1D5F03A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7BD6B7-D35E-470C-9E88-3DC99490C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3EB6F97-C83C-4660-99DB-5CCB6C37D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F23494-9207-449C-A1F1-E3A30A71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C088F-841B-4043-905B-04273E96865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E4A7459-7707-413E-BCF0-CCF0AE7A0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2562B9-D167-4B99-8A0C-F30533DC5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41D1B-BFD8-4455-A315-E964D9C7F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314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47619B-926F-40A2-B967-006FC75DA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04390AA-9F10-419E-A674-E4CBE33EE4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D38D1C-2E64-404A-9584-67D4EE73A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8999FF-6FB5-46BE-BC2A-02742D0B8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C088F-841B-4043-905B-04273E96865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9888A7-7405-4EFC-B9C3-7B3B4C6FC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01D4F5-5AAB-49D3-A795-74C6E21A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41D1B-BFD8-4455-A315-E964D9C7F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3497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E2B3C9-ECBF-45F8-8FB6-785D34C8C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32DDE2C-CB0B-439D-BFB9-9993CE360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FC51A1-5312-4DCA-B80E-2E959EB3F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C088F-841B-4043-905B-04273E96865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C54289-3252-4C42-B25E-7DEAAFB76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D89C35-43FB-400F-8DCA-065169522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41D1B-BFD8-4455-A315-E964D9C7F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655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000DAF8-6DD1-4B0A-A263-D8BFD0B595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1BC7D7-1922-41FD-AFDA-FA6F17E49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F15B02-5088-4000-BFFB-E612818FC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C088F-841B-4043-905B-04273E96865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EF8736-254C-4218-B790-531C1B330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E469E2-CF63-4382-AA98-3F346217C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41D1B-BFD8-4455-A315-E964D9C7F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2315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9F79888-E724-4D12-BA88-937F7E530F13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88093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502D3AB-9180-453C-BA77-D1D6A257336D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3313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9620C4-B3A6-42DB-89CD-4B75FDE57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F8E5C1-D9D3-4705-86A2-7A670DD98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60E2DD-F27C-4C3C-A230-314EA74A6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C088F-841B-4043-905B-04273E96865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1AE88D-4C81-41B9-80A2-F75A17AD6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475007-F96A-4EB0-B5C7-A9ADEC445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41D1B-BFD8-4455-A315-E964D9C7F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329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1920960" y="3573720"/>
            <a:ext cx="9238680" cy="214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400" b="0" strike="noStrike" spc="-1">
                <a:solidFill>
                  <a:schemeClr val="dk1"/>
                </a:solidFill>
                <a:latin typeface="Calibri"/>
              </a:rPr>
              <a:t>Студент: _______________ Иванов Данила , группа 3342 </a:t>
            </a:r>
            <a:endParaRPr lang="ru-RU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2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400" b="0" strike="noStrike" spc="-1">
                <a:solidFill>
                  <a:schemeClr val="dk1"/>
                </a:solidFill>
                <a:latin typeface="Calibri"/>
              </a:rPr>
              <a:t>Руководитель:___________ Племянников А.К., доцент каф. ИБ</a:t>
            </a:r>
            <a:endParaRPr lang="ru-RU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3"/>
          <p:cNvSpPr/>
          <p:nvPr/>
        </p:nvSpPr>
        <p:spPr>
          <a:xfrm>
            <a:off x="1523880" y="343080"/>
            <a:ext cx="914328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800" b="0" strike="noStrike" spc="-1">
                <a:solidFill>
                  <a:schemeClr val="dk1"/>
                </a:solidFill>
                <a:latin typeface="Calibri"/>
              </a:rPr>
              <a:t>Санкт-Петербургский государственный электротехнический 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800" b="0" strike="noStrike" spc="-1">
                <a:solidFill>
                  <a:schemeClr val="dk1"/>
                </a:solidFill>
                <a:latin typeface="Calibri"/>
              </a:rPr>
              <a:t>университет «ЛЭТИ» им. В.И. Ульянова (Ленина) 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4"/>
          <p:cNvSpPr/>
          <p:nvPr/>
        </p:nvSpPr>
        <p:spPr>
          <a:xfrm>
            <a:off x="1523880" y="1731240"/>
            <a:ext cx="9143280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2400" b="0" strike="noStrike" spc="-1" dirty="0">
                <a:solidFill>
                  <a:schemeClr val="dk1"/>
                </a:solidFill>
                <a:latin typeface="Calibri"/>
              </a:rPr>
              <a:t>Лабораторная №</a:t>
            </a: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 2</a:t>
            </a:r>
            <a:endParaRPr lang="ru-RU" sz="2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/>
            <a:r>
              <a:rPr lang="ru-RU" sz="3200" b="0" i="1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ru-RU" sz="2800" b="0" i="1" strike="noStrike" spc="-1" dirty="0">
                <a:solidFill>
                  <a:schemeClr val="dk1"/>
                </a:solidFill>
                <a:latin typeface="Calibri"/>
              </a:rPr>
              <a:t>Изучение шифров</a:t>
            </a:r>
            <a:r>
              <a:rPr lang="en-US" sz="2800" b="0" i="1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en-US" sz="2800" i="1" spc="-1" dirty="0">
                <a:solidFill>
                  <a:schemeClr val="dk1"/>
                </a:solidFill>
              </a:rPr>
              <a:t>DES, 3DES </a:t>
            </a:r>
            <a:r>
              <a:rPr lang="ru-RU" sz="2800" i="1" spc="-1" dirty="0">
                <a:solidFill>
                  <a:schemeClr val="dk1"/>
                </a:solidFill>
              </a:rPr>
              <a:t>и Магма</a:t>
            </a:r>
            <a:r>
              <a:rPr lang="en-US" sz="2800" b="0" i="1" strike="noStrike" spc="-1" dirty="0">
                <a:solidFill>
                  <a:schemeClr val="dk1"/>
                </a:solidFill>
                <a:latin typeface="Calibri"/>
              </a:rPr>
              <a:t>  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5"/>
          <p:cNvSpPr/>
          <p:nvPr/>
        </p:nvSpPr>
        <p:spPr>
          <a:xfrm>
            <a:off x="1523880" y="5868720"/>
            <a:ext cx="9143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800" b="0" strike="noStrike" spc="-1">
                <a:solidFill>
                  <a:schemeClr val="dk1"/>
                </a:solidFill>
                <a:latin typeface="Calibri"/>
              </a:rPr>
              <a:t>Сант-Петербург 2026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/>
          </p:nvPr>
        </p:nvSpPr>
        <p:spPr>
          <a:xfrm>
            <a:off x="838080" y="582840"/>
            <a:ext cx="10514880" cy="5918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ru-RU" sz="2400" b="1" strike="noStrike" spc="-1" dirty="0">
                <a:solidFill>
                  <a:schemeClr val="dk1"/>
                </a:solidFill>
                <a:latin typeface="Calibri"/>
              </a:rPr>
              <a:t>Цель.</a:t>
            </a:r>
            <a:r>
              <a:rPr lang="ru-RU" sz="2400" b="0" strike="noStrike" spc="-1" dirty="0">
                <a:solidFill>
                  <a:schemeClr val="dk1"/>
                </a:solidFill>
                <a:latin typeface="Calibri"/>
              </a:rPr>
              <a:t> Повышение компетентности в области зашифрования</a:t>
            </a: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, </a:t>
            </a:r>
            <a:r>
              <a:rPr lang="ru-RU" sz="2400" b="0" strike="noStrike" spc="-1" dirty="0">
                <a:solidFill>
                  <a:schemeClr val="dk1"/>
                </a:solidFill>
                <a:latin typeface="Calibri"/>
              </a:rPr>
              <a:t>расшифрования</a:t>
            </a: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ru-RU" sz="2400" b="0" strike="noStrike" spc="-1" dirty="0">
                <a:solidFill>
                  <a:schemeClr val="dk1"/>
                </a:solidFill>
                <a:latin typeface="Calibri"/>
              </a:rPr>
              <a:t>и проведении атак блочных шифров с помощью таких шифров, как </a:t>
            </a: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DES, 3DES, </a:t>
            </a:r>
            <a:r>
              <a:rPr lang="ru-RU" sz="2400" b="0" strike="noStrike" spc="-1" dirty="0">
                <a:solidFill>
                  <a:schemeClr val="dk1"/>
                </a:solidFill>
                <a:latin typeface="Calibri"/>
              </a:rPr>
              <a:t>Магма.</a:t>
            </a:r>
            <a:endParaRPr lang="ru-RU" sz="24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ru-RU" sz="2400" b="0" strike="noStrike" spc="-1" dirty="0">
                <a:solidFill>
                  <a:schemeClr val="dk1"/>
                </a:solidFill>
                <a:latin typeface="Calibri"/>
              </a:rPr>
              <a:t>Для достижения поставленной цели предстояло решить следующие основные задачи:</a:t>
            </a:r>
            <a:endParaRPr lang="ru-RU" sz="24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1) </a:t>
            </a:r>
            <a:r>
              <a:rPr lang="ru-RU" sz="2400" b="0" strike="noStrike" spc="-1" dirty="0">
                <a:solidFill>
                  <a:schemeClr val="dk1"/>
                </a:solidFill>
                <a:latin typeface="Calibri"/>
              </a:rPr>
              <a:t>Изучить шифр </a:t>
            </a: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DES</a:t>
            </a:r>
            <a:endParaRPr lang="ru-RU" sz="24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ru-RU" sz="2400" b="0" strike="noStrike" spc="-1" dirty="0">
                <a:solidFill>
                  <a:schemeClr val="dk1"/>
                </a:solidFill>
                <a:latin typeface="Calibri"/>
              </a:rPr>
              <a:t>2) </a:t>
            </a:r>
            <a:r>
              <a:rPr lang="ru-RU" sz="2400" spc="-1" dirty="0">
                <a:solidFill>
                  <a:schemeClr val="dk1"/>
                </a:solidFill>
                <a:latin typeface="Calibri"/>
              </a:rPr>
              <a:t>Изучить упрощенный блочный шифр и атаку на него методом дифференциального анализа </a:t>
            </a:r>
            <a:endParaRPr lang="ru-RU" sz="24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ru-RU" sz="2400" b="0" strike="noStrike" spc="-1" dirty="0">
                <a:solidFill>
                  <a:schemeClr val="dk1"/>
                </a:solidFill>
                <a:latin typeface="Calibri"/>
              </a:rPr>
              <a:t>3) Изучить шифр </a:t>
            </a: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DES </a:t>
            </a:r>
            <a:r>
              <a:rPr lang="ru-RU" sz="2400" b="0" strike="noStrike" spc="-1" dirty="0">
                <a:solidFill>
                  <a:schemeClr val="dk1"/>
                </a:solidFill>
                <a:latin typeface="Calibri"/>
              </a:rPr>
              <a:t>в режимах </a:t>
            </a:r>
            <a:r>
              <a:rPr lang="en-US" sz="2400" spc="-1" dirty="0">
                <a:solidFill>
                  <a:schemeClr val="dk1"/>
                </a:solidFill>
                <a:latin typeface="Calibri"/>
              </a:rPr>
              <a:t>ECB </a:t>
            </a:r>
            <a:r>
              <a:rPr lang="ru-RU" sz="2400" spc="-1" dirty="0">
                <a:solidFill>
                  <a:schemeClr val="dk1"/>
                </a:solidFill>
                <a:latin typeface="Calibri"/>
              </a:rPr>
              <a:t>и </a:t>
            </a:r>
            <a:r>
              <a:rPr lang="en-US" sz="2400" spc="-1" dirty="0">
                <a:solidFill>
                  <a:schemeClr val="dk1"/>
                </a:solidFill>
                <a:latin typeface="Calibri"/>
              </a:rPr>
              <a:t>CBC</a:t>
            </a:r>
            <a:endParaRPr lang="ru-RU" sz="24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ru-RU" sz="2400" b="0" strike="noStrike" spc="-1" dirty="0">
                <a:solidFill>
                  <a:schemeClr val="dk1"/>
                </a:solidFill>
                <a:latin typeface="Calibri"/>
              </a:rPr>
              <a:t>4) Изучить шифр </a:t>
            </a: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3DES</a:t>
            </a:r>
            <a:endParaRPr lang="ru-RU" sz="24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ru-RU" sz="2400" b="0" strike="noStrike" spc="-1" dirty="0">
                <a:solidFill>
                  <a:schemeClr val="dk1"/>
                </a:solidFill>
                <a:latin typeface="Calibri"/>
              </a:rPr>
              <a:t>5) Изучить шифр Магма</a:t>
            </a:r>
            <a:endParaRPr lang="ru-RU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95C567-61AE-458F-B5CC-AA9AABD23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E5A6A4-6FA2-487D-A46E-4D689420A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814" y="2175118"/>
            <a:ext cx="8701411" cy="45218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F4898A-1844-466A-8AF7-FC8C0CB03D7D}"/>
              </a:ext>
            </a:extLst>
          </p:cNvPr>
          <p:cNvSpPr txBox="1"/>
          <p:nvPr/>
        </p:nvSpPr>
        <p:spPr>
          <a:xfrm>
            <a:off x="838080" y="1563147"/>
            <a:ext cx="5835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Входные данные</a:t>
            </a:r>
            <a:r>
              <a:rPr lang="en-US" dirty="0"/>
              <a:t>: </a:t>
            </a:r>
            <a:r>
              <a:rPr lang="ru-RU" dirty="0"/>
              <a:t>открытый текст (64 бит) + ключ (64 бит)</a:t>
            </a:r>
          </a:p>
        </p:txBody>
      </p:sp>
    </p:spTree>
    <p:extLst>
      <p:ext uri="{BB962C8B-B14F-4D97-AF65-F5344CB8AC3E}">
        <p14:creationId xmlns:p14="http://schemas.microsoft.com/office/powerpoint/2010/main" val="1873573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4898A-1844-466A-8AF7-FC8C0CB03D7D}"/>
              </a:ext>
            </a:extLst>
          </p:cNvPr>
          <p:cNvSpPr txBox="1"/>
          <p:nvPr/>
        </p:nvSpPr>
        <p:spPr>
          <a:xfrm>
            <a:off x="286258" y="572904"/>
            <a:ext cx="328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Полученные раундовые ключи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3BC1802-1B15-440E-AD8C-16D331ADB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025" y="1620082"/>
            <a:ext cx="645795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105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4898A-1844-466A-8AF7-FC8C0CB03D7D}"/>
              </a:ext>
            </a:extLst>
          </p:cNvPr>
          <p:cNvSpPr txBox="1"/>
          <p:nvPr/>
        </p:nvSpPr>
        <p:spPr>
          <a:xfrm>
            <a:off x="286258" y="572904"/>
            <a:ext cx="181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 </a:t>
            </a:r>
            <a:r>
              <a:rPr lang="ru-RU" dirty="0"/>
              <a:t>перестановка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BCEE73D-56F8-44BC-B352-60FD49585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0" y="1575925"/>
            <a:ext cx="6667500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56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4898A-1844-466A-8AF7-FC8C0CB03D7D}"/>
              </a:ext>
            </a:extLst>
          </p:cNvPr>
          <p:cNvSpPr txBox="1"/>
          <p:nvPr/>
        </p:nvSpPr>
        <p:spPr>
          <a:xfrm>
            <a:off x="286258" y="572904"/>
            <a:ext cx="1353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1-ый раунд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C35D65F-DB72-48CB-860B-E1E8FEC79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770" y="301226"/>
            <a:ext cx="3791641" cy="200162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331D1B3-55FA-402F-9661-F27BC18BC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205" y="338956"/>
            <a:ext cx="3365700" cy="170078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59AC4E7-A3E1-4202-B38B-CB97F9CA8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2171" y="2208154"/>
            <a:ext cx="2298992" cy="138447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E4ECDE0-1702-4941-AB03-2F13A66823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9761" y="2617966"/>
            <a:ext cx="2585159" cy="97466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B7E34BD-8E83-48B5-A992-B719EBC993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0056" y="2360693"/>
            <a:ext cx="2585159" cy="130308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9A2F5AE-AAE9-4D01-A84F-10549FA71A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842" y="2353435"/>
            <a:ext cx="2298992" cy="141166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766038F-8EF7-4E5E-B0F2-2AF40915CA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611" y="4146434"/>
            <a:ext cx="4557800" cy="200162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1BF71CE-0931-4F5D-BF7C-91B4EF63D6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1295" y="4146434"/>
            <a:ext cx="4390372" cy="237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031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4898A-1844-466A-8AF7-FC8C0CB03D7D}"/>
              </a:ext>
            </a:extLst>
          </p:cNvPr>
          <p:cNvSpPr txBox="1"/>
          <p:nvPr/>
        </p:nvSpPr>
        <p:spPr>
          <a:xfrm>
            <a:off x="286258" y="572904"/>
            <a:ext cx="1321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2-ой раунд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3F94E35-0778-4C34-B086-76E9F667A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944" y="210735"/>
            <a:ext cx="3685528" cy="195722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833108C-3FF9-4B0D-B536-AC55198BD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052" y="210735"/>
            <a:ext cx="3610253" cy="190937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D7D280-7A8C-421C-8AEA-899E76FF9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2517" y="2202846"/>
            <a:ext cx="2298993" cy="141918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275A78D-F9AA-4BC7-B254-C5492987DE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0282" y="2623891"/>
            <a:ext cx="2745835" cy="107209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1A82CC8-B71D-409D-B20D-E62A65A179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5189" y="2644940"/>
            <a:ext cx="2568761" cy="105104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DFC4C450-14EC-494B-AC63-651EEBE0BF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868" y="2501943"/>
            <a:ext cx="2298993" cy="147561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A66BEFE-8A4D-473A-8DD2-4E9E320231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2734" y="4232669"/>
            <a:ext cx="4906967" cy="195722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0F8C873-F55C-4D2B-B87B-6967075AE4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6511" y="4068363"/>
            <a:ext cx="4045371" cy="217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190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4898A-1844-466A-8AF7-FC8C0CB03D7D}"/>
              </a:ext>
            </a:extLst>
          </p:cNvPr>
          <p:cNvSpPr txBox="1"/>
          <p:nvPr/>
        </p:nvSpPr>
        <p:spPr>
          <a:xfrm>
            <a:off x="286258" y="572904"/>
            <a:ext cx="1324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3-ий раунд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109FE92-209D-48ED-8F1B-9DDD6C333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115" y="320484"/>
            <a:ext cx="3825114" cy="197463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E313572-1FD7-481E-9594-1D3EF2186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367" y="330260"/>
            <a:ext cx="3387355" cy="179208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98FB278-CEAC-47EA-9DE9-5EF30DFAD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893" y="2286600"/>
            <a:ext cx="2314442" cy="130239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A9CDF55-1E5D-454E-9F91-24EF34E8A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6207" y="2652954"/>
            <a:ext cx="2568762" cy="93603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E067C3C-7B1A-459C-B89A-5865497D24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4229" y="2392531"/>
            <a:ext cx="2850750" cy="143001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1CAC33C-7B2F-4E26-AC70-2A708B8819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578" y="2448210"/>
            <a:ext cx="2495423" cy="15862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73810F6-C255-4F64-B98D-95DA7E4AA6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587" y="4187540"/>
            <a:ext cx="5448300" cy="216217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C6F630B-45A1-4E64-B8F5-B09FD43FDF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8327" y="4034448"/>
            <a:ext cx="4405086" cy="225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61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4898A-1844-466A-8AF7-FC8C0CB03D7D}"/>
              </a:ext>
            </a:extLst>
          </p:cNvPr>
          <p:cNvSpPr txBox="1"/>
          <p:nvPr/>
        </p:nvSpPr>
        <p:spPr>
          <a:xfrm>
            <a:off x="286258" y="572904"/>
            <a:ext cx="1353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4-ый раунд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A402FC6-EB9D-468C-BB96-AD87805A2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492" y="250569"/>
            <a:ext cx="3637318" cy="189724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A217BB7-F565-477A-8710-9B84EE1E6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327" y="368203"/>
            <a:ext cx="3537844" cy="183383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988EEB6-105A-4408-90AC-2DD6D3CAE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5926" y="2392531"/>
            <a:ext cx="2375694" cy="143792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D366023-BC0D-403A-81C4-0B3406F662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1861" y="2670460"/>
            <a:ext cx="3304065" cy="123762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3BED856-855C-41CF-A9E8-748807103F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7025" y="2443265"/>
            <a:ext cx="2993115" cy="151889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5810A02-6BEB-40FF-AA19-623A2600AD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534" y="2370976"/>
            <a:ext cx="2724770" cy="159118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8D0DC08-A6A6-4B65-82C7-9BD3153930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367" y="4193426"/>
            <a:ext cx="5133975" cy="197167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C3C5278-8F67-4DB5-BF9A-2D9090CF96F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8768" y="4193426"/>
            <a:ext cx="3895355" cy="207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903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4898A-1844-466A-8AF7-FC8C0CB03D7D}"/>
              </a:ext>
            </a:extLst>
          </p:cNvPr>
          <p:cNvSpPr txBox="1"/>
          <p:nvPr/>
        </p:nvSpPr>
        <p:spPr>
          <a:xfrm>
            <a:off x="286258" y="572904"/>
            <a:ext cx="147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16-ый раунд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8A593AF-9F95-4C2A-9823-4C8A37B7D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230" y="215671"/>
            <a:ext cx="3852149" cy="199632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ACF9DA-0D33-489E-8C44-43BCFEF14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299" y="168338"/>
            <a:ext cx="4233770" cy="222419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EB4B808-140B-4CC1-981A-63EA46226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3226" y="2443265"/>
            <a:ext cx="2287456" cy="138301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C8C395E-2CE3-46A3-81F6-EB6E0A7D04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8866" y="2746677"/>
            <a:ext cx="3345633" cy="107959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39B88F8-BD46-448B-8961-C6813F208D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8781" y="2492055"/>
            <a:ext cx="3176608" cy="15857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038E811-7D91-484A-9084-991E60FE41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214" y="2443265"/>
            <a:ext cx="2486840" cy="158573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B686194-CD41-4689-8430-C71AD46B54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9666" y="4303896"/>
            <a:ext cx="5029200" cy="19812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EF495FF-5444-4A1A-9393-AA84720A93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1488" y="4202815"/>
            <a:ext cx="4045396" cy="208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971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4898A-1844-466A-8AF7-FC8C0CB03D7D}"/>
              </a:ext>
            </a:extLst>
          </p:cNvPr>
          <p:cNvSpPr txBox="1"/>
          <p:nvPr/>
        </p:nvSpPr>
        <p:spPr>
          <a:xfrm>
            <a:off x="286258" y="572904"/>
            <a:ext cx="3148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IP^-1, </a:t>
            </a:r>
            <a:r>
              <a:rPr lang="ru-RU" dirty="0"/>
              <a:t>конечная</a:t>
            </a:r>
            <a:r>
              <a:rPr lang="en-US" dirty="0"/>
              <a:t> </a:t>
            </a:r>
            <a:r>
              <a:rPr lang="ru-RU" dirty="0"/>
              <a:t>перестановка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F042D2-A46F-4179-AB99-4C4F24359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976" y="1478292"/>
            <a:ext cx="7070047" cy="432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186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4898A-1844-466A-8AF7-FC8C0CB03D7D}"/>
              </a:ext>
            </a:extLst>
          </p:cNvPr>
          <p:cNvSpPr txBox="1"/>
          <p:nvPr/>
        </p:nvSpPr>
        <p:spPr>
          <a:xfrm>
            <a:off x="286258" y="572904"/>
            <a:ext cx="3963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Блок-схема алгоритма зашифрования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33F73D0-E196-4D24-B17D-90ED0DDD5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379" y="213063"/>
            <a:ext cx="4468722" cy="638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119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B7BD88-FD14-468F-88E0-4E125E6A8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Упрощенный блочный шифр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EE9730-191D-4BCD-9C97-B6196F19AFF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79" y="1621374"/>
            <a:ext cx="10436561" cy="2136666"/>
          </a:xfrm>
        </p:spPr>
        <p:txBody>
          <a:bodyPr anchor="t"/>
          <a:lstStyle/>
          <a:p>
            <a:pPr marL="0" indent="0">
              <a:buNone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Ключ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: 64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бита</a:t>
            </a:r>
          </a:p>
          <a:p>
            <a:pPr marL="0" indent="0">
              <a:buNone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Блок данных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: 32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бита</a:t>
            </a:r>
          </a:p>
          <a:p>
            <a:pPr marL="0" indent="0">
              <a:buNone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Количество раундов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: 4</a:t>
            </a:r>
          </a:p>
          <a:p>
            <a:pPr marL="0" indent="0">
              <a:buNone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Секретный ключ разделяется на 4 равные части.</a:t>
            </a:r>
          </a:p>
          <a:p>
            <a:pPr marL="0" indent="0">
              <a:buNone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Подстановка в раундовой функции – четверка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S-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блоков.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Перестановка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в раундовой функции – циклический сдвиг влево на 5 бит.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DAC75A-F497-4C54-8B76-9BD2E7322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974" y="4356294"/>
            <a:ext cx="5385092" cy="213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053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4898A-1844-466A-8AF7-FC8C0CB03D7D}"/>
              </a:ext>
            </a:extLst>
          </p:cNvPr>
          <p:cNvSpPr txBox="1"/>
          <p:nvPr/>
        </p:nvSpPr>
        <p:spPr>
          <a:xfrm>
            <a:off x="286258" y="572904"/>
            <a:ext cx="28741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Блок-схему алгоритма расчёта дифференциальных характеристик </a:t>
            </a:r>
            <a:r>
              <a:rPr lang="en-US" dirty="0"/>
              <a:t>S-</a:t>
            </a:r>
            <a:r>
              <a:rPr lang="ru-RU" dirty="0"/>
              <a:t>блока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8BB3BD2-23BB-4349-A826-F9A1A6D2F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303" y="572904"/>
            <a:ext cx="4091189" cy="536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987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4898A-1844-466A-8AF7-FC8C0CB03D7D}"/>
              </a:ext>
            </a:extLst>
          </p:cNvPr>
          <p:cNvSpPr txBox="1"/>
          <p:nvPr/>
        </p:nvSpPr>
        <p:spPr>
          <a:xfrm>
            <a:off x="286258" y="572904"/>
            <a:ext cx="2874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Код алгоритма расчёта дифференциальных характеристик </a:t>
            </a:r>
            <a:r>
              <a:rPr lang="en-US" dirty="0"/>
              <a:t>S-</a:t>
            </a:r>
            <a:r>
              <a:rPr lang="ru-RU" dirty="0"/>
              <a:t>блока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A4F710E-20D2-4B3F-9BD9-8A28E0603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291" y="159659"/>
            <a:ext cx="4962223" cy="348906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A38A5D-C518-4CE6-8301-05EB7D2FC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10" y="3142695"/>
            <a:ext cx="4050648" cy="295108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6044187-463E-4D51-842E-4446E2F5AB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1614" y="4012706"/>
            <a:ext cx="3061041" cy="249018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F744199-FDD5-42CE-9F7B-FA8A083578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991" y="3724181"/>
            <a:ext cx="3764896" cy="306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13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4898A-1844-466A-8AF7-FC8C0CB03D7D}"/>
              </a:ext>
            </a:extLst>
          </p:cNvPr>
          <p:cNvSpPr txBox="1"/>
          <p:nvPr/>
        </p:nvSpPr>
        <p:spPr>
          <a:xfrm>
            <a:off x="286258" y="572904"/>
            <a:ext cx="2403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Уязвимости </a:t>
            </a:r>
            <a:r>
              <a:rPr lang="en-US" dirty="0"/>
              <a:t>S-</a:t>
            </a:r>
            <a:r>
              <a:rPr lang="ru-RU" dirty="0"/>
              <a:t>блоков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D3BA32D-69BE-4F58-8F3D-9D6EB3FA9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875" y="323416"/>
            <a:ext cx="7859222" cy="621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393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4898A-1844-466A-8AF7-FC8C0CB03D7D}"/>
              </a:ext>
            </a:extLst>
          </p:cNvPr>
          <p:cNvSpPr txBox="1"/>
          <p:nvPr/>
        </p:nvSpPr>
        <p:spPr>
          <a:xfrm>
            <a:off x="286258" y="572904"/>
            <a:ext cx="58097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Выбранный правый выходной дифференциал</a:t>
            </a:r>
            <a:r>
              <a:rPr lang="en-US" dirty="0"/>
              <a:t>:</a:t>
            </a:r>
            <a:r>
              <a:rPr lang="ru-RU" dirty="0"/>
              <a:t> 3333. Так как каждое значение соответствует самому вероятному дифференциалу в своем </a:t>
            </a:r>
            <a:r>
              <a:rPr lang="en-US" dirty="0"/>
              <a:t>S-</a:t>
            </a:r>
            <a:r>
              <a:rPr lang="ru-RU" dirty="0"/>
              <a:t>блоке.</a:t>
            </a:r>
          </a:p>
          <a:p>
            <a:r>
              <a:rPr lang="ru-RU" dirty="0"/>
              <a:t>Вычисленный левый дифференциал</a:t>
            </a:r>
            <a:r>
              <a:rPr lang="en-US" dirty="0"/>
              <a:t>: 3CCC &lt;&lt;&lt; 5 = 9987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7C733B9-3AB5-4D51-A0C9-7EA14ABF6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398" y="366285"/>
            <a:ext cx="4829849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842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4898A-1844-466A-8AF7-FC8C0CB03D7D}"/>
              </a:ext>
            </a:extLst>
          </p:cNvPr>
          <p:cNvSpPr txBox="1"/>
          <p:nvPr/>
        </p:nvSpPr>
        <p:spPr>
          <a:xfrm>
            <a:off x="286257" y="572904"/>
            <a:ext cx="102426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Входной дифференциал</a:t>
            </a:r>
            <a:r>
              <a:rPr lang="en-US" dirty="0"/>
              <a:t>: P = (9987, 3333)</a:t>
            </a:r>
          </a:p>
          <a:p>
            <a:r>
              <a:rPr lang="ru-RU" dirty="0"/>
              <a:t>Дифференциальная характеристика для первых 3 раундов</a:t>
            </a:r>
            <a:r>
              <a:rPr lang="en-US" dirty="0"/>
              <a:t>: ((9987, 3333), (3333, 9987), 0.1001)</a:t>
            </a:r>
            <a:r>
              <a:rPr lang="ru-RU" dirty="0"/>
              <a:t>.</a:t>
            </a:r>
          </a:p>
          <a:p>
            <a:r>
              <a:rPr lang="ru-RU" dirty="0"/>
              <a:t>Становится возможным восстановить байты последнего раундового ключа.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E5E3ABD-32E4-492C-9447-851438DF3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971" y="1979721"/>
            <a:ext cx="6619109" cy="464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746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95C567-61AE-458F-B5CC-AA9AABD23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</a:t>
            </a:r>
            <a:r>
              <a:rPr lang="ru-RU" dirty="0"/>
              <a:t> в режиме </a:t>
            </a:r>
            <a:r>
              <a:rPr lang="en-US" dirty="0"/>
              <a:t>ECB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30DA12C-2EA7-43E1-8F66-27FD004F3A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293" y="2385555"/>
            <a:ext cx="5240645" cy="27826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0879C9-CC47-4336-8CF7-C96AC375A7D6}"/>
              </a:ext>
            </a:extLst>
          </p:cNvPr>
          <p:cNvSpPr txBox="1"/>
          <p:nvPr/>
        </p:nvSpPr>
        <p:spPr>
          <a:xfrm>
            <a:off x="559293" y="1689840"/>
            <a:ext cx="2460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Входное изображение</a:t>
            </a:r>
            <a:r>
              <a:rPr lang="en-US" dirty="0"/>
              <a:t>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91345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F6D4DB8-607B-4013-937E-B65E3FE18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27" y="1624614"/>
            <a:ext cx="10543346" cy="47242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B16F29-F0D8-4504-81B8-FF769CB689D9}"/>
              </a:ext>
            </a:extLst>
          </p:cNvPr>
          <p:cNvSpPr txBox="1"/>
          <p:nvPr/>
        </p:nvSpPr>
        <p:spPr>
          <a:xfrm>
            <a:off x="692458" y="748807"/>
            <a:ext cx="2708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Алгоритм зашифрования</a:t>
            </a:r>
            <a:r>
              <a:rPr lang="en-US" dirty="0"/>
              <a:t>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2330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B16F29-F0D8-4504-81B8-FF769CB689D9}"/>
              </a:ext>
            </a:extLst>
          </p:cNvPr>
          <p:cNvSpPr txBox="1"/>
          <p:nvPr/>
        </p:nvSpPr>
        <p:spPr>
          <a:xfrm>
            <a:off x="692458" y="748807"/>
            <a:ext cx="2614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Выходное изображение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AF0CE2-8F51-4D56-B872-4B8344FA6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767" y="1530488"/>
            <a:ext cx="8928171" cy="473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201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4898A-1844-466A-8AF7-FC8C0CB03D7D}"/>
              </a:ext>
            </a:extLst>
          </p:cNvPr>
          <p:cNvSpPr txBox="1"/>
          <p:nvPr/>
        </p:nvSpPr>
        <p:spPr>
          <a:xfrm>
            <a:off x="286258" y="572904"/>
            <a:ext cx="3963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Блок-схема алгоритма зашифрования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67BD03F-2E79-49AD-8E09-F1F245935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991" y="177553"/>
            <a:ext cx="7350023" cy="610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162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95C567-61AE-458F-B5CC-AA9AABD23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</a:t>
            </a:r>
            <a:r>
              <a:rPr lang="ru-RU" dirty="0"/>
              <a:t> в режиме </a:t>
            </a:r>
            <a:r>
              <a:rPr lang="en-US" dirty="0"/>
              <a:t>CBC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30DA12C-2EA7-43E1-8F66-27FD004F3A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293" y="2385555"/>
            <a:ext cx="5240645" cy="27826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0879C9-CC47-4336-8CF7-C96AC375A7D6}"/>
              </a:ext>
            </a:extLst>
          </p:cNvPr>
          <p:cNvSpPr txBox="1"/>
          <p:nvPr/>
        </p:nvSpPr>
        <p:spPr>
          <a:xfrm>
            <a:off x="559293" y="1689840"/>
            <a:ext cx="2460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Входное изображение</a:t>
            </a:r>
            <a:r>
              <a:rPr lang="en-US" dirty="0"/>
              <a:t>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2833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B16F29-F0D8-4504-81B8-FF769CB689D9}"/>
              </a:ext>
            </a:extLst>
          </p:cNvPr>
          <p:cNvSpPr txBox="1"/>
          <p:nvPr/>
        </p:nvSpPr>
        <p:spPr>
          <a:xfrm>
            <a:off x="692458" y="748807"/>
            <a:ext cx="2708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Алгоритм зашифрования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8B6A4EB-7E00-49C6-ACDC-350DB8013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004" y="1322043"/>
            <a:ext cx="10087992" cy="523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7449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B16F29-F0D8-4504-81B8-FF769CB689D9}"/>
              </a:ext>
            </a:extLst>
          </p:cNvPr>
          <p:cNvSpPr txBox="1"/>
          <p:nvPr/>
        </p:nvSpPr>
        <p:spPr>
          <a:xfrm>
            <a:off x="692458" y="748807"/>
            <a:ext cx="2614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Выходное изображение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3DD6490-F881-42C1-A7CA-D61E74599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422" y="2007598"/>
            <a:ext cx="7731156" cy="410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9009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4898A-1844-466A-8AF7-FC8C0CB03D7D}"/>
              </a:ext>
            </a:extLst>
          </p:cNvPr>
          <p:cNvSpPr txBox="1"/>
          <p:nvPr/>
        </p:nvSpPr>
        <p:spPr>
          <a:xfrm>
            <a:off x="286258" y="572904"/>
            <a:ext cx="3963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Блок-схема алгоритма зашифрования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67C7F9-7185-4686-9E41-77C6D423C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303" y="124287"/>
            <a:ext cx="6129123" cy="646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066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CCF748-51A4-41AF-8FD3-66CEC008E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79" y="93516"/>
            <a:ext cx="10514880" cy="1324800"/>
          </a:xfrm>
        </p:spPr>
        <p:txBody>
          <a:bodyPr/>
          <a:lstStyle/>
          <a:p>
            <a:r>
              <a:rPr lang="en-US" dirty="0"/>
              <a:t>3-DES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DC9F2A9-3CDD-498E-A63F-A1BFC64A6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96" y="2339829"/>
            <a:ext cx="11100047" cy="44246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7D61E5-AD75-4F65-A244-CA17F7083D94}"/>
              </a:ext>
            </a:extLst>
          </p:cNvPr>
          <p:cNvSpPr txBox="1"/>
          <p:nvPr/>
        </p:nvSpPr>
        <p:spPr>
          <a:xfrm>
            <a:off x="472690" y="1160863"/>
            <a:ext cx="3346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Открытый текст</a:t>
            </a:r>
            <a:r>
              <a:rPr lang="en-US" dirty="0"/>
              <a:t>: IVANOV DANILA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6BFF48-02F5-4C69-94A8-D9A7F039B043}"/>
              </a:ext>
            </a:extLst>
          </p:cNvPr>
          <p:cNvSpPr txBox="1"/>
          <p:nvPr/>
        </p:nvSpPr>
        <p:spPr>
          <a:xfrm>
            <a:off x="4422208" y="1160863"/>
            <a:ext cx="765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Ключ</a:t>
            </a:r>
            <a:r>
              <a:rPr lang="en-US" dirty="0"/>
              <a:t>: 11 11 11 11 11 11 11 11 22 22 22 22 22 22 22 22 33 33 33 33 33 33 33 33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31B637-23F6-4E1C-B54D-81A8E1CA681B}"/>
              </a:ext>
            </a:extLst>
          </p:cNvPr>
          <p:cNvSpPr txBox="1"/>
          <p:nvPr/>
        </p:nvSpPr>
        <p:spPr>
          <a:xfrm>
            <a:off x="472690" y="1670101"/>
            <a:ext cx="3540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Шифровка </a:t>
            </a:r>
            <a:r>
              <a:rPr lang="en-US" dirty="0"/>
              <a:t>ASCII: `???P`?????;???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F6642F-A7B7-4DE5-85C1-36900A636861}"/>
              </a:ext>
            </a:extLst>
          </p:cNvPr>
          <p:cNvSpPr txBox="1"/>
          <p:nvPr/>
        </p:nvSpPr>
        <p:spPr>
          <a:xfrm>
            <a:off x="4422208" y="1670101"/>
            <a:ext cx="7297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Шифровка </a:t>
            </a:r>
            <a:r>
              <a:rPr lang="en-US" dirty="0"/>
              <a:t>hex: 60 D0 B8 F3 50 60 95 84 9D C2 FB 13 3B DF F7 DC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3214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7D61E5-AD75-4F65-A244-CA17F7083D94}"/>
              </a:ext>
            </a:extLst>
          </p:cNvPr>
          <p:cNvSpPr txBox="1"/>
          <p:nvPr/>
        </p:nvSpPr>
        <p:spPr>
          <a:xfrm>
            <a:off x="472690" y="1160863"/>
            <a:ext cx="3346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Открытый текст</a:t>
            </a:r>
            <a:r>
              <a:rPr lang="en-US" dirty="0"/>
              <a:t>: IVANOV DANILA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6BFF48-02F5-4C69-94A8-D9A7F039B043}"/>
              </a:ext>
            </a:extLst>
          </p:cNvPr>
          <p:cNvSpPr txBox="1"/>
          <p:nvPr/>
        </p:nvSpPr>
        <p:spPr>
          <a:xfrm>
            <a:off x="4422208" y="1160863"/>
            <a:ext cx="765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Ключ</a:t>
            </a:r>
            <a:r>
              <a:rPr lang="en-US" dirty="0"/>
              <a:t>: 11 11 11 11 11 11 11 11 22 22 22 22 22 22 22 22 33 33 33 33 33 33 33 33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31B637-23F6-4E1C-B54D-81A8E1CA681B}"/>
              </a:ext>
            </a:extLst>
          </p:cNvPr>
          <p:cNvSpPr txBox="1"/>
          <p:nvPr/>
        </p:nvSpPr>
        <p:spPr>
          <a:xfrm>
            <a:off x="472690" y="1670101"/>
            <a:ext cx="3540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Шифровка </a:t>
            </a:r>
            <a:r>
              <a:rPr lang="en-US" dirty="0"/>
              <a:t>ASCII: `???P`?????;???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F6642F-A7B7-4DE5-85C1-36900A636861}"/>
              </a:ext>
            </a:extLst>
          </p:cNvPr>
          <p:cNvSpPr txBox="1"/>
          <p:nvPr/>
        </p:nvSpPr>
        <p:spPr>
          <a:xfrm>
            <a:off x="4422208" y="1670101"/>
            <a:ext cx="7297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Шифровка </a:t>
            </a:r>
            <a:r>
              <a:rPr lang="en-US" dirty="0"/>
              <a:t>hex: 60 D0 B8 F3 50 60 95 84 9D C2 FB 13 3B DF F7 DC 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1B9B7B0-6F12-4CCB-B91F-CFFE73376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738" y="2448146"/>
            <a:ext cx="8906523" cy="403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4577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583979-D724-4490-B684-67C3C8836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Магма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D5AAE65-AE1D-4147-A7F9-33E513662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32" y="2407255"/>
            <a:ext cx="10514880" cy="41846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12EA6D-5D04-4824-B15E-1C112E45D5E1}"/>
              </a:ext>
            </a:extLst>
          </p:cNvPr>
          <p:cNvSpPr txBox="1"/>
          <p:nvPr/>
        </p:nvSpPr>
        <p:spPr>
          <a:xfrm>
            <a:off x="718332" y="1595869"/>
            <a:ext cx="4298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Открытый текст</a:t>
            </a:r>
            <a:r>
              <a:rPr lang="en-US" dirty="0"/>
              <a:t>: </a:t>
            </a:r>
            <a:r>
              <a:rPr lang="ru-RU" dirty="0"/>
              <a:t>64 бита</a:t>
            </a:r>
            <a:r>
              <a:rPr lang="en-US" dirty="0"/>
              <a:t>; </a:t>
            </a:r>
            <a:r>
              <a:rPr lang="ru-RU" dirty="0"/>
              <a:t>Ключ</a:t>
            </a:r>
            <a:r>
              <a:rPr lang="en-US" dirty="0"/>
              <a:t>: 256 </a:t>
            </a:r>
            <a:r>
              <a:rPr lang="ru-RU" dirty="0"/>
              <a:t>битов</a:t>
            </a:r>
          </a:p>
        </p:txBody>
      </p:sp>
    </p:spTree>
    <p:extLst>
      <p:ext uri="{BB962C8B-B14F-4D97-AF65-F5344CB8AC3E}">
        <p14:creationId xmlns:p14="http://schemas.microsoft.com/office/powerpoint/2010/main" val="8380788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4DA64F6-3175-4220-AD5E-B0778A6F3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82" y="217609"/>
            <a:ext cx="2262187" cy="334803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80490D-0082-4EE5-929E-D3B7EDDFC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491" y="217609"/>
            <a:ext cx="2262187" cy="334803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D4EC83C-BF9F-4ED7-BCD2-74B304BFF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900" y="217609"/>
            <a:ext cx="2262187" cy="334803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B4907AC-6A19-4F47-8A91-F9F268F3D9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8609" y="217609"/>
            <a:ext cx="2076934" cy="334803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596A966-B6D9-412E-BA19-16F2F940C6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126" y="3826894"/>
            <a:ext cx="1688098" cy="281349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5D649B7-B36F-4561-BC8D-CC5B3748F0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1534" y="3696511"/>
            <a:ext cx="1688099" cy="294388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02F10AE-3394-423E-9D65-1432B523E4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0038" y="3730617"/>
            <a:ext cx="1801910" cy="300605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D01C604-B6C4-43A1-BDC4-3E6674F4B8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1876" y="3826894"/>
            <a:ext cx="1890399" cy="302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722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4898A-1844-466A-8AF7-FC8C0CB03D7D}"/>
              </a:ext>
            </a:extLst>
          </p:cNvPr>
          <p:cNvSpPr txBox="1"/>
          <p:nvPr/>
        </p:nvSpPr>
        <p:spPr>
          <a:xfrm>
            <a:off x="286258" y="572904"/>
            <a:ext cx="3963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Блок-схема алгоритма зашифрования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08DFBF8-8683-4649-BAF5-F80C3CEAF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793" y="275207"/>
            <a:ext cx="4799048" cy="649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3432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4898A-1844-466A-8AF7-FC8C0CB03D7D}"/>
              </a:ext>
            </a:extLst>
          </p:cNvPr>
          <p:cNvSpPr txBox="1"/>
          <p:nvPr/>
        </p:nvSpPr>
        <p:spPr>
          <a:xfrm>
            <a:off x="286258" y="572904"/>
            <a:ext cx="9996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Результаты расчёта дифференциальных характеристик одного из S-блоков (на примере </a:t>
            </a:r>
            <a:r>
              <a:rPr lang="en-US" dirty="0"/>
              <a:t>2</a:t>
            </a:r>
            <a:r>
              <a:rPr lang="ru-RU" dirty="0"/>
              <a:t>ого блока)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AE8B54-B643-4849-A1AA-11F368828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42" y="1271526"/>
            <a:ext cx="6848336" cy="311237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3906DFF-AB2A-40BF-8A50-94752A747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7444" y="1406679"/>
            <a:ext cx="4749554" cy="338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196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834E6-6ADE-4EFE-A027-F21489365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1EEAEB-7F9F-40AF-B59D-E82C41B4E2E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461575"/>
            <a:ext cx="10514880" cy="52321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800" dirty="0">
                <a:latin typeface="+mn-lt"/>
              </a:rPr>
              <a:t>В работе были получены следующие результаты</a:t>
            </a:r>
            <a:r>
              <a:rPr lang="en-US" sz="1800" dirty="0">
                <a:latin typeface="+mn-lt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1) </a:t>
            </a:r>
            <a:r>
              <a:rPr lang="ru-RU" sz="1800" dirty="0">
                <a:latin typeface="+mn-lt"/>
              </a:rPr>
              <a:t>Изучен шифр </a:t>
            </a:r>
            <a:r>
              <a:rPr lang="en-US" sz="1800" dirty="0">
                <a:latin typeface="+mn-lt"/>
              </a:rPr>
              <a:t>DES. </a:t>
            </a:r>
            <a:r>
              <a:rPr lang="ru-RU" sz="1800" dirty="0">
                <a:latin typeface="+mn-lt"/>
              </a:rPr>
              <a:t>Это блочный шифр, на вход которому подается открытый текст размера 64 бита и ключ размера 64 бит (56 бит + 8 битов четности). В начале из ключа получается 16 раундовых по 48 бит каждый. Каждый из этих ключей используется в одном из 16 раундов сети </a:t>
            </a:r>
            <a:r>
              <a:rPr lang="ru-RU" sz="1800" dirty="0" err="1">
                <a:latin typeface="+mn-lt"/>
              </a:rPr>
              <a:t>Фейстеля</a:t>
            </a:r>
            <a:r>
              <a:rPr lang="ru-RU" sz="1800" dirty="0">
                <a:latin typeface="+mn-lt"/>
              </a:rPr>
              <a:t>. По итогу после каждого раунда происходит преобразование над половинами блока</a:t>
            </a:r>
            <a:r>
              <a:rPr lang="en-US" sz="1800" dirty="0">
                <a:latin typeface="+mn-lt"/>
              </a:rPr>
              <a:t>: </a:t>
            </a:r>
            <a:r>
              <a:rPr lang="en-US" sz="1800" dirty="0" err="1">
                <a:latin typeface="+mn-lt"/>
              </a:rPr>
              <a:t>L_i</a:t>
            </a:r>
            <a:r>
              <a:rPr lang="en-US" sz="1800" dirty="0">
                <a:latin typeface="+mn-lt"/>
              </a:rPr>
              <a:t> = R_i-1, </a:t>
            </a:r>
            <a:r>
              <a:rPr lang="en-US" sz="1800" dirty="0" err="1">
                <a:latin typeface="+mn-lt"/>
              </a:rPr>
              <a:t>R_i</a:t>
            </a:r>
            <a:r>
              <a:rPr lang="en-US" sz="1800" dirty="0">
                <a:latin typeface="+mn-lt"/>
              </a:rPr>
              <a:t> = L_i-1 XOR f(R_i-1, </a:t>
            </a:r>
            <a:r>
              <a:rPr lang="en-US" sz="1800" dirty="0" err="1">
                <a:latin typeface="+mn-lt"/>
              </a:rPr>
              <a:t>K_i</a:t>
            </a:r>
            <a:r>
              <a:rPr lang="en-US" sz="1800" dirty="0">
                <a:latin typeface="+mn-lt"/>
              </a:rPr>
              <a:t>). </a:t>
            </a:r>
            <a:r>
              <a:rPr lang="ru-RU" sz="1800" dirty="0">
                <a:latin typeface="+mn-lt"/>
              </a:rPr>
              <a:t>Сложность взлома методом грубой силы</a:t>
            </a:r>
            <a:r>
              <a:rPr lang="en-US" sz="1800" dirty="0">
                <a:latin typeface="+mn-lt"/>
              </a:rPr>
              <a:t>: 2^56. </a:t>
            </a:r>
            <a:endParaRPr lang="ru-RU" sz="1800" dirty="0">
              <a:latin typeface="+mn-lt"/>
            </a:endParaRPr>
          </a:p>
          <a:p>
            <a:pPr marL="0" indent="0">
              <a:buNone/>
            </a:pPr>
            <a:r>
              <a:rPr lang="ru-RU" sz="1800" dirty="0">
                <a:latin typeface="+mn-lt"/>
              </a:rPr>
              <a:t>2) </a:t>
            </a:r>
            <a:r>
              <a:rPr lang="ru-RU" sz="1800" spc="-1" dirty="0">
                <a:solidFill>
                  <a:schemeClr val="dk1"/>
                </a:solidFill>
                <a:latin typeface="+mn-lt"/>
              </a:rPr>
              <a:t>Изучен упрощенный блочный шифр и атаку на него методом дифференциального анализа. Это атака основа на использовании выбранного открытого текста. Находятся разности блоков на входе ∆</a:t>
            </a:r>
            <a:r>
              <a:rPr lang="en-US" sz="1800" spc="-1" dirty="0">
                <a:solidFill>
                  <a:schemeClr val="dk1"/>
                </a:solidFill>
                <a:latin typeface="+mn-lt"/>
              </a:rPr>
              <a:t>X </a:t>
            </a:r>
            <a:r>
              <a:rPr lang="ru-RU" sz="1800" spc="-1" dirty="0">
                <a:solidFill>
                  <a:schemeClr val="dk1"/>
                </a:solidFill>
                <a:latin typeface="+mn-lt"/>
              </a:rPr>
              <a:t>и на выходе </a:t>
            </a:r>
            <a:r>
              <a:rPr lang="ru-RU" sz="1800" dirty="0">
                <a:latin typeface="+mn-lt"/>
              </a:rPr>
              <a:t>∆</a:t>
            </a:r>
            <a:r>
              <a:rPr lang="en-US" sz="1800" dirty="0">
                <a:latin typeface="+mn-lt"/>
              </a:rPr>
              <a:t>Y. </a:t>
            </a:r>
            <a:r>
              <a:rPr lang="ru-RU" sz="1800" dirty="0">
                <a:latin typeface="+mn-lt"/>
              </a:rPr>
              <a:t>Ищутся пары (ΔX, ΔY), которые встречаются заметно чаще других, из них строится дифференциальная характеристика, и по ней восстанавливаются биты ключа. Была написана программа, которая выводит таблицу </a:t>
            </a:r>
            <a:r>
              <a:rPr lang="en-US" sz="1800" dirty="0">
                <a:latin typeface="+mn-lt"/>
              </a:rPr>
              <a:t>DDT, </a:t>
            </a:r>
            <a:r>
              <a:rPr lang="ru-RU" sz="1800" dirty="0">
                <a:latin typeface="+mn-lt"/>
              </a:rPr>
              <a:t>показывающую, сколько раз встречается каждая пара (ΔX, ΔY).</a:t>
            </a:r>
          </a:p>
          <a:p>
            <a:pPr marL="0" indent="0">
              <a:buNone/>
            </a:pPr>
            <a:r>
              <a:rPr lang="ru-RU" sz="1800" dirty="0">
                <a:latin typeface="+mn-lt"/>
              </a:rPr>
              <a:t>3) Изучен шифр DES в режимах ECB и CBC. В режиме </a:t>
            </a:r>
            <a:r>
              <a:rPr lang="en-US" sz="1800" dirty="0">
                <a:latin typeface="+mn-lt"/>
              </a:rPr>
              <a:t>ECB </a:t>
            </a:r>
            <a:r>
              <a:rPr lang="ru-RU" sz="1800" dirty="0">
                <a:latin typeface="+mn-lt"/>
              </a:rPr>
              <a:t>независимо шифруется каждый блок в отдельности, используя один и тот же ключ.</a:t>
            </a:r>
            <a:r>
              <a:rPr lang="en-US" sz="1800" dirty="0">
                <a:latin typeface="+mn-lt"/>
              </a:rPr>
              <a:t> </a:t>
            </a:r>
            <a:r>
              <a:rPr lang="ru-RU" sz="1800" dirty="0">
                <a:latin typeface="+mn-lt"/>
              </a:rPr>
              <a:t>В режиме </a:t>
            </a:r>
            <a:r>
              <a:rPr lang="en-US" sz="1800" dirty="0">
                <a:latin typeface="+mn-lt"/>
              </a:rPr>
              <a:t>CBC </a:t>
            </a:r>
            <a:r>
              <a:rPr lang="ru-RU" sz="1800" dirty="0">
                <a:latin typeface="+mn-lt"/>
              </a:rPr>
              <a:t>следующий блок будет напрямую зависеть от предыдущего. В ECB на зашифрованной картинке проступают контуры букв, потому что одинаковые блоки дают одинаковый </a:t>
            </a:r>
            <a:r>
              <a:rPr lang="ru-RU" sz="1800" dirty="0" err="1">
                <a:latin typeface="+mn-lt"/>
              </a:rPr>
              <a:t>шифртекст</a:t>
            </a:r>
            <a:r>
              <a:rPr lang="ru-RU" sz="1800" dirty="0">
                <a:latin typeface="+mn-lt"/>
              </a:rPr>
              <a:t>, а в CBC не наблюдается визуальных закономерностей.</a:t>
            </a:r>
          </a:p>
          <a:p>
            <a:pPr marL="0" indent="0">
              <a:buNone/>
            </a:pPr>
            <a:r>
              <a:rPr lang="ru-RU" sz="1800" dirty="0">
                <a:latin typeface="+mn-lt"/>
              </a:rPr>
              <a:t>4) Изучен шифр 3</a:t>
            </a:r>
            <a:r>
              <a:rPr lang="en-US" sz="1800" dirty="0">
                <a:latin typeface="+mn-lt"/>
              </a:rPr>
              <a:t>DES</a:t>
            </a:r>
            <a:r>
              <a:rPr lang="ru-RU" sz="1800" dirty="0">
                <a:latin typeface="+mn-lt"/>
              </a:rPr>
              <a:t>. В данном шифре берется ключ размером 192</a:t>
            </a:r>
            <a:r>
              <a:rPr lang="en-US" sz="1800" dirty="0">
                <a:latin typeface="+mn-lt"/>
              </a:rPr>
              <a:t> </a:t>
            </a:r>
            <a:r>
              <a:rPr lang="ru-RU" sz="1800" dirty="0">
                <a:latin typeface="+mn-lt"/>
              </a:rPr>
              <a:t>бита (168 бит значимых) и разбивается на </a:t>
            </a:r>
            <a:r>
              <a:rPr lang="en-US" sz="1800" dirty="0">
                <a:latin typeface="+mn-lt"/>
              </a:rPr>
              <a:t>K1, K2, K3 </a:t>
            </a:r>
            <a:r>
              <a:rPr lang="ru-RU" sz="1800" dirty="0">
                <a:latin typeface="+mn-lt"/>
              </a:rPr>
              <a:t>по 64 бита. Открытый текст проходит следующие этапы</a:t>
            </a:r>
            <a:r>
              <a:rPr lang="en-US" sz="1800" dirty="0">
                <a:latin typeface="+mn-lt"/>
              </a:rPr>
              <a:t>: </a:t>
            </a:r>
            <a:r>
              <a:rPr lang="ru-RU" sz="1800" dirty="0">
                <a:latin typeface="+mn-lt"/>
              </a:rPr>
              <a:t>зашифрование с ключом </a:t>
            </a:r>
            <a:r>
              <a:rPr lang="en-US" sz="1800" dirty="0">
                <a:latin typeface="+mn-lt"/>
              </a:rPr>
              <a:t>K1, </a:t>
            </a:r>
            <a:r>
              <a:rPr lang="ru-RU" sz="1800" dirty="0">
                <a:latin typeface="+mn-lt"/>
              </a:rPr>
              <a:t>расшифрование с ключом </a:t>
            </a:r>
            <a:r>
              <a:rPr lang="en-US" sz="1800" dirty="0">
                <a:latin typeface="+mn-lt"/>
              </a:rPr>
              <a:t>K2, </a:t>
            </a:r>
            <a:r>
              <a:rPr lang="ru-RU" sz="1800" dirty="0">
                <a:latin typeface="+mn-lt"/>
              </a:rPr>
              <a:t>зашифрование с ключом </a:t>
            </a:r>
            <a:r>
              <a:rPr lang="en-US" sz="1800" dirty="0">
                <a:latin typeface="+mn-lt"/>
              </a:rPr>
              <a:t>K3. </a:t>
            </a:r>
            <a:r>
              <a:rPr lang="ru-RU" sz="1800" dirty="0">
                <a:latin typeface="+mn-lt"/>
              </a:rPr>
              <a:t>Сложность атаки методом </a:t>
            </a:r>
            <a:r>
              <a:rPr lang="en-US" sz="1800" dirty="0">
                <a:latin typeface="+mn-lt"/>
              </a:rPr>
              <a:t>“</a:t>
            </a:r>
            <a:r>
              <a:rPr lang="ru-RU" sz="1800" dirty="0">
                <a:latin typeface="+mn-lt"/>
              </a:rPr>
              <a:t>встреча посередине</a:t>
            </a:r>
            <a:r>
              <a:rPr lang="en-US" sz="1800" dirty="0">
                <a:latin typeface="+mn-lt"/>
              </a:rPr>
              <a:t>”: 2^112</a:t>
            </a: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5) </a:t>
            </a:r>
            <a:r>
              <a:rPr lang="ru-RU" sz="1800" dirty="0">
                <a:latin typeface="+mn-lt"/>
              </a:rPr>
              <a:t>Изучен шифр Магма. По сравнению с </a:t>
            </a:r>
            <a:r>
              <a:rPr lang="en-US" sz="1800" dirty="0">
                <a:latin typeface="+mn-lt"/>
              </a:rPr>
              <a:t>DES </a:t>
            </a:r>
            <a:r>
              <a:rPr lang="ru-RU" sz="1800" dirty="0">
                <a:latin typeface="+mn-lt"/>
              </a:rPr>
              <a:t>в данном шифре более простой алгоритм генерации раундовых ключей, также он является более стойким, так как имеет более длинный ключ (256 </a:t>
            </a:r>
            <a:r>
              <a:rPr lang="en-US" sz="1800" dirty="0">
                <a:latin typeface="+mn-lt"/>
              </a:rPr>
              <a:t>&gt; </a:t>
            </a:r>
            <a:r>
              <a:rPr lang="ru-RU" sz="1800" dirty="0">
                <a:latin typeface="+mn-lt"/>
              </a:rPr>
              <a:t>56)</a:t>
            </a:r>
            <a:r>
              <a:rPr lang="en-US" sz="1800" dirty="0">
                <a:latin typeface="+mn-lt"/>
              </a:rPr>
              <a:t> </a:t>
            </a:r>
            <a:r>
              <a:rPr lang="ru-RU" sz="1800" dirty="0">
                <a:latin typeface="+mn-lt"/>
              </a:rPr>
              <a:t>и большее количество раундов (32 </a:t>
            </a:r>
            <a:r>
              <a:rPr lang="en-US" sz="1800" dirty="0">
                <a:latin typeface="+mn-lt"/>
              </a:rPr>
              <a:t>&gt; 16</a:t>
            </a:r>
            <a:r>
              <a:rPr lang="ru-RU" sz="1800" dirty="0">
                <a:latin typeface="+mn-lt"/>
              </a:rPr>
              <a:t>)</a:t>
            </a:r>
            <a:r>
              <a:rPr lang="en-US" sz="1800" dirty="0">
                <a:latin typeface="+mn-lt"/>
              </a:rPr>
              <a:t>.</a:t>
            </a:r>
            <a:endParaRPr lang="ru-RU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335435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1546</TotalTime>
  <Words>844</Words>
  <Application>Microsoft Office PowerPoint</Application>
  <PresentationFormat>Широкоэкранный</PresentationFormat>
  <Paragraphs>70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DES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Упрощенный блочный шифр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DES в режиме ECB</vt:lpstr>
      <vt:lpstr>Презентация PowerPoint</vt:lpstr>
      <vt:lpstr>Презентация PowerPoint</vt:lpstr>
      <vt:lpstr>Презентация PowerPoint</vt:lpstr>
      <vt:lpstr>DES в режиме CBC</vt:lpstr>
      <vt:lpstr>Презентация PowerPoint</vt:lpstr>
      <vt:lpstr>Презентация PowerPoint</vt:lpstr>
      <vt:lpstr>Презентация PowerPoint</vt:lpstr>
      <vt:lpstr>3-DES</vt:lpstr>
      <vt:lpstr>Презентация PowerPoint</vt:lpstr>
      <vt:lpstr>Магма</vt:lpstr>
      <vt:lpstr>Презентация PowerPoint</vt:lpstr>
      <vt:lpstr>Презентация PowerPoint</vt:lpstr>
      <vt:lpstr>Презентация PowerPoint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Danila Ivanov</dc:creator>
  <cp:lastModifiedBy>Danila Ivanov</cp:lastModifiedBy>
  <cp:revision>42</cp:revision>
  <dcterms:created xsi:type="dcterms:W3CDTF">2026-10-10T09:59:32Z</dcterms:created>
  <dcterms:modified xsi:type="dcterms:W3CDTF">2026-10-12T20:22:25Z</dcterms:modified>
</cp:coreProperties>
</file>