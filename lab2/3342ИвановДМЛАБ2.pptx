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19.png" ContentType="image/png"/>
  <Override PartName="/ppt/media/image61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24.png" ContentType="image/png"/>
  <Override PartName="/ppt/media/image25.png" ContentType="image/png"/>
  <Override PartName="/ppt/media/image62.png" ContentType="image/png"/>
  <Override PartName="/ppt/media/image75.png" ContentType="image/png"/>
  <Override PartName="/ppt/media/image26.png" ContentType="image/png"/>
  <Override PartName="/ppt/media/image63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29.png" ContentType="image/png"/>
  <Override PartName="/ppt/media/image69.png" ContentType="image/png"/>
  <Override PartName="/ppt/media/image70.png" ContentType="image/png"/>
  <Override PartName="/ppt/media/image28.png" ContentType="image/png"/>
  <Override PartName="/ppt/media/image68.png" ContentType="image/png"/>
  <Override PartName="/ppt/media/image67.png" ContentType="image/png"/>
  <Override PartName="/ppt/media/image30.png" ContentType="image/png"/>
  <Override PartName="/ppt/media/image66.png" ContentType="image/png"/>
  <Override PartName="/ppt/media/image65.png" ContentType="image/png"/>
  <Override PartName="/ppt/media/image27.png" ContentType="image/png"/>
  <Override PartName="/ppt/media/image64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33.png" ContentType="image/png"/>
  <Override PartName="/ppt/media/image1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34.png" ContentType="image/png"/>
  <Override PartName="/ppt/media/image2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12.png" ContentType="image/png"/>
  <Override PartName="/ppt/media/image49.png" ContentType="image/png"/>
  <Override PartName="/ppt/media/image20.png" ContentType="image/png"/>
  <Override PartName="/ppt/media/image57.png" ContentType="image/png"/>
  <Override PartName="/ppt/media/image18.png" ContentType="image/png"/>
  <Override PartName="/ppt/media/image9.png" ContentType="image/png"/>
  <Override PartName="/ppt/media/image36.png" ContentType="image/png"/>
  <Override PartName="/ppt/media/image4.png" ContentType="image/png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516664-1427-4569-B0B2-9CCF52276D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EFBAA1-182B-448E-A004-D5BE48863F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77F750D-82E6-4CEC-88A9-0515C4AC65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C098134-C159-4D99-BAA7-A826D92646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6EC7FF2-A158-4321-94CB-B2925B3EA9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0C9ED1C-A543-43BA-81B3-26EC217CFB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CE85EF5-D866-4D6E-8C23-F85B21857B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511F493-1A07-4DA6-9CCF-E40B646E5C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BE4434B-8299-4F81-83AE-B6AEBCD68E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4A6C309-AF66-4684-99CB-CCF56DC738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9131C05-12F0-4471-A202-2E8843430B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981CF78-17F2-4989-8D4A-5C27C5EDCA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9184BF9D-B76A-4C2B-9B66-6FDDEEBA36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2F98AC-50ED-4A24-8560-3BC1B4BED85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21AB1-8095-4B0D-85F7-A762A2B4758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28BC26-063B-48F3-A181-97034295F0A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96FA19-E494-4C3D-BFDD-02F4BA64CAE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&lt;нижний колонтитул&gt;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B2CE88-0880-4BCD-A735-C6CAEEE8507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DADF45-DCFA-4D86-ACCC-4E4E361AC32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9181E0-76D8-4FF6-8320-A8544120344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7F55A-F3C4-4801-9D13-79215B55349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DFD463-B021-4BB2-B66B-9F9E2EDD6B9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51C432-92F4-4A5E-96E6-8A12059B975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23A189-88CB-4838-A8C1-EBCCBB6AB0F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761D52-008E-47FA-AC53-74A633D2130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BA137F-CC9F-43C1-9750-F8B19715DF1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slideLayout" Target="../slideLayouts/slideLayout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75.png"/><Relationship Id="rId3" Type="http://schemas.openxmlformats.org/officeDocument/2006/relationships/slideLayout" Target="../slideLayouts/slideLayout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ubTitle"/>
          </p:nvPr>
        </p:nvSpPr>
        <p:spPr>
          <a:xfrm>
            <a:off x="1920960" y="3573720"/>
            <a:ext cx="9419040" cy="21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Студент: _______________ Иванов Данила , группа 3342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2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Руководитель:___________ Племянников А.К., доцент каф. ИБ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1523880" y="343080"/>
            <a:ext cx="9142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Санкт-Петербургский государственный электротехнический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университет «ЛЭТИ» им. В.И. Ульянова (Ленина)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1523880" y="1731240"/>
            <a:ext cx="914292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Лабораторная №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2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i="1" lang="ru-RU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i="1" lang="ru-RU" sz="2800" spc="-1" strike="noStrike">
                <a:solidFill>
                  <a:schemeClr val="dk1"/>
                </a:solidFill>
                <a:latin typeface="Calibri"/>
              </a:rPr>
              <a:t>Изучение шифров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 DES, 3DES </a:t>
            </a:r>
            <a:r>
              <a:rPr b="0" i="1" lang="ru-RU" sz="2800" spc="-1" strike="noStrike">
                <a:solidFill>
                  <a:schemeClr val="dk1"/>
                </a:solidFill>
                <a:latin typeface="Calibri"/>
              </a:rPr>
              <a:t>и Магма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 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1523880" y="5868720"/>
            <a:ext cx="9142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Сант-Петербург 2026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838080" y="582840"/>
            <a:ext cx="10514520" cy="591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Цель.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 Повышение компетентности в области зашифрования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расшифрования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и проведении атак блочных шифров с помощью таких шифров, как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DES, 3DES,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Магма.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Для достижения поставленной цели предстояло решить следующие основные задачи: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1)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DES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2) Изучить упрощенный блочный шифр и атаку на него методом дифференциального анализа 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3)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DES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 режимах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ECB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и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CBC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4)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3DES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5) Изучить шифр Магма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DES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5" name="Рисунок 3" descr=""/>
          <p:cNvPicPr/>
          <p:nvPr/>
        </p:nvPicPr>
        <p:blipFill>
          <a:blip r:embed="rId1"/>
          <a:stretch/>
        </p:blipFill>
        <p:spPr>
          <a:xfrm>
            <a:off x="1744920" y="2175120"/>
            <a:ext cx="8701200" cy="4521600"/>
          </a:xfrm>
          <a:prstGeom prst="rect">
            <a:avLst/>
          </a:prstGeom>
          <a:ln w="0">
            <a:noFill/>
          </a:ln>
        </p:spPr>
      </p:pic>
      <p:sp>
        <p:nvSpPr>
          <p:cNvPr id="86" name="TextBox 4"/>
          <p:cNvSpPr/>
          <p:nvPr/>
        </p:nvSpPr>
        <p:spPr>
          <a:xfrm>
            <a:off x="452160" y="1563120"/>
            <a:ext cx="660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открытый текст (64 бит) + ключ (64 бит)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4"/>
          <p:cNvSpPr/>
          <p:nvPr/>
        </p:nvSpPr>
        <p:spPr>
          <a:xfrm>
            <a:off x="55800" y="572760"/>
            <a:ext cx="374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Полученные раундовые ключи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Рисунок 6" descr=""/>
          <p:cNvPicPr/>
          <p:nvPr/>
        </p:nvPicPr>
        <p:blipFill>
          <a:blip r:embed="rId1"/>
          <a:stretch/>
        </p:blipFill>
        <p:spPr>
          <a:xfrm>
            <a:off x="2867040" y="1620000"/>
            <a:ext cx="6457680" cy="333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4"/>
          <p:cNvSpPr/>
          <p:nvPr/>
        </p:nvSpPr>
        <p:spPr>
          <a:xfrm>
            <a:off x="162000" y="572760"/>
            <a:ext cx="206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IP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перестановка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Рисунок 1" descr=""/>
          <p:cNvPicPr/>
          <p:nvPr/>
        </p:nvPicPr>
        <p:blipFill>
          <a:blip r:embed="rId1"/>
          <a:stretch/>
        </p:blipFill>
        <p:spPr>
          <a:xfrm>
            <a:off x="2762280" y="1576080"/>
            <a:ext cx="6667200" cy="345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4"/>
          <p:cNvSpPr/>
          <p:nvPr/>
        </p:nvSpPr>
        <p:spPr>
          <a:xfrm>
            <a:off x="217080" y="572760"/>
            <a:ext cx="1491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1-ый раунд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Рисунок 2" descr=""/>
          <p:cNvPicPr/>
          <p:nvPr/>
        </p:nvPicPr>
        <p:blipFill>
          <a:blip r:embed="rId1"/>
          <a:stretch/>
        </p:blipFill>
        <p:spPr>
          <a:xfrm>
            <a:off x="1639800" y="301320"/>
            <a:ext cx="3791160" cy="2001240"/>
          </a:xfrm>
          <a:prstGeom prst="rect">
            <a:avLst/>
          </a:prstGeom>
          <a:ln w="0">
            <a:noFill/>
          </a:ln>
        </p:spPr>
      </p:pic>
      <p:pic>
        <p:nvPicPr>
          <p:cNvPr id="93" name="Рисунок 3" descr=""/>
          <p:cNvPicPr/>
          <p:nvPr/>
        </p:nvPicPr>
        <p:blipFill>
          <a:blip r:embed="rId2"/>
          <a:stretch/>
        </p:blipFill>
        <p:spPr>
          <a:xfrm>
            <a:off x="7094160" y="339120"/>
            <a:ext cx="3365280" cy="1700280"/>
          </a:xfrm>
          <a:prstGeom prst="rect">
            <a:avLst/>
          </a:prstGeom>
          <a:ln w="0">
            <a:noFill/>
          </a:ln>
        </p:spPr>
      </p:pic>
      <p:pic>
        <p:nvPicPr>
          <p:cNvPr id="94" name="Рисунок 5" descr=""/>
          <p:cNvPicPr/>
          <p:nvPr/>
        </p:nvPicPr>
        <p:blipFill>
          <a:blip r:embed="rId3"/>
          <a:stretch/>
        </p:blipFill>
        <p:spPr>
          <a:xfrm>
            <a:off x="9712080" y="2208240"/>
            <a:ext cx="2298600" cy="1384200"/>
          </a:xfrm>
          <a:prstGeom prst="rect">
            <a:avLst/>
          </a:prstGeom>
          <a:ln w="0">
            <a:noFill/>
          </a:ln>
        </p:spPr>
      </p:pic>
      <p:pic>
        <p:nvPicPr>
          <p:cNvPr id="95" name="Рисунок 6" descr=""/>
          <p:cNvPicPr/>
          <p:nvPr/>
        </p:nvPicPr>
        <p:blipFill>
          <a:blip r:embed="rId4"/>
          <a:stretch/>
        </p:blipFill>
        <p:spPr>
          <a:xfrm>
            <a:off x="6709680" y="2617920"/>
            <a:ext cx="2584800" cy="974160"/>
          </a:xfrm>
          <a:prstGeom prst="rect">
            <a:avLst/>
          </a:prstGeom>
          <a:ln w="0">
            <a:noFill/>
          </a:ln>
        </p:spPr>
      </p:pic>
      <p:pic>
        <p:nvPicPr>
          <p:cNvPr id="96" name="Рисунок 7" descr=""/>
          <p:cNvPicPr/>
          <p:nvPr/>
        </p:nvPicPr>
        <p:blipFill>
          <a:blip r:embed="rId5"/>
          <a:stretch/>
        </p:blipFill>
        <p:spPr>
          <a:xfrm>
            <a:off x="3420000" y="2360520"/>
            <a:ext cx="2584800" cy="1302840"/>
          </a:xfrm>
          <a:prstGeom prst="rect">
            <a:avLst/>
          </a:prstGeom>
          <a:ln w="0">
            <a:noFill/>
          </a:ln>
        </p:spPr>
      </p:pic>
      <p:pic>
        <p:nvPicPr>
          <p:cNvPr id="97" name="Рисунок 8" descr=""/>
          <p:cNvPicPr/>
          <p:nvPr/>
        </p:nvPicPr>
        <p:blipFill>
          <a:blip r:embed="rId6"/>
          <a:stretch/>
        </p:blipFill>
        <p:spPr>
          <a:xfrm>
            <a:off x="627840" y="2353320"/>
            <a:ext cx="2298600" cy="1411200"/>
          </a:xfrm>
          <a:prstGeom prst="rect">
            <a:avLst/>
          </a:prstGeom>
          <a:ln w="0">
            <a:noFill/>
          </a:ln>
        </p:spPr>
      </p:pic>
      <p:pic>
        <p:nvPicPr>
          <p:cNvPr id="98" name="Рисунок 9" descr=""/>
          <p:cNvPicPr/>
          <p:nvPr/>
        </p:nvPicPr>
        <p:blipFill>
          <a:blip r:embed="rId7"/>
          <a:stretch/>
        </p:blipFill>
        <p:spPr>
          <a:xfrm>
            <a:off x="873720" y="4146480"/>
            <a:ext cx="4557600" cy="2001240"/>
          </a:xfrm>
          <a:prstGeom prst="rect">
            <a:avLst/>
          </a:prstGeom>
          <a:ln w="0">
            <a:noFill/>
          </a:ln>
        </p:spPr>
      </p:pic>
      <p:pic>
        <p:nvPicPr>
          <p:cNvPr id="99" name="Рисунок 10" descr=""/>
          <p:cNvPicPr/>
          <p:nvPr/>
        </p:nvPicPr>
        <p:blipFill>
          <a:blip r:embed="rId8"/>
          <a:stretch/>
        </p:blipFill>
        <p:spPr>
          <a:xfrm>
            <a:off x="6471360" y="4146480"/>
            <a:ext cx="4389840" cy="237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4"/>
          <p:cNvSpPr/>
          <p:nvPr/>
        </p:nvSpPr>
        <p:spPr>
          <a:xfrm>
            <a:off x="220680" y="572760"/>
            <a:ext cx="1452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2-ой раунд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Рисунок 11" descr=""/>
          <p:cNvPicPr/>
          <p:nvPr/>
        </p:nvPicPr>
        <p:blipFill>
          <a:blip r:embed="rId1"/>
          <a:stretch/>
        </p:blipFill>
        <p:spPr>
          <a:xfrm>
            <a:off x="1933920" y="210600"/>
            <a:ext cx="3685320" cy="1956960"/>
          </a:xfrm>
          <a:prstGeom prst="rect">
            <a:avLst/>
          </a:prstGeom>
          <a:ln w="0">
            <a:noFill/>
          </a:ln>
        </p:spPr>
      </p:pic>
      <p:pic>
        <p:nvPicPr>
          <p:cNvPr id="102" name="Рисунок 12" descr=""/>
          <p:cNvPicPr/>
          <p:nvPr/>
        </p:nvPicPr>
        <p:blipFill>
          <a:blip r:embed="rId2"/>
          <a:stretch/>
        </p:blipFill>
        <p:spPr>
          <a:xfrm>
            <a:off x="6912000" y="210600"/>
            <a:ext cx="3609720" cy="1909080"/>
          </a:xfrm>
          <a:prstGeom prst="rect">
            <a:avLst/>
          </a:prstGeom>
          <a:ln w="0">
            <a:noFill/>
          </a:ln>
        </p:spPr>
      </p:pic>
      <p:pic>
        <p:nvPicPr>
          <p:cNvPr id="103" name="Рисунок 13" descr=""/>
          <p:cNvPicPr/>
          <p:nvPr/>
        </p:nvPicPr>
        <p:blipFill>
          <a:blip r:embed="rId3"/>
          <a:stretch/>
        </p:blipFill>
        <p:spPr>
          <a:xfrm>
            <a:off x="9862560" y="2202840"/>
            <a:ext cx="2298600" cy="1418760"/>
          </a:xfrm>
          <a:prstGeom prst="rect">
            <a:avLst/>
          </a:prstGeom>
          <a:ln w="0">
            <a:noFill/>
          </a:ln>
        </p:spPr>
      </p:pic>
      <p:pic>
        <p:nvPicPr>
          <p:cNvPr id="104" name="Рисунок 14" descr=""/>
          <p:cNvPicPr/>
          <p:nvPr/>
        </p:nvPicPr>
        <p:blipFill>
          <a:blip r:embed="rId4"/>
          <a:stretch/>
        </p:blipFill>
        <p:spPr>
          <a:xfrm>
            <a:off x="6730200" y="2624040"/>
            <a:ext cx="2745360" cy="1071720"/>
          </a:xfrm>
          <a:prstGeom prst="rect">
            <a:avLst/>
          </a:prstGeom>
          <a:ln w="0">
            <a:noFill/>
          </a:ln>
        </p:spPr>
      </p:pic>
      <p:pic>
        <p:nvPicPr>
          <p:cNvPr id="105" name="Рисунок 15" descr=""/>
          <p:cNvPicPr/>
          <p:nvPr/>
        </p:nvPicPr>
        <p:blipFill>
          <a:blip r:embed="rId5"/>
          <a:stretch/>
        </p:blipFill>
        <p:spPr>
          <a:xfrm>
            <a:off x="3595320" y="2644920"/>
            <a:ext cx="2568240" cy="1050840"/>
          </a:xfrm>
          <a:prstGeom prst="rect">
            <a:avLst/>
          </a:prstGeom>
          <a:ln w="0">
            <a:noFill/>
          </a:ln>
        </p:spPr>
      </p:pic>
      <p:pic>
        <p:nvPicPr>
          <p:cNvPr id="106" name="Рисунок 16" descr=""/>
          <p:cNvPicPr/>
          <p:nvPr/>
        </p:nvPicPr>
        <p:blipFill>
          <a:blip r:embed="rId6"/>
          <a:stretch/>
        </p:blipFill>
        <p:spPr>
          <a:xfrm>
            <a:off x="658800" y="2502000"/>
            <a:ext cx="2298600" cy="1475280"/>
          </a:xfrm>
          <a:prstGeom prst="rect">
            <a:avLst/>
          </a:prstGeom>
          <a:ln w="0">
            <a:noFill/>
          </a:ln>
        </p:spPr>
      </p:pic>
      <p:pic>
        <p:nvPicPr>
          <p:cNvPr id="107" name="Рисунок 17" descr=""/>
          <p:cNvPicPr/>
          <p:nvPr/>
        </p:nvPicPr>
        <p:blipFill>
          <a:blip r:embed="rId7"/>
          <a:stretch/>
        </p:blipFill>
        <p:spPr>
          <a:xfrm>
            <a:off x="1002600" y="4232520"/>
            <a:ext cx="4906440" cy="1956960"/>
          </a:xfrm>
          <a:prstGeom prst="rect">
            <a:avLst/>
          </a:prstGeom>
          <a:ln w="0">
            <a:noFill/>
          </a:ln>
        </p:spPr>
      </p:pic>
      <p:pic>
        <p:nvPicPr>
          <p:cNvPr id="108" name="Рисунок 18" descr=""/>
          <p:cNvPicPr/>
          <p:nvPr/>
        </p:nvPicPr>
        <p:blipFill>
          <a:blip r:embed="rId8"/>
          <a:stretch/>
        </p:blipFill>
        <p:spPr>
          <a:xfrm>
            <a:off x="7016400" y="4068360"/>
            <a:ext cx="4044960" cy="217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4"/>
          <p:cNvSpPr/>
          <p:nvPr/>
        </p:nvSpPr>
        <p:spPr>
          <a:xfrm>
            <a:off x="217800" y="572760"/>
            <a:ext cx="1461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3-ий раунд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Рисунок 1" descr=""/>
          <p:cNvPicPr/>
          <p:nvPr/>
        </p:nvPicPr>
        <p:blipFill>
          <a:blip r:embed="rId1"/>
          <a:stretch/>
        </p:blipFill>
        <p:spPr>
          <a:xfrm>
            <a:off x="2004120" y="320400"/>
            <a:ext cx="3824640" cy="1974240"/>
          </a:xfrm>
          <a:prstGeom prst="rect">
            <a:avLst/>
          </a:prstGeom>
          <a:ln w="0">
            <a:noFill/>
          </a:ln>
        </p:spPr>
      </p:pic>
      <p:pic>
        <p:nvPicPr>
          <p:cNvPr id="111" name="Рисунок 2" descr=""/>
          <p:cNvPicPr/>
          <p:nvPr/>
        </p:nvPicPr>
        <p:blipFill>
          <a:blip r:embed="rId2"/>
          <a:stretch/>
        </p:blipFill>
        <p:spPr>
          <a:xfrm>
            <a:off x="7014240" y="330120"/>
            <a:ext cx="3386880" cy="1791720"/>
          </a:xfrm>
          <a:prstGeom prst="rect">
            <a:avLst/>
          </a:prstGeom>
          <a:ln w="0">
            <a:noFill/>
          </a:ln>
        </p:spPr>
      </p:pic>
      <p:pic>
        <p:nvPicPr>
          <p:cNvPr id="112" name="Рисунок 3" descr=""/>
          <p:cNvPicPr/>
          <p:nvPr/>
        </p:nvPicPr>
        <p:blipFill>
          <a:blip r:embed="rId3"/>
          <a:stretch/>
        </p:blipFill>
        <p:spPr>
          <a:xfrm>
            <a:off x="9564840" y="2286720"/>
            <a:ext cx="2314080" cy="1302120"/>
          </a:xfrm>
          <a:prstGeom prst="rect">
            <a:avLst/>
          </a:prstGeom>
          <a:ln w="0">
            <a:noFill/>
          </a:ln>
        </p:spPr>
      </p:pic>
      <p:pic>
        <p:nvPicPr>
          <p:cNvPr id="113" name="Рисунок 5" descr=""/>
          <p:cNvPicPr/>
          <p:nvPr/>
        </p:nvPicPr>
        <p:blipFill>
          <a:blip r:embed="rId4"/>
          <a:stretch/>
        </p:blipFill>
        <p:spPr>
          <a:xfrm>
            <a:off x="6386040" y="2652840"/>
            <a:ext cx="2568240" cy="935640"/>
          </a:xfrm>
          <a:prstGeom prst="rect">
            <a:avLst/>
          </a:prstGeom>
          <a:ln w="0">
            <a:noFill/>
          </a:ln>
        </p:spPr>
      </p:pic>
      <p:pic>
        <p:nvPicPr>
          <p:cNvPr id="114" name="Рисунок 6" descr=""/>
          <p:cNvPicPr/>
          <p:nvPr/>
        </p:nvPicPr>
        <p:blipFill>
          <a:blip r:embed="rId5"/>
          <a:stretch/>
        </p:blipFill>
        <p:spPr>
          <a:xfrm>
            <a:off x="3174120" y="2392560"/>
            <a:ext cx="2850480" cy="1429560"/>
          </a:xfrm>
          <a:prstGeom prst="rect">
            <a:avLst/>
          </a:prstGeom>
          <a:ln w="0">
            <a:noFill/>
          </a:ln>
        </p:spPr>
      </p:pic>
      <p:pic>
        <p:nvPicPr>
          <p:cNvPr id="115" name="Рисунок 7" descr=""/>
          <p:cNvPicPr/>
          <p:nvPr/>
        </p:nvPicPr>
        <p:blipFill>
          <a:blip r:embed="rId6"/>
          <a:stretch/>
        </p:blipFill>
        <p:spPr>
          <a:xfrm>
            <a:off x="317520" y="2448360"/>
            <a:ext cx="2495160" cy="1585800"/>
          </a:xfrm>
          <a:prstGeom prst="rect">
            <a:avLst/>
          </a:prstGeom>
          <a:ln w="0">
            <a:noFill/>
          </a:ln>
        </p:spPr>
      </p:pic>
      <p:pic>
        <p:nvPicPr>
          <p:cNvPr id="116" name="Рисунок 8" descr=""/>
          <p:cNvPicPr/>
          <p:nvPr/>
        </p:nvPicPr>
        <p:blipFill>
          <a:blip r:embed="rId7"/>
          <a:stretch/>
        </p:blipFill>
        <p:spPr>
          <a:xfrm>
            <a:off x="948600" y="4187520"/>
            <a:ext cx="5447880" cy="2161800"/>
          </a:xfrm>
          <a:prstGeom prst="rect">
            <a:avLst/>
          </a:prstGeom>
          <a:ln w="0">
            <a:noFill/>
          </a:ln>
        </p:spPr>
      </p:pic>
      <p:pic>
        <p:nvPicPr>
          <p:cNvPr id="117" name="Рисунок 9" descr=""/>
          <p:cNvPicPr/>
          <p:nvPr/>
        </p:nvPicPr>
        <p:blipFill>
          <a:blip r:embed="rId8"/>
          <a:stretch/>
        </p:blipFill>
        <p:spPr>
          <a:xfrm>
            <a:off x="6838200" y="4034520"/>
            <a:ext cx="4404600" cy="225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4"/>
          <p:cNvSpPr/>
          <p:nvPr/>
        </p:nvSpPr>
        <p:spPr>
          <a:xfrm>
            <a:off x="217080" y="572760"/>
            <a:ext cx="1491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4-ый раунд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Рисунок 10" descr=""/>
          <p:cNvPicPr/>
          <p:nvPr/>
        </p:nvPicPr>
        <p:blipFill>
          <a:blip r:embed="rId1"/>
          <a:stretch/>
        </p:blipFill>
        <p:spPr>
          <a:xfrm>
            <a:off x="1964520" y="250560"/>
            <a:ext cx="3637080" cy="1896840"/>
          </a:xfrm>
          <a:prstGeom prst="rect">
            <a:avLst/>
          </a:prstGeom>
          <a:ln w="0">
            <a:noFill/>
          </a:ln>
        </p:spPr>
      </p:pic>
      <p:pic>
        <p:nvPicPr>
          <p:cNvPr id="120" name="Рисунок 11" descr=""/>
          <p:cNvPicPr/>
          <p:nvPr/>
        </p:nvPicPr>
        <p:blipFill>
          <a:blip r:embed="rId2"/>
          <a:stretch/>
        </p:blipFill>
        <p:spPr>
          <a:xfrm>
            <a:off x="6838200" y="368280"/>
            <a:ext cx="3537360" cy="1833480"/>
          </a:xfrm>
          <a:prstGeom prst="rect">
            <a:avLst/>
          </a:prstGeom>
          <a:ln w="0">
            <a:noFill/>
          </a:ln>
        </p:spPr>
      </p:pic>
      <p:pic>
        <p:nvPicPr>
          <p:cNvPr id="121" name="Рисунок 12" descr=""/>
          <p:cNvPicPr/>
          <p:nvPr/>
        </p:nvPicPr>
        <p:blipFill>
          <a:blip r:embed="rId3"/>
          <a:stretch/>
        </p:blipFill>
        <p:spPr>
          <a:xfrm>
            <a:off x="9435960" y="2392560"/>
            <a:ext cx="2375280" cy="1437480"/>
          </a:xfrm>
          <a:prstGeom prst="rect">
            <a:avLst/>
          </a:prstGeom>
          <a:ln w="0">
            <a:noFill/>
          </a:ln>
        </p:spPr>
      </p:pic>
      <p:pic>
        <p:nvPicPr>
          <p:cNvPr id="122" name="Рисунок 13" descr=""/>
          <p:cNvPicPr/>
          <p:nvPr/>
        </p:nvPicPr>
        <p:blipFill>
          <a:blip r:embed="rId4"/>
          <a:stretch/>
        </p:blipFill>
        <p:spPr>
          <a:xfrm>
            <a:off x="6131880" y="2670480"/>
            <a:ext cx="3303720" cy="1237320"/>
          </a:xfrm>
          <a:prstGeom prst="rect">
            <a:avLst/>
          </a:prstGeom>
          <a:ln w="0">
            <a:noFill/>
          </a:ln>
        </p:spPr>
      </p:pic>
      <p:pic>
        <p:nvPicPr>
          <p:cNvPr id="123" name="Рисунок 14" descr=""/>
          <p:cNvPicPr/>
          <p:nvPr/>
        </p:nvPicPr>
        <p:blipFill>
          <a:blip r:embed="rId5"/>
          <a:stretch/>
        </p:blipFill>
        <p:spPr>
          <a:xfrm>
            <a:off x="3067200" y="2443320"/>
            <a:ext cx="2992680" cy="1518480"/>
          </a:xfrm>
          <a:prstGeom prst="rect">
            <a:avLst/>
          </a:prstGeom>
          <a:ln w="0">
            <a:noFill/>
          </a:ln>
        </p:spPr>
      </p:pic>
      <p:pic>
        <p:nvPicPr>
          <p:cNvPr id="124" name="Рисунок 15" descr=""/>
          <p:cNvPicPr/>
          <p:nvPr/>
        </p:nvPicPr>
        <p:blipFill>
          <a:blip r:embed="rId6"/>
          <a:stretch/>
        </p:blipFill>
        <p:spPr>
          <a:xfrm>
            <a:off x="270360" y="2370960"/>
            <a:ext cx="2724480" cy="1590840"/>
          </a:xfrm>
          <a:prstGeom prst="rect">
            <a:avLst/>
          </a:prstGeom>
          <a:ln w="0">
            <a:noFill/>
          </a:ln>
        </p:spPr>
      </p:pic>
      <p:pic>
        <p:nvPicPr>
          <p:cNvPr id="125" name="Рисунок 16" descr=""/>
          <p:cNvPicPr/>
          <p:nvPr/>
        </p:nvPicPr>
        <p:blipFill>
          <a:blip r:embed="rId7"/>
          <a:stretch/>
        </p:blipFill>
        <p:spPr>
          <a:xfrm>
            <a:off x="875520" y="4193280"/>
            <a:ext cx="5133600" cy="1971360"/>
          </a:xfrm>
          <a:prstGeom prst="rect">
            <a:avLst/>
          </a:prstGeom>
          <a:ln w="0">
            <a:noFill/>
          </a:ln>
        </p:spPr>
      </p:pic>
      <p:pic>
        <p:nvPicPr>
          <p:cNvPr id="126" name="Рисунок 17" descr=""/>
          <p:cNvPicPr/>
          <p:nvPr/>
        </p:nvPicPr>
        <p:blipFill>
          <a:blip r:embed="rId8"/>
          <a:stretch/>
        </p:blipFill>
        <p:spPr>
          <a:xfrm>
            <a:off x="7128720" y="4193280"/>
            <a:ext cx="3894840" cy="207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4"/>
          <p:cNvSpPr/>
          <p:nvPr/>
        </p:nvSpPr>
        <p:spPr>
          <a:xfrm>
            <a:off x="209880" y="572760"/>
            <a:ext cx="1622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16-ый раунд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Рисунок 2" descr=""/>
          <p:cNvPicPr/>
          <p:nvPr/>
        </p:nvPicPr>
        <p:blipFill>
          <a:blip r:embed="rId1"/>
          <a:stretch/>
        </p:blipFill>
        <p:spPr>
          <a:xfrm>
            <a:off x="2015280" y="215640"/>
            <a:ext cx="3851640" cy="1995840"/>
          </a:xfrm>
          <a:prstGeom prst="rect">
            <a:avLst/>
          </a:prstGeom>
          <a:ln w="0">
            <a:noFill/>
          </a:ln>
        </p:spPr>
      </p:pic>
      <p:pic>
        <p:nvPicPr>
          <p:cNvPr id="129" name="Рисунок 3" descr=""/>
          <p:cNvPicPr/>
          <p:nvPr/>
        </p:nvPicPr>
        <p:blipFill>
          <a:blip r:embed="rId2"/>
          <a:stretch/>
        </p:blipFill>
        <p:spPr>
          <a:xfrm>
            <a:off x="6493320" y="168480"/>
            <a:ext cx="4233240" cy="2223720"/>
          </a:xfrm>
          <a:prstGeom prst="rect">
            <a:avLst/>
          </a:prstGeom>
          <a:ln w="0">
            <a:noFill/>
          </a:ln>
        </p:spPr>
      </p:pic>
      <p:pic>
        <p:nvPicPr>
          <p:cNvPr id="130" name="Рисунок 5" descr=""/>
          <p:cNvPicPr/>
          <p:nvPr/>
        </p:nvPicPr>
        <p:blipFill>
          <a:blip r:embed="rId3"/>
          <a:stretch/>
        </p:blipFill>
        <p:spPr>
          <a:xfrm>
            <a:off x="9683280" y="2443320"/>
            <a:ext cx="2287080" cy="1382760"/>
          </a:xfrm>
          <a:prstGeom prst="rect">
            <a:avLst/>
          </a:prstGeom>
          <a:ln w="0">
            <a:noFill/>
          </a:ln>
        </p:spPr>
      </p:pic>
      <p:pic>
        <p:nvPicPr>
          <p:cNvPr id="131" name="Рисунок 6" descr=""/>
          <p:cNvPicPr/>
          <p:nvPr/>
        </p:nvPicPr>
        <p:blipFill>
          <a:blip r:embed="rId4"/>
          <a:stretch/>
        </p:blipFill>
        <p:spPr>
          <a:xfrm>
            <a:off x="6198840" y="2746800"/>
            <a:ext cx="3345120" cy="1079280"/>
          </a:xfrm>
          <a:prstGeom prst="rect">
            <a:avLst/>
          </a:prstGeom>
          <a:ln w="0">
            <a:noFill/>
          </a:ln>
        </p:spPr>
      </p:pic>
      <p:pic>
        <p:nvPicPr>
          <p:cNvPr id="132" name="Рисунок 7" descr=""/>
          <p:cNvPicPr/>
          <p:nvPr/>
        </p:nvPicPr>
        <p:blipFill>
          <a:blip r:embed="rId5"/>
          <a:stretch/>
        </p:blipFill>
        <p:spPr>
          <a:xfrm>
            <a:off x="3008880" y="2491920"/>
            <a:ext cx="3176280" cy="1585440"/>
          </a:xfrm>
          <a:prstGeom prst="rect">
            <a:avLst/>
          </a:prstGeom>
          <a:ln w="0">
            <a:noFill/>
          </a:ln>
        </p:spPr>
      </p:pic>
      <p:pic>
        <p:nvPicPr>
          <p:cNvPr id="133" name="Рисунок 8" descr=""/>
          <p:cNvPicPr/>
          <p:nvPr/>
        </p:nvPicPr>
        <p:blipFill>
          <a:blip r:embed="rId6"/>
          <a:stretch/>
        </p:blipFill>
        <p:spPr>
          <a:xfrm>
            <a:off x="383040" y="2443320"/>
            <a:ext cx="2486520" cy="1585440"/>
          </a:xfrm>
          <a:prstGeom prst="rect">
            <a:avLst/>
          </a:prstGeom>
          <a:ln w="0">
            <a:noFill/>
          </a:ln>
        </p:spPr>
      </p:pic>
      <p:pic>
        <p:nvPicPr>
          <p:cNvPr id="134" name="Рисунок 9" descr=""/>
          <p:cNvPicPr/>
          <p:nvPr/>
        </p:nvPicPr>
        <p:blipFill>
          <a:blip r:embed="rId7"/>
          <a:stretch/>
        </p:blipFill>
        <p:spPr>
          <a:xfrm>
            <a:off x="1169640" y="4303800"/>
            <a:ext cx="5028840" cy="1980720"/>
          </a:xfrm>
          <a:prstGeom prst="rect">
            <a:avLst/>
          </a:prstGeom>
          <a:ln w="0">
            <a:noFill/>
          </a:ln>
        </p:spPr>
      </p:pic>
      <p:pic>
        <p:nvPicPr>
          <p:cNvPr id="135" name="Рисунок 18" descr=""/>
          <p:cNvPicPr/>
          <p:nvPr/>
        </p:nvPicPr>
        <p:blipFill>
          <a:blip r:embed="rId8"/>
          <a:stretch/>
        </p:blipFill>
        <p:spPr>
          <a:xfrm>
            <a:off x="7021440" y="4202640"/>
            <a:ext cx="4044960" cy="208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4"/>
          <p:cNvSpPr/>
          <p:nvPr/>
        </p:nvSpPr>
        <p:spPr>
          <a:xfrm>
            <a:off x="64080" y="572760"/>
            <a:ext cx="359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IP^-1,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конечная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перестановка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Рисунок 2" descr=""/>
          <p:cNvPicPr/>
          <p:nvPr/>
        </p:nvPicPr>
        <p:blipFill>
          <a:blip r:embed="rId1"/>
          <a:stretch/>
        </p:blipFill>
        <p:spPr>
          <a:xfrm>
            <a:off x="2561040" y="1478160"/>
            <a:ext cx="7069680" cy="432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4"/>
          <p:cNvSpPr/>
          <p:nvPr/>
        </p:nvSpPr>
        <p:spPr>
          <a:xfrm>
            <a:off x="5040" y="572760"/>
            <a:ext cx="452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Блок-схема алгоритма зашифрования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Рисунок 3" descr=""/>
          <p:cNvPicPr/>
          <p:nvPr/>
        </p:nvPicPr>
        <p:blipFill>
          <a:blip r:embed="rId1"/>
          <a:stretch/>
        </p:blipFill>
        <p:spPr>
          <a:xfrm>
            <a:off x="4595400" y="213120"/>
            <a:ext cx="4468320" cy="638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Упрощенный блочный шифр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621440"/>
            <a:ext cx="10436040" cy="213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: 64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бита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Блок данных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: 32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бита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Количество раундов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: 4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Секретный ключ разделяется на 4 равные части.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Подстановка в раундовой функции – четверка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S-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блоков.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Перестановка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 раундовой функции – циклический сдвиг влево на 5 бит.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2" name="Рисунок 4" descr=""/>
          <p:cNvPicPr/>
          <p:nvPr/>
        </p:nvPicPr>
        <p:blipFill>
          <a:blip r:embed="rId1"/>
          <a:stretch/>
        </p:blipFill>
        <p:spPr>
          <a:xfrm>
            <a:off x="3403080" y="4356360"/>
            <a:ext cx="5384880" cy="213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4"/>
          <p:cNvSpPr/>
          <p:nvPr/>
        </p:nvSpPr>
        <p:spPr>
          <a:xfrm>
            <a:off x="286200" y="572760"/>
            <a:ext cx="28738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Блок-схему алгоритма расчёта дифференциальных характеристик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S-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Рисунок 2" descr=""/>
          <p:cNvPicPr/>
          <p:nvPr/>
        </p:nvPicPr>
        <p:blipFill>
          <a:blip r:embed="rId1"/>
          <a:stretch/>
        </p:blipFill>
        <p:spPr>
          <a:xfrm>
            <a:off x="5098320" y="572760"/>
            <a:ext cx="4090680" cy="536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4"/>
          <p:cNvSpPr/>
          <p:nvPr/>
        </p:nvSpPr>
        <p:spPr>
          <a:xfrm>
            <a:off x="286200" y="572760"/>
            <a:ext cx="28738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Код алгоритма расчёта дифференциальных характеристик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S-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Рисунок 1" descr=""/>
          <p:cNvPicPr/>
          <p:nvPr/>
        </p:nvPicPr>
        <p:blipFill>
          <a:blip r:embed="rId1"/>
          <a:stretch/>
        </p:blipFill>
        <p:spPr>
          <a:xfrm>
            <a:off x="4986360" y="159480"/>
            <a:ext cx="4961880" cy="3488760"/>
          </a:xfrm>
          <a:prstGeom prst="rect">
            <a:avLst/>
          </a:prstGeom>
          <a:ln w="0">
            <a:noFill/>
          </a:ln>
        </p:spPr>
      </p:pic>
      <p:pic>
        <p:nvPicPr>
          <p:cNvPr id="147" name="Рисунок 3" descr=""/>
          <p:cNvPicPr/>
          <p:nvPr/>
        </p:nvPicPr>
        <p:blipFill>
          <a:blip r:embed="rId2"/>
          <a:stretch/>
        </p:blipFill>
        <p:spPr>
          <a:xfrm>
            <a:off x="146880" y="3142800"/>
            <a:ext cx="4050360" cy="2950560"/>
          </a:xfrm>
          <a:prstGeom prst="rect">
            <a:avLst/>
          </a:prstGeom>
          <a:ln w="0">
            <a:noFill/>
          </a:ln>
        </p:spPr>
      </p:pic>
      <p:pic>
        <p:nvPicPr>
          <p:cNvPr id="148" name="Рисунок 6" descr=""/>
          <p:cNvPicPr/>
          <p:nvPr/>
        </p:nvPicPr>
        <p:blipFill>
          <a:blip r:embed="rId3"/>
          <a:stretch/>
        </p:blipFill>
        <p:spPr>
          <a:xfrm>
            <a:off x="4831560" y="4012560"/>
            <a:ext cx="3060720" cy="2489760"/>
          </a:xfrm>
          <a:prstGeom prst="rect">
            <a:avLst/>
          </a:prstGeom>
          <a:ln w="0">
            <a:noFill/>
          </a:ln>
        </p:spPr>
      </p:pic>
      <p:pic>
        <p:nvPicPr>
          <p:cNvPr id="149" name="Рисунок 5" descr=""/>
          <p:cNvPicPr/>
          <p:nvPr/>
        </p:nvPicPr>
        <p:blipFill>
          <a:blip r:embed="rId4"/>
          <a:stretch/>
        </p:blipFill>
        <p:spPr>
          <a:xfrm>
            <a:off x="8202960" y="3724200"/>
            <a:ext cx="3764520" cy="306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4"/>
          <p:cNvSpPr/>
          <p:nvPr/>
        </p:nvSpPr>
        <p:spPr>
          <a:xfrm>
            <a:off x="286200" y="572760"/>
            <a:ext cx="2403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Уязвимости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S-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блоков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Рисунок 5" descr=""/>
          <p:cNvPicPr/>
          <p:nvPr/>
        </p:nvPicPr>
        <p:blipFill>
          <a:blip r:embed="rId1"/>
          <a:stretch/>
        </p:blipFill>
        <p:spPr>
          <a:xfrm>
            <a:off x="3364920" y="323280"/>
            <a:ext cx="7858800" cy="621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4"/>
          <p:cNvSpPr/>
          <p:nvPr/>
        </p:nvSpPr>
        <p:spPr>
          <a:xfrm>
            <a:off x="286200" y="572760"/>
            <a:ext cx="58093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Выбранный правый выходной дифференциал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3333. Так как каждое значение соответствует самому вероятному дифференциалу в своем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S-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Вычисленный левый дифференциал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3CCC &lt;&lt;&lt; 5 = 9987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Рисунок 2" descr=""/>
          <p:cNvPicPr/>
          <p:nvPr/>
        </p:nvPicPr>
        <p:blipFill>
          <a:blip r:embed="rId1"/>
          <a:stretch/>
        </p:blipFill>
        <p:spPr>
          <a:xfrm>
            <a:off x="6415560" y="366120"/>
            <a:ext cx="4829400" cy="612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4"/>
          <p:cNvSpPr/>
          <p:nvPr/>
        </p:nvSpPr>
        <p:spPr>
          <a:xfrm>
            <a:off x="286200" y="572760"/>
            <a:ext cx="102423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Входной дифференциал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P = (9987, 3333)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Дифференциальная характеристика для первых 3 раундов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((9987, 3333), (3333, 9987), 0.1001)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Становится возможным восстановить байты последнего раундового ключа.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Рисунок 3" descr=""/>
          <p:cNvPicPr/>
          <p:nvPr/>
        </p:nvPicPr>
        <p:blipFill>
          <a:blip r:embed="rId1"/>
          <a:stretch/>
        </p:blipFill>
        <p:spPr>
          <a:xfrm>
            <a:off x="1794960" y="1979640"/>
            <a:ext cx="6618600" cy="464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DES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в режиме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ECB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7" name="Рисунок 5" descr=""/>
          <p:cNvPicPr/>
          <p:nvPr/>
        </p:nvPicPr>
        <p:blipFill>
          <a:blip r:embed="rId1"/>
          <a:stretch/>
        </p:blipFill>
        <p:spPr>
          <a:xfrm>
            <a:off x="559440" y="2385720"/>
            <a:ext cx="5240160" cy="278208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58" name="TextBox 6"/>
          <p:cNvSpPr/>
          <p:nvPr/>
        </p:nvSpPr>
        <p:spPr>
          <a:xfrm>
            <a:off x="405000" y="1689840"/>
            <a:ext cx="2768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Входное изображение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Рисунок 3" descr=""/>
          <p:cNvPicPr/>
          <p:nvPr/>
        </p:nvPicPr>
        <p:blipFill>
          <a:blip r:embed="rId1"/>
          <a:stretch/>
        </p:blipFill>
        <p:spPr>
          <a:xfrm>
            <a:off x="824400" y="1624680"/>
            <a:ext cx="10542960" cy="4723920"/>
          </a:xfrm>
          <a:prstGeom prst="rect">
            <a:avLst/>
          </a:prstGeom>
          <a:ln w="0">
            <a:noFill/>
          </a:ln>
        </p:spPr>
      </p:pic>
      <p:sp>
        <p:nvSpPr>
          <p:cNvPr id="160" name="TextBox 4"/>
          <p:cNvSpPr/>
          <p:nvPr/>
        </p:nvSpPr>
        <p:spPr>
          <a:xfrm>
            <a:off x="498240" y="748800"/>
            <a:ext cx="309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Алгоритм зашифрования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4"/>
          <p:cNvSpPr/>
          <p:nvPr/>
        </p:nvSpPr>
        <p:spPr>
          <a:xfrm>
            <a:off x="526680" y="748800"/>
            <a:ext cx="2945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Выходное изображение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Рисунок 2" descr=""/>
          <p:cNvPicPr/>
          <p:nvPr/>
        </p:nvPicPr>
        <p:blipFill>
          <a:blip r:embed="rId1"/>
          <a:stretch/>
        </p:blipFill>
        <p:spPr>
          <a:xfrm>
            <a:off x="1816920" y="1530360"/>
            <a:ext cx="8927640" cy="473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4"/>
          <p:cNvSpPr/>
          <p:nvPr/>
        </p:nvSpPr>
        <p:spPr>
          <a:xfrm>
            <a:off x="5040" y="572760"/>
            <a:ext cx="452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Блок-схема алгоритма зашифрования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Рисунок 1" descr=""/>
          <p:cNvPicPr/>
          <p:nvPr/>
        </p:nvPicPr>
        <p:blipFill>
          <a:blip r:embed="rId1"/>
          <a:stretch/>
        </p:blipFill>
        <p:spPr>
          <a:xfrm>
            <a:off x="4552560" y="360000"/>
            <a:ext cx="7130160" cy="592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DES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в режиме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CBC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6" name="Рисунок 5" descr=""/>
          <p:cNvPicPr/>
          <p:nvPr/>
        </p:nvPicPr>
        <p:blipFill>
          <a:blip r:embed="rId1"/>
          <a:stretch/>
        </p:blipFill>
        <p:spPr>
          <a:xfrm>
            <a:off x="559440" y="2385720"/>
            <a:ext cx="5240160" cy="278208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167" name="TextBox 6"/>
          <p:cNvSpPr/>
          <p:nvPr/>
        </p:nvSpPr>
        <p:spPr>
          <a:xfrm>
            <a:off x="405000" y="1689840"/>
            <a:ext cx="2768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Входное изображение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4"/>
          <p:cNvSpPr/>
          <p:nvPr/>
        </p:nvSpPr>
        <p:spPr>
          <a:xfrm>
            <a:off x="498240" y="748800"/>
            <a:ext cx="309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Алгоритм зашифрования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Рисунок 1" descr=""/>
          <p:cNvPicPr/>
          <p:nvPr/>
        </p:nvPicPr>
        <p:blipFill>
          <a:blip r:embed="rId1"/>
          <a:stretch/>
        </p:blipFill>
        <p:spPr>
          <a:xfrm>
            <a:off x="1051920" y="1321920"/>
            <a:ext cx="10087560" cy="523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4"/>
          <p:cNvSpPr/>
          <p:nvPr/>
        </p:nvSpPr>
        <p:spPr>
          <a:xfrm>
            <a:off x="526680" y="748800"/>
            <a:ext cx="2945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Выходное изображение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Рисунок 3" descr=""/>
          <p:cNvPicPr/>
          <p:nvPr/>
        </p:nvPicPr>
        <p:blipFill>
          <a:blip r:embed="rId1"/>
          <a:stretch/>
        </p:blipFill>
        <p:spPr>
          <a:xfrm>
            <a:off x="2230560" y="2007720"/>
            <a:ext cx="7730640" cy="410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4"/>
          <p:cNvSpPr/>
          <p:nvPr/>
        </p:nvSpPr>
        <p:spPr>
          <a:xfrm>
            <a:off x="5040" y="572760"/>
            <a:ext cx="452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Блок-схема алгоритма зашифрования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Рисунок 2" descr=""/>
          <p:cNvPicPr/>
          <p:nvPr/>
        </p:nvPicPr>
        <p:blipFill>
          <a:blip r:embed="rId1"/>
          <a:stretch/>
        </p:blipFill>
        <p:spPr>
          <a:xfrm>
            <a:off x="4435200" y="124200"/>
            <a:ext cx="6128640" cy="646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9360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3-DES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5" name="Рисунок 3" descr=""/>
          <p:cNvPicPr/>
          <p:nvPr/>
        </p:nvPicPr>
        <p:blipFill>
          <a:blip r:embed="rId1"/>
          <a:stretch/>
        </p:blipFill>
        <p:spPr>
          <a:xfrm>
            <a:off x="545400" y="2340000"/>
            <a:ext cx="11099520" cy="4424400"/>
          </a:xfrm>
          <a:prstGeom prst="rect">
            <a:avLst/>
          </a:prstGeom>
          <a:ln w="0">
            <a:noFill/>
          </a:ln>
        </p:spPr>
      </p:pic>
      <p:sp>
        <p:nvSpPr>
          <p:cNvPr id="176" name="TextBox 4"/>
          <p:cNvSpPr/>
          <p:nvPr/>
        </p:nvSpPr>
        <p:spPr>
          <a:xfrm>
            <a:off x="540000" y="1161000"/>
            <a:ext cx="381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IVANOV DANILA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4860000" y="720000"/>
            <a:ext cx="6037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11 11 11 11 11 11 11 11 22 22 22 22 22 22 22 22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33 33 33 33 33 33 33 33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6"/>
          <p:cNvSpPr/>
          <p:nvPr/>
        </p:nvSpPr>
        <p:spPr>
          <a:xfrm>
            <a:off x="472680" y="1670040"/>
            <a:ext cx="402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Шифровка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ASCII: `???P`?????;???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4895280" y="1440000"/>
            <a:ext cx="729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Шифровка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hex: 60 D0 B8 F3 50 60 95 84 9D C2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FB 13 3B DF F7 DC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4"/>
          <p:cNvSpPr/>
          <p:nvPr/>
        </p:nvSpPr>
        <p:spPr>
          <a:xfrm>
            <a:off x="507240" y="797040"/>
            <a:ext cx="381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IVANOV DANILA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5"/>
          <p:cNvSpPr/>
          <p:nvPr/>
        </p:nvSpPr>
        <p:spPr>
          <a:xfrm>
            <a:off x="4821840" y="522720"/>
            <a:ext cx="5978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11 11 11 11 11 11 11 11 22 22 22 22 22 22 22 22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33 33 33 33 33 33 33 33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6"/>
          <p:cNvSpPr/>
          <p:nvPr/>
        </p:nvSpPr>
        <p:spPr>
          <a:xfrm>
            <a:off x="472680" y="1670040"/>
            <a:ext cx="384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Шифровка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ASCII: `???P`?????;???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4860000" y="1521720"/>
            <a:ext cx="729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Шифровка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hex: 60 D0 B8 F3 50 60 95 84 9D C2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FB 13 3B DF F7 DC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Рисунок 8" descr=""/>
          <p:cNvPicPr/>
          <p:nvPr/>
        </p:nvPicPr>
        <p:blipFill>
          <a:blip r:embed="rId1"/>
          <a:stretch/>
        </p:blipFill>
        <p:spPr>
          <a:xfrm>
            <a:off x="1642680" y="2448000"/>
            <a:ext cx="8906040" cy="403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Магма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6" name="Рисунок 3" descr=""/>
          <p:cNvPicPr/>
          <p:nvPr/>
        </p:nvPicPr>
        <p:blipFill>
          <a:blip r:embed="rId1"/>
          <a:stretch/>
        </p:blipFill>
        <p:spPr>
          <a:xfrm>
            <a:off x="718200" y="2407320"/>
            <a:ext cx="10514520" cy="4184280"/>
          </a:xfrm>
          <a:prstGeom prst="rect">
            <a:avLst/>
          </a:prstGeom>
          <a:ln w="0">
            <a:noFill/>
          </a:ln>
        </p:spPr>
      </p:pic>
      <p:sp>
        <p:nvSpPr>
          <p:cNvPr id="187" name="TextBox 4"/>
          <p:cNvSpPr/>
          <p:nvPr/>
        </p:nvSpPr>
        <p:spPr>
          <a:xfrm>
            <a:off x="425520" y="1595880"/>
            <a:ext cx="4884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64 бита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;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256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битов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Рисунок 3" descr=""/>
          <p:cNvPicPr/>
          <p:nvPr/>
        </p:nvPicPr>
        <p:blipFill>
          <a:blip r:embed="rId1"/>
          <a:stretch/>
        </p:blipFill>
        <p:spPr>
          <a:xfrm>
            <a:off x="138960" y="217440"/>
            <a:ext cx="2261880" cy="3347640"/>
          </a:xfrm>
          <a:prstGeom prst="rect">
            <a:avLst/>
          </a:prstGeom>
          <a:ln w="0">
            <a:noFill/>
          </a:ln>
        </p:spPr>
      </p:pic>
      <p:pic>
        <p:nvPicPr>
          <p:cNvPr id="189" name="Рисунок 4" descr=""/>
          <p:cNvPicPr/>
          <p:nvPr/>
        </p:nvPicPr>
        <p:blipFill>
          <a:blip r:embed="rId2"/>
          <a:stretch/>
        </p:blipFill>
        <p:spPr>
          <a:xfrm>
            <a:off x="2504520" y="217440"/>
            <a:ext cx="2261880" cy="3347640"/>
          </a:xfrm>
          <a:prstGeom prst="rect">
            <a:avLst/>
          </a:prstGeom>
          <a:ln w="0">
            <a:noFill/>
          </a:ln>
        </p:spPr>
      </p:pic>
      <p:pic>
        <p:nvPicPr>
          <p:cNvPr id="190" name="Рисунок 5" descr=""/>
          <p:cNvPicPr/>
          <p:nvPr/>
        </p:nvPicPr>
        <p:blipFill>
          <a:blip r:embed="rId3"/>
          <a:stretch/>
        </p:blipFill>
        <p:spPr>
          <a:xfrm>
            <a:off x="4870080" y="217440"/>
            <a:ext cx="2261880" cy="3347640"/>
          </a:xfrm>
          <a:prstGeom prst="rect">
            <a:avLst/>
          </a:prstGeom>
          <a:ln w="0">
            <a:noFill/>
          </a:ln>
        </p:spPr>
      </p:pic>
      <p:pic>
        <p:nvPicPr>
          <p:cNvPr id="191" name="Рисунок 6" descr=""/>
          <p:cNvPicPr/>
          <p:nvPr/>
        </p:nvPicPr>
        <p:blipFill>
          <a:blip r:embed="rId4"/>
          <a:stretch/>
        </p:blipFill>
        <p:spPr>
          <a:xfrm>
            <a:off x="7348680" y="217440"/>
            <a:ext cx="2076480" cy="3347640"/>
          </a:xfrm>
          <a:prstGeom prst="rect">
            <a:avLst/>
          </a:prstGeom>
          <a:ln w="0">
            <a:noFill/>
          </a:ln>
        </p:spPr>
      </p:pic>
      <p:pic>
        <p:nvPicPr>
          <p:cNvPr id="192" name="Рисунок 7" descr=""/>
          <p:cNvPicPr/>
          <p:nvPr/>
        </p:nvPicPr>
        <p:blipFill>
          <a:blip r:embed="rId5"/>
          <a:stretch/>
        </p:blipFill>
        <p:spPr>
          <a:xfrm>
            <a:off x="426240" y="3826800"/>
            <a:ext cx="1687680" cy="2813040"/>
          </a:xfrm>
          <a:prstGeom prst="rect">
            <a:avLst/>
          </a:prstGeom>
          <a:ln w="0">
            <a:noFill/>
          </a:ln>
        </p:spPr>
      </p:pic>
      <p:pic>
        <p:nvPicPr>
          <p:cNvPr id="193" name="Рисунок 8" descr=""/>
          <p:cNvPicPr/>
          <p:nvPr/>
        </p:nvPicPr>
        <p:blipFill>
          <a:blip r:embed="rId6"/>
          <a:stretch/>
        </p:blipFill>
        <p:spPr>
          <a:xfrm>
            <a:off x="2791440" y="3696480"/>
            <a:ext cx="1687680" cy="2943360"/>
          </a:xfrm>
          <a:prstGeom prst="rect">
            <a:avLst/>
          </a:prstGeom>
          <a:ln w="0">
            <a:noFill/>
          </a:ln>
        </p:spPr>
      </p:pic>
      <p:pic>
        <p:nvPicPr>
          <p:cNvPr id="194" name="Рисунок 9" descr=""/>
          <p:cNvPicPr/>
          <p:nvPr/>
        </p:nvPicPr>
        <p:blipFill>
          <a:blip r:embed="rId7"/>
          <a:stretch/>
        </p:blipFill>
        <p:spPr>
          <a:xfrm>
            <a:off x="5100120" y="3730680"/>
            <a:ext cx="1801440" cy="3005640"/>
          </a:xfrm>
          <a:prstGeom prst="rect">
            <a:avLst/>
          </a:prstGeom>
          <a:ln w="0">
            <a:noFill/>
          </a:ln>
        </p:spPr>
      </p:pic>
      <p:pic>
        <p:nvPicPr>
          <p:cNvPr id="195" name="Рисунок 10" descr=""/>
          <p:cNvPicPr/>
          <p:nvPr/>
        </p:nvPicPr>
        <p:blipFill>
          <a:blip r:embed="rId8"/>
          <a:stretch/>
        </p:blipFill>
        <p:spPr>
          <a:xfrm>
            <a:off x="7441920" y="3826800"/>
            <a:ext cx="1890000" cy="302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4"/>
          <p:cNvSpPr/>
          <p:nvPr/>
        </p:nvSpPr>
        <p:spPr>
          <a:xfrm>
            <a:off x="5040" y="572760"/>
            <a:ext cx="452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Блок-схема алгоритма зашифрования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Рисунок 1" descr=""/>
          <p:cNvPicPr/>
          <p:nvPr/>
        </p:nvPicPr>
        <p:blipFill>
          <a:blip r:embed="rId1"/>
          <a:stretch/>
        </p:blipFill>
        <p:spPr>
          <a:xfrm>
            <a:off x="4646880" y="275040"/>
            <a:ext cx="4798800" cy="649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4"/>
          <p:cNvSpPr/>
          <p:nvPr/>
        </p:nvSpPr>
        <p:spPr>
          <a:xfrm>
            <a:off x="869760" y="261720"/>
            <a:ext cx="6510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Результаты расчёта дифференциальных характеристик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одного из S-блоков (на примере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ого блока)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Рисунок 2" descr=""/>
          <p:cNvPicPr/>
          <p:nvPr/>
        </p:nvPicPr>
        <p:blipFill>
          <a:blip r:embed="rId1"/>
          <a:stretch/>
        </p:blipFill>
        <p:spPr>
          <a:xfrm>
            <a:off x="222120" y="1271520"/>
            <a:ext cx="6847920" cy="3111840"/>
          </a:xfrm>
          <a:prstGeom prst="rect">
            <a:avLst/>
          </a:prstGeom>
          <a:ln w="0">
            <a:noFill/>
          </a:ln>
        </p:spPr>
      </p:pic>
      <p:pic>
        <p:nvPicPr>
          <p:cNvPr id="200" name="Рисунок 3" descr=""/>
          <p:cNvPicPr/>
          <p:nvPr/>
        </p:nvPicPr>
        <p:blipFill>
          <a:blip r:embed="rId2"/>
          <a:stretch/>
        </p:blipFill>
        <p:spPr>
          <a:xfrm>
            <a:off x="7297560" y="1406520"/>
            <a:ext cx="4749120" cy="338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Заключение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838080" y="1461600"/>
            <a:ext cx="10514520" cy="52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10000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 работе были получены следующие результаты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1)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Изучен шифр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DES.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Это блочный шифр, на вход которому подается открытый текст размера 64 бита и ключ размера 64 бит (56 бит + 8 битов четности). В начале из ключа получается 16 раундовых по 48 бит каждый. Каждый из этих ключей используется в одном из 16 раундов сети Фейстеля. По итогу после каждого раунда происходит преобразование над половинами блока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L_i = R_i-1, R_i = L_i-1 XOR f(R_i-1, K_i).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Сложность взлома методом грубой силы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2^56. 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2) Изучен упрощенный блочный шифр и атаку на него методом дифференциального анализа. Это атака основа на использовании выбранного открытого текста. Находятся разности блоков на входе ∆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X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 на выходе ∆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Y.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Ищутся пары (ΔX, ΔY), которые встречаются заметно чаще других, из них строится дифференциальная характеристика, и по ней восстанавливаются биты ключа. Была написана программа, которая выводит таблицу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DDT,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показывающую, сколько раз встречается каждая пара (ΔX, ΔY).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3) Изучен шифр DES в режимах ECB и CBC. В режиме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ECB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независимо шифруется каждый блок в отдельности, используя один и тот же ключ.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 режиме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CBC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следующий блок будет напрямую зависеть от предыдущего. В ECB на зашифрованной картинке проступают контуры букв, потому что одинаковые блоки дают одинаковый шифртекст, а в CBC не наблюдается визуальных закономерностей.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4) Изучен шифр 3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DES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. В данном шифре берется ключ размером 192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бита (168 бит значимых) и разбивается на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K1, K2, K3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по 64 бита. Открытый текст проходит следующие этапы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зашифрование с ключом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K1,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расшифрование с ключом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K2,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зашифрование с ключом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K3.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Сложность атаки методом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встреча посередине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”: 2^112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5)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Изучен шифр Магма. По сравнению с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DES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 данном шифре более простой алгоритм генерации раундовых ключей, также он является более стойким, так как имеет более длинный ключ (256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&gt;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56)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 большее количество раундов (32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&gt; 16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1549</TotalTime>
  <Application>LibreOffice/24.2.7.2$Linux_X86_64 LibreOffice_project/420$Build-2</Application>
  <AppVersion>15.0000</AppVersion>
  <Words>844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2026-10-10T09:59:32Z</dcterms:created>
  <dc:creator>Danila Ivanov</dc:creator>
  <dc:description/>
  <dc:language>ru-RU</dc:language>
  <cp:lastModifiedBy/>
  <dcterms:modified xsi:type="dcterms:W3CDTF">2026-10-12T23:28:54Z</dcterms:modified>
  <cp:revision>43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33</vt:i4>
  </property>
</Properties>
</file>