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7.png" ContentType="image/png"/>
  <Override PartName="/ppt/media/image16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3.png" ContentType="image/png"/>
  <Override PartName="/ppt/media/image12.png" ContentType="image/png"/>
  <Override PartName="/ppt/media/image18.png" ContentType="image/png"/>
  <Override PartName="/ppt/media/image20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_rels/notesSlide3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0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</p:sldIdLst>
  <p:sldSz cx="12192000" cy="6858000"/>
  <p:notesSz cx="6797675" cy="992663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FC6B89C-D092-44FD-BB78-9A8E5DB01F6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37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26B188-6E4A-4BCB-A02C-4A15FA281A4D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38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ECB7DF-0E45-4252-BAD7-C0ADCFE0972B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39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A5950E-2AE7-4C37-8BF0-8986FABF8825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0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BAABF2-CD49-4572-B952-23E101330A4A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1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415746-DF3B-4C7C-993D-990684CFC5DE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2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0798CD-4D7C-4F55-9E96-714F283CB74B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3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C93907-5A0F-4954-9426-ABB9C104E1DD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4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8C4846-DB2D-48B2-9674-3B49B1FB6540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420840" y="1241280"/>
            <a:ext cx="5954040" cy="334908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6720" cy="39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5"/>
          </p:nvPr>
        </p:nvSpPr>
        <p:spPr>
          <a:xfrm>
            <a:off x="3850560" y="9428760"/>
            <a:ext cx="29440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729DCC-4763-44E3-9250-82F4FAD01D02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0E1B13-6B25-40EC-9650-69578287D8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9E4186-D706-413D-82FE-6E2F14A749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5279B31-8921-4B68-A0DE-712C5AF4A1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B7A5812-51AD-41BD-87D9-9EBDFE568D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E0175B0-454F-4F11-8DB8-D263B02340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584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EB9E1F8-E71C-4223-956F-1AFEFB15B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5774C94-F5D4-4B5E-9429-B3EB2CE6DA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3039155-E4B2-463E-AF51-C0048C38AD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CF42D7C-7417-4D11-97FF-09A3F9D852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1A0C9B6-4633-4C4A-AA9E-EB74A8F74A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890BA17-0CA0-4240-AE25-FD126FE74E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87CE85-13CC-477C-B516-B8C9ECD13ED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16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AE67EF-5FD5-401E-8BB9-30C1566E044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B4C5FA-FFB1-4B6C-B896-44997F39128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1BFF67-68EC-4311-8ED0-0AB6800210A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2B3EFA-3DB1-497A-B531-9D2DEE2E9F5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08ACE5-3D83-42E4-A60E-A065AB4C6D6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8DECCF-5419-46E5-A939-0D7881D6F39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554AC0-FDFF-4F6A-8BCC-BEFCD420AEA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487F9D-42D9-46C4-902C-CE69081F561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7264FB-0D93-4DE9-BC7E-6FDA990AABC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B6586C-D528-401F-ACE4-B0A54E7C890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1920960" y="3573720"/>
            <a:ext cx="9598680" cy="21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Студент: _______________ Иванов Данила , группа 3342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2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Руководитель:___________ Племянников А.К., доцент каф. ИБ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3"/>
          <p:cNvSpPr/>
          <p:nvPr/>
        </p:nvSpPr>
        <p:spPr>
          <a:xfrm>
            <a:off x="1523880" y="343080"/>
            <a:ext cx="9142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Санкт-Петербургский государственный электротехнический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университет «ЛЭТИ» им. В.И. Ульянова (Ленина)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1523880" y="1731240"/>
            <a:ext cx="914256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Лабораторная №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1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i="1" lang="ru-RU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i="1" lang="ru-RU" sz="2800" spc="-1" strike="noStrike">
                <a:solidFill>
                  <a:schemeClr val="dk1"/>
                </a:solidFill>
                <a:latin typeface="Calibri"/>
              </a:rPr>
              <a:t>Изучение классических шифров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5"/>
          <p:cNvSpPr/>
          <p:nvPr/>
        </p:nvSpPr>
        <p:spPr>
          <a:xfrm>
            <a:off x="1523880" y="5868720"/>
            <a:ext cx="9142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Сант-Петербург 2026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838080" y="582840"/>
            <a:ext cx="10514160" cy="591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Цель.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Повышение компетентности в области зашифрования и расшифрования с помощью таких классических шрифтов, как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"Scytale", "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Агентурный", "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Vigenere", "Hill", "ADFGVX"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Для достижения поставленной цели предстояло решить следующие основные задачи: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1)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"Scytale"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2)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Агентурный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3)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"Vigenere"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4)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"Hill"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5)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"ADFGVX"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6) Изучить шифр, заданный вариантом.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Scytale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Scytale - классический перестановочный шифр. При его использовании изменяется порядок символов исходного сообщения.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является количество строк в табличном представлении алгоритма.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Количество столбцов будет вычисляться, как ⌈n / k⌉, где n - длина открытого текста, k - ключ.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шифротекста.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7760" cy="571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6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7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danila_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Рисунок 3" descr=""/>
          <p:cNvPicPr/>
          <p:nvPr/>
        </p:nvPicPr>
        <p:blipFill>
          <a:blip r:embed="rId1"/>
          <a:stretch/>
        </p:blipFill>
        <p:spPr>
          <a:xfrm>
            <a:off x="5859360" y="461520"/>
            <a:ext cx="5133960" cy="28998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4" name="Таблица 5"/>
          <p:cNvGraphicFramePr/>
          <p:nvPr/>
        </p:nvGraphicFramePr>
        <p:xfrm>
          <a:off x="7756200" y="3693600"/>
          <a:ext cx="1341000" cy="2819880"/>
        </p:xfrm>
        <a:graphic>
          <a:graphicData uri="http://schemas.openxmlformats.org/drawingml/2006/table">
            <a:tbl>
              <a:tblPr/>
              <a:tblGrid>
                <a:gridCol w="13413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67200" cy="571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6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5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dnl__aia__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6" name="Таблица 5"/>
          <p:cNvGraphicFramePr/>
          <p:nvPr/>
        </p:nvGraphicFramePr>
        <p:xfrm>
          <a:off x="7756200" y="3693600"/>
          <a:ext cx="1884600" cy="2014200"/>
        </p:xfrm>
        <a:graphic>
          <a:graphicData uri="http://schemas.openxmlformats.org/drawingml/2006/table">
            <a:tbl>
              <a:tblPr/>
              <a:tblGrid>
                <a:gridCol w="942480"/>
                <a:gridCol w="9424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7" name="Рисунок 7" descr=""/>
          <p:cNvPicPr/>
          <p:nvPr/>
        </p:nvPicPr>
        <p:blipFill>
          <a:blip r:embed="rId1"/>
          <a:stretch/>
        </p:blipFill>
        <p:spPr>
          <a:xfrm>
            <a:off x="5865120" y="485640"/>
            <a:ext cx="5121720" cy="283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7760" cy="571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6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dialna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9" name="Таблица 5"/>
          <p:cNvGraphicFramePr/>
          <p:nvPr/>
        </p:nvGraphicFramePr>
        <p:xfrm>
          <a:off x="7250040" y="4048920"/>
          <a:ext cx="3135960" cy="805680"/>
        </p:xfrm>
        <a:graphic>
          <a:graphicData uri="http://schemas.openxmlformats.org/drawingml/2006/table">
            <a:tbl>
              <a:tblPr/>
              <a:tblGrid>
                <a:gridCol w="1045440"/>
                <a:gridCol w="1045440"/>
                <a:gridCol w="10454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0" name="Рисунок 1" descr=""/>
          <p:cNvPicPr/>
          <p:nvPr/>
        </p:nvPicPr>
        <p:blipFill>
          <a:blip r:embed="rId1"/>
          <a:stretch/>
        </p:blipFill>
        <p:spPr>
          <a:xfrm>
            <a:off x="5950440" y="461520"/>
            <a:ext cx="5309280" cy="288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Scytale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набор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целое положительное число.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Строится таблица размером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строк 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⌈n / k⌉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столбцов, 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C.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Шифротекст записывается по столбцам сверху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вниз, начиная с левого столбца. После этого текст читается построчно, это и будет восстановленный открытый текст.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Scytale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Рисунок 2" descr=""/>
          <p:cNvPicPr/>
          <p:nvPr/>
        </p:nvPicPr>
        <p:blipFill>
          <a:blip r:embed="rId1"/>
          <a:stretch/>
        </p:blipFill>
        <p:spPr>
          <a:xfrm>
            <a:off x="5850000" y="1828800"/>
            <a:ext cx="4948920" cy="447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Агентурный шифр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Агентурный шифр замены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классический шифр моноалфавитной подстановки. При его использовании каждый символ исходного сообщения заменяется другим символом в соответствии с заданным ключом.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являются пароль и сдвиг.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Пароль используется для формирования ключевого алфавита: сначала записываются уникальные символы пароля, затем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оставшиеся символы алфавита.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Сдвиг определяет, на какое количество позиций смещается полученный ключевой алфавит при формировании таблицы замены.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O(n!),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Возможна атака методом частотного анализа.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360000" y="461520"/>
            <a:ext cx="4245840" cy="277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python; 0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hpicfp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Рисунок 5" descr=""/>
          <p:cNvPicPr/>
          <p:nvPr/>
        </p:nvPicPr>
        <p:blipFill>
          <a:blip r:embed="rId1"/>
          <a:stretch/>
        </p:blipFill>
        <p:spPr>
          <a:xfrm>
            <a:off x="4527720" y="461520"/>
            <a:ext cx="7559280" cy="4064400"/>
          </a:xfrm>
          <a:prstGeom prst="rect">
            <a:avLst/>
          </a:prstGeom>
          <a:ln w="0">
            <a:noFill/>
          </a:ln>
        </p:spPr>
      </p:pic>
      <p:pic>
        <p:nvPicPr>
          <p:cNvPr id="79" name="Рисунок 6" descr=""/>
          <p:cNvPicPr/>
          <p:nvPr/>
        </p:nvPicPr>
        <p:blipFill>
          <a:blip r:embed="rId2"/>
          <a:stretch/>
        </p:blipFill>
        <p:spPr>
          <a:xfrm>
            <a:off x="1414800" y="5125680"/>
            <a:ext cx="9361080" cy="7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180000" y="461520"/>
            <a:ext cx="4425840" cy="151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python;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ntkeit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Рисунок 1" descr=""/>
          <p:cNvPicPr/>
          <p:nvPr/>
        </p:nvPicPr>
        <p:blipFill>
          <a:blip r:embed="rId1"/>
          <a:stretch/>
        </p:blipFill>
        <p:spPr>
          <a:xfrm>
            <a:off x="4492080" y="461520"/>
            <a:ext cx="7620120" cy="4091040"/>
          </a:xfrm>
          <a:prstGeom prst="rect">
            <a:avLst/>
          </a:prstGeom>
          <a:ln w="0">
            <a:noFill/>
          </a:ln>
        </p:spPr>
      </p:pic>
      <p:pic>
        <p:nvPicPr>
          <p:cNvPr id="82" name="Рисунок 3" descr=""/>
          <p:cNvPicPr/>
          <p:nvPr/>
        </p:nvPicPr>
        <p:blipFill>
          <a:blip r:embed="rId2"/>
          <a:stretch/>
        </p:blipFill>
        <p:spPr>
          <a:xfrm>
            <a:off x="1414800" y="5330160"/>
            <a:ext cx="9361080" cy="71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7760" cy="151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xyz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python; 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xzp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Рисунок 3" descr=""/>
          <p:cNvPicPr/>
          <p:nvPr/>
        </p:nvPicPr>
        <p:blipFill>
          <a:blip r:embed="rId1"/>
          <a:stretch/>
        </p:blipFill>
        <p:spPr>
          <a:xfrm>
            <a:off x="4500360" y="461520"/>
            <a:ext cx="7620120" cy="4096800"/>
          </a:xfrm>
          <a:prstGeom prst="rect">
            <a:avLst/>
          </a:prstGeom>
          <a:ln w="0">
            <a:noFill/>
          </a:ln>
        </p:spPr>
      </p:pic>
      <p:pic>
        <p:nvPicPr>
          <p:cNvPr id="85" name="Рисунок 4" descr=""/>
          <p:cNvPicPr/>
          <p:nvPr/>
        </p:nvPicPr>
        <p:blipFill>
          <a:blip r:embed="rId2"/>
          <a:stretch/>
        </p:blipFill>
        <p:spPr>
          <a:xfrm>
            <a:off x="1414800" y="5288760"/>
            <a:ext cx="9361080" cy="74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Агентурного шифра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сдвиг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пароль.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C,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набор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целое неотрицательное число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Сформировать ключевой алфавит на основе пароля p: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удалить повторяющиеся символы из p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дописать символы исходного алфавита, отсутствующие в p.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Выполнить обратный сдвиг полученного ключевого алфавита на s позиций.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каждого символа шифровки C определить его положение в полученном алфавите и записать найденный символы в строку S.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Агентурного шифра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Рисунок 2" descr=""/>
          <p:cNvPicPr/>
          <p:nvPr/>
        </p:nvPicPr>
        <p:blipFill>
          <a:blip r:embed="rId1"/>
          <a:stretch/>
        </p:blipFill>
        <p:spPr>
          <a:xfrm>
            <a:off x="4390200" y="1800000"/>
            <a:ext cx="2808720" cy="496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Vigenere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Vigenere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- классический полиалфавитный шифр подстановки. При его использовании изменяются символы исходного сообщения в соответствии с ключом.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является периодически повторяющееся ключевое слово.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шифрования каждый символ открытого текста складывается с соответствующим символом ключа по модулю размера алфавита. Полученный символ добавляется в шифротекст. Если ключ короче открытого текста, он циклически повторяется до необходимой длины.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O(n!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/ (n - m)!),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ключа. Возможна атака через автокорреляционный и статистический методы.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180000" y="461520"/>
            <a:ext cx="4425840" cy="151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key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nelspy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Рисунок 1" descr=""/>
          <p:cNvPicPr/>
          <p:nvPr/>
        </p:nvPicPr>
        <p:blipFill>
          <a:blip r:embed="rId1"/>
          <a:stretch/>
        </p:blipFill>
        <p:spPr>
          <a:xfrm>
            <a:off x="4607640" y="461520"/>
            <a:ext cx="7442280" cy="3715560"/>
          </a:xfrm>
          <a:prstGeom prst="rect">
            <a:avLst/>
          </a:prstGeom>
          <a:ln w="0">
            <a:noFill/>
          </a:ln>
        </p:spPr>
      </p:pic>
      <p:pic>
        <p:nvPicPr>
          <p:cNvPr id="94" name="Рисунок 4" descr=""/>
          <p:cNvPicPr/>
          <p:nvPr/>
        </p:nvPicPr>
        <p:blipFill>
          <a:blip r:embed="rId2"/>
          <a:stretch/>
        </p:blipFill>
        <p:spPr>
          <a:xfrm>
            <a:off x="2843280" y="4579560"/>
            <a:ext cx="6504120" cy="187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0" y="461520"/>
            <a:ext cx="4605840" cy="151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java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key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tetk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Рисунок 4" descr=""/>
          <p:cNvPicPr/>
          <p:nvPr/>
        </p:nvPicPr>
        <p:blipFill>
          <a:blip r:embed="rId1"/>
          <a:stretch/>
        </p:blipFill>
        <p:spPr>
          <a:xfrm>
            <a:off x="4220280" y="461520"/>
            <a:ext cx="7855560" cy="3924360"/>
          </a:xfrm>
          <a:prstGeom prst="rect">
            <a:avLst/>
          </a:prstGeom>
          <a:ln w="0">
            <a:noFill/>
          </a:ln>
        </p:spPr>
      </p:pic>
      <p:pic>
        <p:nvPicPr>
          <p:cNvPr id="97" name="Рисунок 6" descr=""/>
          <p:cNvPicPr/>
          <p:nvPr/>
        </p:nvPicPr>
        <p:blipFill>
          <a:blip r:embed="rId2"/>
          <a:stretch/>
        </p:blipFill>
        <p:spPr>
          <a:xfrm>
            <a:off x="2852640" y="4692240"/>
            <a:ext cx="6485040" cy="181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Vigenere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ключевое слово.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C,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набор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Пронумеровать буквы алфавита порядковыми номерами от 0 до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Повторять ключ p циклически до длины шифротекста C. Для каждого символа шифровки Cᵢ и ключа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pi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определить его числовое значение.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Вычислить числовое значение символа открытого текста по формуле: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Sᵢ = (Cᵢ − pᵢ) mod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Vigenere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Рисунок 4" descr=""/>
          <p:cNvPicPr/>
          <p:nvPr/>
        </p:nvPicPr>
        <p:blipFill>
          <a:blip r:embed="rId1"/>
          <a:stretch/>
        </p:blipFill>
        <p:spPr>
          <a:xfrm>
            <a:off x="4889520" y="1800000"/>
            <a:ext cx="2524320" cy="466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Hill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77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Hill — классический полиграфический шифр подстановки. При его использовании символы открытого текста преобразуются в другие символы с помощью матричного умножения.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является квадратная обратимая матрица размера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* k.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 переводится в числовую последовательность в соответствии с выбранным алфавитом и разбивается на блоки по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текст не делится на блоки, добавляется доп. символ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x)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Каждый блок открытого текста из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символов представляется в виде столбца матрицы. Данная матрица умножается на ключ и результат делится по модулю на размер алфавита, из нее получается шифровка.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O(n^(k*k)),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блока. Возможна атака на основе знания исходного 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16800" cy="33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danilaiv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2 15 22  3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1  9  1 12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16  7 13 11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8  5  9  6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eithblra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Рисунок 5" descr=""/>
          <p:cNvPicPr/>
          <p:nvPr/>
        </p:nvPicPr>
        <p:blipFill>
          <a:blip r:embed="rId1"/>
          <a:stretch/>
        </p:blipFill>
        <p:spPr>
          <a:xfrm>
            <a:off x="763560" y="4841280"/>
            <a:ext cx="4534560" cy="1659600"/>
          </a:xfrm>
          <a:prstGeom prst="rect">
            <a:avLst/>
          </a:prstGeom>
          <a:ln w="0">
            <a:noFill/>
          </a:ln>
        </p:spPr>
      </p:pic>
      <p:pic>
        <p:nvPicPr>
          <p:cNvPr id="106" name="Рисунок 6" descr=""/>
          <p:cNvPicPr/>
          <p:nvPr/>
        </p:nvPicPr>
        <p:blipFill>
          <a:blip r:embed="rId2"/>
          <a:stretch/>
        </p:blipFill>
        <p:spPr>
          <a:xfrm>
            <a:off x="4664160" y="8280"/>
            <a:ext cx="7368840" cy="483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16800" cy="33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2 15 22  3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1  9  1 12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16  7 13 11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8  5  9  6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eithzyar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Рисунок 4" descr=""/>
          <p:cNvPicPr/>
          <p:nvPr/>
        </p:nvPicPr>
        <p:blipFill>
          <a:blip r:embed="rId1"/>
          <a:stretch/>
        </p:blipFill>
        <p:spPr>
          <a:xfrm>
            <a:off x="4756680" y="44640"/>
            <a:ext cx="7337160" cy="4795560"/>
          </a:xfrm>
          <a:prstGeom prst="rect">
            <a:avLst/>
          </a:prstGeom>
          <a:ln w="0">
            <a:noFill/>
          </a:ln>
        </p:spPr>
      </p:pic>
      <p:pic>
        <p:nvPicPr>
          <p:cNvPr id="109" name="Рисунок 6" descr=""/>
          <p:cNvPicPr/>
          <p:nvPr/>
        </p:nvPicPr>
        <p:blipFill>
          <a:blip r:embed="rId2"/>
          <a:stretch/>
        </p:blipFill>
        <p:spPr>
          <a:xfrm>
            <a:off x="521640" y="4844520"/>
            <a:ext cx="5114160" cy="1851840"/>
          </a:xfrm>
          <a:prstGeom prst="rect">
            <a:avLst/>
          </a:prstGeom>
          <a:ln w="0">
            <a:noFill/>
          </a:ln>
        </p:spPr>
      </p:pic>
      <p:pic>
        <p:nvPicPr>
          <p:cNvPr id="110" name="Рисунок 1" descr=""/>
          <p:cNvPicPr/>
          <p:nvPr/>
        </p:nvPicPr>
        <p:blipFill>
          <a:blip r:embed="rId3"/>
          <a:stretch/>
        </p:blipFill>
        <p:spPr>
          <a:xfrm>
            <a:off x="5869080" y="5285520"/>
            <a:ext cx="6123240" cy="97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Hill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9999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матрица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размером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k*k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квадратная обратимая матрица по модулю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алфавита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Пронумеровать буквы алфавита порядковыми номерами от 0 до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Разбить шифровку на блоки по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Каждый блок представить в виде столбца матрицы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Получить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 = (K^-1 * P) mod m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перевести числовые значения в символы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Каждый столбец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блок открытого 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Hill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Рисунок 3" descr=""/>
          <p:cNvPicPr/>
          <p:nvPr/>
        </p:nvPicPr>
        <p:blipFill>
          <a:blip r:embed="rId1"/>
          <a:stretch/>
        </p:blipFill>
        <p:spPr>
          <a:xfrm>
            <a:off x="3917520" y="1468440"/>
            <a:ext cx="5292720" cy="519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ADFGVX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0514160" cy="514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ADFGVX — классический фракционный перестановочный шифр.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Ключами являются пароль подстановки и пароль перестановки.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Пароль </a:t>
            </a:r>
            <a:r>
              <a:rPr b="0" lang="ru-RU" sz="2800" spc="-1" strike="noStrike" u="sng">
                <a:solidFill>
                  <a:schemeClr val="dk1"/>
                </a:solidFill>
                <a:uFillTx/>
                <a:latin typeface="Calibri"/>
              </a:rPr>
              <a:t>подстановки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смещает алфавит внутри таблицы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ADFGVX: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сначала идут символы пароля затем остальной алфавит. С помощью таблицы каждому символу исходного сообщения ставится в соответствие пара символов из набора A, D, F, G, V, X.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После подстановки полученная последовательность символов записывается в таблицу с количеством столбцов, равным длине пароля перестановки. Пароль </a:t>
            </a:r>
            <a:r>
              <a:rPr b="0" lang="ru-RU" sz="2800" spc="-1" strike="noStrike" u="sng">
                <a:solidFill>
                  <a:schemeClr val="dk1"/>
                </a:solidFill>
                <a:uFillTx/>
                <a:latin typeface="Calibri"/>
              </a:rPr>
              <a:t>перестановки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определяет порядок перестановки столбцов таблицы. После перестановки символы считываются по столбцам, формируя зашифрованное сообщение.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! *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m!),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пароля перестановки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4068000" cy="33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DANILAX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подстановки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key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перестановки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BAR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AFVAADGDAVAFFG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Рисунок 1" descr=""/>
          <p:cNvPicPr/>
          <p:nvPr/>
        </p:nvPicPr>
        <p:blipFill>
          <a:blip r:embed="rId1"/>
          <a:stretch/>
        </p:blipFill>
        <p:spPr>
          <a:xfrm>
            <a:off x="5097600" y="239040"/>
            <a:ext cx="7042320" cy="3803040"/>
          </a:xfrm>
          <a:prstGeom prst="rect">
            <a:avLst/>
          </a:prstGeom>
          <a:ln w="0">
            <a:noFill/>
          </a:ln>
        </p:spPr>
      </p:pic>
      <p:pic>
        <p:nvPicPr>
          <p:cNvPr id="119" name="Рисунок 3" descr=""/>
          <p:cNvPicPr/>
          <p:nvPr/>
        </p:nvPicPr>
        <p:blipFill>
          <a:blip r:embed="rId2"/>
          <a:stretch/>
        </p:blipFill>
        <p:spPr>
          <a:xfrm>
            <a:off x="215280" y="4043520"/>
            <a:ext cx="4259160" cy="2455560"/>
          </a:xfrm>
          <a:prstGeom prst="rect">
            <a:avLst/>
          </a:prstGeom>
          <a:ln w="0">
            <a:noFill/>
          </a:ln>
        </p:spPr>
      </p:pic>
      <p:pic>
        <p:nvPicPr>
          <p:cNvPr id="120" name="Рисунок 4" descr=""/>
          <p:cNvPicPr/>
          <p:nvPr/>
        </p:nvPicPr>
        <p:blipFill>
          <a:blip r:embed="rId3"/>
          <a:stretch/>
        </p:blipFill>
        <p:spPr>
          <a:xfrm>
            <a:off x="5097600" y="4576680"/>
            <a:ext cx="6218280" cy="138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ADFGVX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503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пароль подстановки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K2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пароль перестановки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A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алфавит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(26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латинских букв + 10 цифр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из символов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(A,D,F,G,V,X);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Построить таблицу подстановки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K1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и алфавиту. Построить таблицу перестановки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⌈длина(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/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(K2)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⌉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строк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(K2)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столбцов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длина(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mod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длина(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K2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!= 0,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 сначала после перестановки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K2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алфавитный порядок определить, в каких столбцах будут неполное заполнение. С учетом этого вписать шифровку в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сверху вниз по сортированному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K2,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затем переставить столбцы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в соответствии с  начальным порядком. После этого читать построчно слева направо и по 2-ум символам получать итоговый символ из открытого 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ADFGVX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Рисунок 2" descr=""/>
          <p:cNvPicPr/>
          <p:nvPr/>
        </p:nvPicPr>
        <p:blipFill>
          <a:blip r:embed="rId1"/>
          <a:stretch/>
        </p:blipFill>
        <p:spPr>
          <a:xfrm>
            <a:off x="4408560" y="1375920"/>
            <a:ext cx="5400360" cy="533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Шифр, заданный вариантом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Прототип шифра векторной перестановки - это метод симметричного шифрования, в котором порядок символов открытого текста меняется на основе числового вектора-ключа, при этом сами символы не изменяются.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шифрования K является перестановка целых чисел от 1 до |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|, которая задает порядок следования байт в шифровке, 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!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открытого текста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Рисунок 8" descr=""/>
          <p:cNvPicPr/>
          <p:nvPr/>
        </p:nvPicPr>
        <p:blipFill>
          <a:blip r:embed="rId1"/>
          <a:stretch/>
        </p:blipFill>
        <p:spPr>
          <a:xfrm>
            <a:off x="6095880" y="800280"/>
            <a:ext cx="5551560" cy="893880"/>
          </a:xfrm>
          <a:prstGeom prst="rect">
            <a:avLst/>
          </a:prstGeom>
          <a:ln w="0">
            <a:noFill/>
          </a:ln>
        </p:spPr>
      </p:pic>
      <p:pic>
        <p:nvPicPr>
          <p:cNvPr id="128" name="Рисунок 10" descr=""/>
          <p:cNvPicPr/>
          <p:nvPr/>
        </p:nvPicPr>
        <p:blipFill>
          <a:blip r:embed="rId2"/>
          <a:stretch/>
        </p:blipFill>
        <p:spPr>
          <a:xfrm>
            <a:off x="6095880" y="3097800"/>
            <a:ext cx="5389560" cy="2455920"/>
          </a:xfrm>
          <a:prstGeom prst="rect">
            <a:avLst/>
          </a:prstGeom>
          <a:ln w="0">
            <a:noFill/>
          </a:ln>
        </p:spPr>
      </p:pic>
      <p:pic>
        <p:nvPicPr>
          <p:cNvPr id="129" name="Рисунок 11" descr=""/>
          <p:cNvPicPr/>
          <p:nvPr/>
        </p:nvPicPr>
        <p:blipFill>
          <a:blip r:embed="rId3"/>
          <a:stretch/>
        </p:blipFill>
        <p:spPr>
          <a:xfrm>
            <a:off x="133200" y="349920"/>
            <a:ext cx="5761440" cy="549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расшифрования, заданного вариантом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Рисунок 2" descr=""/>
          <p:cNvPicPr/>
          <p:nvPr/>
        </p:nvPicPr>
        <p:blipFill>
          <a:blip r:embed="rId1"/>
          <a:stretch/>
        </p:blipFill>
        <p:spPr>
          <a:xfrm>
            <a:off x="4347360" y="1854000"/>
            <a:ext cx="3496320" cy="415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Заключение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7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В работе получены следующие результаты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1)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Изучен шифр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Scytale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перестановочный шифр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является количество строк в табличном представлении.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длина шифротекста.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2) Изучен шифр Агентурный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шифр моноалфавитной подстановки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являются пароль (для формирования ключевого алфавита) и сдвиг.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O(n!),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3) Изучен шифр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Vigenere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полиалфавитный шифр подстановки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является периодически повторяющееся ключевое слово.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O(n!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/ (n - m)!),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длина ключа.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4) Изучен шифр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Hill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полиграфический шифр подстановки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является квадратная обратимая матрица размера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k * k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O(n^(k*k)),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k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размер блока.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5) Изучен шифр ADFGVX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фракционный перестановочный шифр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ключами являются пароль подстановки и пароль перестановки.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O(n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! *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m!),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размер пароля перестановки.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6) Изучен прототип шифра векторной перестановки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метод симметричного шифрования, в котором порядок символов открытого текста меняется на основе числового вектора-ключа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Разработан и программно реализован алгоритм шифрования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на вход подаются открытый текст, алфавит, ключ, на выходе получается шифровка.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3201</TotalTime>
  <Application>LibreOffice/24.2.7.2$Linux_X86_64 LibreOffice_project/420$Build-2</Application>
  <AppVersion>15.0000</AppVersion>
  <Words>1806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2026-09-19T12:55:56Z</dcterms:created>
  <dc:creator>Danila Ivanov</dc:creator>
  <dc:description/>
  <dc:language>ru-RU</dc:language>
  <cp:lastModifiedBy/>
  <cp:lastPrinted>2026-09-28T18:33:12Z</cp:lastPrinted>
  <dcterms:modified xsi:type="dcterms:W3CDTF">2026-09-29T11:35:19Z</dcterms:modified>
  <cp:revision>73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32</vt:i4>
  </property>
</Properties>
</file>