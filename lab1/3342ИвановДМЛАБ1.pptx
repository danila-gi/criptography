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theme/theme10.xml" ContentType="application/vnd.openxmlformats-officedocument.theme+xml"/>
  <Override PartName="/ppt/slideLayouts/slideLayout11.xml" ContentType="application/vnd.openxmlformats-officedocument.presentationml.slideLayout+xml"/>
  <Override PartName="/ppt/theme/theme11.xml" ContentType="application/vnd.openxmlformats-officedocument.theme+xml"/>
  <Override PartName="/ppt/theme/theme1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</p:sldMasterIdLst>
  <p:notesMasterIdLst>
    <p:notesMasterId r:id="rId44"/>
  </p:notes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</p:sldIdLst>
  <p:sldSz cx="12192000" cy="6858000"/>
  <p:notesSz cx="6797675" cy="9926638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2.xml"/><Relationship Id="rId18" Type="http://schemas.openxmlformats.org/officeDocument/2006/relationships/slide" Target="slides/slide7.xml"/><Relationship Id="rId26" Type="http://schemas.openxmlformats.org/officeDocument/2006/relationships/slide" Target="slides/slide15.xml"/><Relationship Id="rId39" Type="http://schemas.openxmlformats.org/officeDocument/2006/relationships/slide" Target="slides/slide28.xml"/><Relationship Id="rId21" Type="http://schemas.openxmlformats.org/officeDocument/2006/relationships/slide" Target="slides/slide10.xml"/><Relationship Id="rId34" Type="http://schemas.openxmlformats.org/officeDocument/2006/relationships/slide" Target="slides/slide23.xml"/><Relationship Id="rId42" Type="http://schemas.openxmlformats.org/officeDocument/2006/relationships/slide" Target="slides/slide31.xml"/><Relationship Id="rId47" Type="http://schemas.openxmlformats.org/officeDocument/2006/relationships/theme" Target="theme/theme1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5.xml"/><Relationship Id="rId29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13.xml"/><Relationship Id="rId32" Type="http://schemas.openxmlformats.org/officeDocument/2006/relationships/slide" Target="slides/slide21.xml"/><Relationship Id="rId37" Type="http://schemas.openxmlformats.org/officeDocument/2006/relationships/slide" Target="slides/slide26.xml"/><Relationship Id="rId40" Type="http://schemas.openxmlformats.org/officeDocument/2006/relationships/slide" Target="slides/slide29.xml"/><Relationship Id="rId45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4.xml"/><Relationship Id="rId23" Type="http://schemas.openxmlformats.org/officeDocument/2006/relationships/slide" Target="slides/slide12.xml"/><Relationship Id="rId28" Type="http://schemas.openxmlformats.org/officeDocument/2006/relationships/slide" Target="slides/slide17.xml"/><Relationship Id="rId36" Type="http://schemas.openxmlformats.org/officeDocument/2006/relationships/slide" Target="slides/slide25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8.xml"/><Relationship Id="rId31" Type="http://schemas.openxmlformats.org/officeDocument/2006/relationships/slide" Target="slides/slide20.xml"/><Relationship Id="rId44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3.xml"/><Relationship Id="rId22" Type="http://schemas.openxmlformats.org/officeDocument/2006/relationships/slide" Target="slides/slide11.xml"/><Relationship Id="rId27" Type="http://schemas.openxmlformats.org/officeDocument/2006/relationships/slide" Target="slides/slide16.xml"/><Relationship Id="rId30" Type="http://schemas.openxmlformats.org/officeDocument/2006/relationships/slide" Target="slides/slide19.xml"/><Relationship Id="rId35" Type="http://schemas.openxmlformats.org/officeDocument/2006/relationships/slide" Target="slides/slide24.xml"/><Relationship Id="rId43" Type="http://schemas.openxmlformats.org/officeDocument/2006/relationships/slide" Target="slides/slide32.xml"/><Relationship Id="rId48" Type="http://schemas.openxmlformats.org/officeDocument/2006/relationships/tableStyles" Target="tableStyles.xml"/><Relationship Id="rId8" Type="http://schemas.openxmlformats.org/officeDocument/2006/relationships/slideMaster" Target="slideMasters/slideMaster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1.xml"/><Relationship Id="rId17" Type="http://schemas.openxmlformats.org/officeDocument/2006/relationships/slide" Target="slides/slide6.xml"/><Relationship Id="rId25" Type="http://schemas.openxmlformats.org/officeDocument/2006/relationships/slide" Target="slides/slide14.xml"/><Relationship Id="rId33" Type="http://schemas.openxmlformats.org/officeDocument/2006/relationships/slide" Target="slides/slide22.xml"/><Relationship Id="rId38" Type="http://schemas.openxmlformats.org/officeDocument/2006/relationships/slide" Target="slides/slide27.xml"/><Relationship Id="rId46" Type="http://schemas.openxmlformats.org/officeDocument/2006/relationships/viewProps" Target="viewProps.xml"/><Relationship Id="rId20" Type="http://schemas.openxmlformats.org/officeDocument/2006/relationships/slide" Target="slides/slide9.xml"/><Relationship Id="rId41" Type="http://schemas.openxmlformats.org/officeDocument/2006/relationships/slide" Target="slides/slide3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-120650" y="882650"/>
            <a:ext cx="7734300" cy="43513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ru-RU" sz="4400" b="0" strike="noStrike" spc="-1">
                <a:solidFill>
                  <a:srgbClr val="000000"/>
                </a:solidFill>
                <a:latin typeface="Arial"/>
              </a:rPr>
              <a:t>Для перемещения страницы щёлкните мышью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749350" y="5513192"/>
            <a:ext cx="5994443" cy="5222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Для правки формата примечаний щёлкните мышью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51822" cy="57996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&lt;верхний колонтитул&gt;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34"/>
          </p:nvPr>
        </p:nvSpPr>
        <p:spPr>
          <a:xfrm>
            <a:off x="4241321" y="0"/>
            <a:ext cx="3251822" cy="57996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&lt;дата/время&gt;</a:t>
            </a:r>
          </a:p>
        </p:txBody>
      </p:sp>
      <p:sp>
        <p:nvSpPr>
          <p:cNvPr id="53" name="PlaceHolder 5"/>
          <p:cNvSpPr>
            <a:spLocks noGrp="1"/>
          </p:cNvSpPr>
          <p:nvPr>
            <p:ph type="ftr" idx="35"/>
          </p:nvPr>
        </p:nvSpPr>
        <p:spPr>
          <a:xfrm>
            <a:off x="0" y="11026775"/>
            <a:ext cx="3251822" cy="57996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6"/>
          </p:nvPr>
        </p:nvSpPr>
        <p:spPr>
          <a:xfrm>
            <a:off x="4241321" y="11026775"/>
            <a:ext cx="3251822" cy="57996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81FF73C-13C9-4D31-88C7-A25F05A311EE}" type="slidenum"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ru-RU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0688" y="1241425"/>
            <a:ext cx="5954712" cy="3349625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679768" y="4777292"/>
            <a:ext cx="5437426" cy="390773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ru-R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37"/>
          </p:nvPr>
        </p:nvSpPr>
        <p:spPr>
          <a:xfrm>
            <a:off x="3850588" y="9428743"/>
            <a:ext cx="2944946" cy="49711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-RU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319156B-2AE7-4BCC-9F64-D879DC3CAA28}" type="slidenum">
              <a:rPr lang="ru-RU" sz="1200" b="0" strike="noStrike" spc="-1">
                <a:solidFill>
                  <a:srgbClr val="000000"/>
                </a:solidFill>
                <a:latin typeface="Times New Roman"/>
              </a:rPr>
              <a:t>10</a:t>
            </a:fld>
            <a:endParaRPr lang="ru-RU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0688" y="1241425"/>
            <a:ext cx="5954712" cy="3349625"/>
          </a:xfrm>
          <a:prstGeom prst="rect">
            <a:avLst/>
          </a:prstGeom>
          <a:ln w="0">
            <a:noFill/>
          </a:ln>
        </p:spPr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679768" y="4777292"/>
            <a:ext cx="5437426" cy="390773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ru-R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sldNum" idx="38"/>
          </p:nvPr>
        </p:nvSpPr>
        <p:spPr>
          <a:xfrm>
            <a:off x="3850588" y="9428743"/>
            <a:ext cx="2944946" cy="49711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-RU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8843DB9-A56E-4593-BAD4-E091F6F813F7}" type="slidenum">
              <a:rPr lang="ru-RU" sz="1200" b="0" strike="noStrike" spc="-1">
                <a:solidFill>
                  <a:srgbClr val="000000"/>
                </a:solidFill>
                <a:latin typeface="Times New Roman"/>
              </a:rPr>
              <a:t>11</a:t>
            </a:fld>
            <a:endParaRPr lang="ru-RU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0688" y="1241425"/>
            <a:ext cx="5954712" cy="3349625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79768" y="4777292"/>
            <a:ext cx="5437426" cy="390773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ru-R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39"/>
          </p:nvPr>
        </p:nvSpPr>
        <p:spPr>
          <a:xfrm>
            <a:off x="3850588" y="9428743"/>
            <a:ext cx="2944946" cy="49711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-RU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7DEE86E-7277-4533-BF89-C8C7C471556A}" type="slidenum">
              <a:rPr lang="ru-RU" sz="1200" b="0" strike="noStrike" spc="-1">
                <a:solidFill>
                  <a:srgbClr val="000000"/>
                </a:solidFill>
                <a:latin typeface="Times New Roman"/>
              </a:rPr>
              <a:t>12</a:t>
            </a:fld>
            <a:endParaRPr lang="ru-RU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0688" y="1241425"/>
            <a:ext cx="5954712" cy="3349625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679768" y="4777292"/>
            <a:ext cx="5437426" cy="390773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ru-R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40"/>
          </p:nvPr>
        </p:nvSpPr>
        <p:spPr>
          <a:xfrm>
            <a:off x="3850588" y="9428743"/>
            <a:ext cx="2944946" cy="49711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-RU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5837E60-7AC3-42C1-91C3-C25009BB934E}" type="slidenum">
              <a:rPr lang="ru-RU" sz="1200" b="0" strike="noStrike" spc="-1">
                <a:solidFill>
                  <a:srgbClr val="000000"/>
                </a:solidFill>
                <a:latin typeface="Times New Roman"/>
              </a:rPr>
              <a:t>16</a:t>
            </a:fld>
            <a:endParaRPr lang="ru-RU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0688" y="1241425"/>
            <a:ext cx="5954712" cy="3349625"/>
          </a:xfrm>
          <a:prstGeom prst="rect">
            <a:avLst/>
          </a:prstGeom>
          <a:ln w="0">
            <a:noFill/>
          </a:ln>
        </p:spPr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79768" y="4777292"/>
            <a:ext cx="5437426" cy="390773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ru-R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sldNum" idx="41"/>
          </p:nvPr>
        </p:nvSpPr>
        <p:spPr>
          <a:xfrm>
            <a:off x="3850588" y="9428743"/>
            <a:ext cx="2944946" cy="49711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-RU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CC2B47C-6C42-413C-B3DF-C324B92DFA56}" type="slidenum">
              <a:rPr lang="ru-RU" sz="1200" b="0" strike="noStrike" spc="-1">
                <a:solidFill>
                  <a:srgbClr val="000000"/>
                </a:solidFill>
                <a:latin typeface="Times New Roman"/>
              </a:rPr>
              <a:t>17</a:t>
            </a:fld>
            <a:endParaRPr lang="ru-RU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0688" y="1241425"/>
            <a:ext cx="5954712" cy="3349625"/>
          </a:xfrm>
          <a:prstGeom prst="rect">
            <a:avLst/>
          </a:prstGeom>
          <a:ln w="0">
            <a:noFill/>
          </a:ln>
        </p:spPr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679768" y="4777292"/>
            <a:ext cx="5437426" cy="390773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ru-R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sldNum" idx="42"/>
          </p:nvPr>
        </p:nvSpPr>
        <p:spPr>
          <a:xfrm>
            <a:off x="3850588" y="9428743"/>
            <a:ext cx="2944946" cy="49711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-RU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CF29E52-6F88-448F-A997-B4512D5DE86D}" type="slidenum">
              <a:rPr lang="ru-RU" sz="1200" b="0" strike="noStrike" spc="-1">
                <a:solidFill>
                  <a:srgbClr val="000000"/>
                </a:solidFill>
                <a:latin typeface="Times New Roman"/>
              </a:rPr>
              <a:t>21</a:t>
            </a:fld>
            <a:endParaRPr lang="ru-RU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0688" y="1241425"/>
            <a:ext cx="5954712" cy="3349625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679768" y="4777292"/>
            <a:ext cx="5437426" cy="390773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ru-R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sldNum" idx="43"/>
          </p:nvPr>
        </p:nvSpPr>
        <p:spPr>
          <a:xfrm>
            <a:off x="3850588" y="9428743"/>
            <a:ext cx="2944946" cy="49711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-RU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5EC17DB-2C8E-45D8-B2F3-13E0F41E7943}" type="slidenum">
              <a:rPr lang="ru-RU" sz="1200" b="0" strike="noStrike" spc="-1">
                <a:solidFill>
                  <a:srgbClr val="000000"/>
                </a:solidFill>
                <a:latin typeface="Times New Roman"/>
              </a:rPr>
              <a:t>22</a:t>
            </a:fld>
            <a:endParaRPr lang="ru-RU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0688" y="1241425"/>
            <a:ext cx="5954712" cy="3349625"/>
          </a:xfrm>
          <a:prstGeom prst="rect">
            <a:avLst/>
          </a:prstGeom>
          <a:ln w="0">
            <a:noFill/>
          </a:ln>
        </p:spPr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679768" y="4777292"/>
            <a:ext cx="5437426" cy="390773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ru-R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sldNum" idx="44"/>
          </p:nvPr>
        </p:nvSpPr>
        <p:spPr>
          <a:xfrm>
            <a:off x="3850588" y="9428743"/>
            <a:ext cx="2944946" cy="49711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-RU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F6901A1-1FB7-4A11-AF8B-80E60F631BF5}" type="slidenum">
              <a:rPr lang="ru-RU" sz="1200" b="0" strike="noStrike" spc="-1">
                <a:solidFill>
                  <a:srgbClr val="000000"/>
                </a:solidFill>
                <a:latin typeface="Times New Roman"/>
              </a:rPr>
              <a:t>26</a:t>
            </a:fld>
            <a:endParaRPr lang="ru-RU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0688" y="1241425"/>
            <a:ext cx="5954712" cy="3349625"/>
          </a:xfrm>
          <a:prstGeom prst="rect">
            <a:avLst/>
          </a:prstGeom>
          <a:ln w="0">
            <a:noFill/>
          </a:ln>
        </p:spPr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679768" y="4777292"/>
            <a:ext cx="5437426" cy="390773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ru-R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sldNum" idx="45"/>
          </p:nvPr>
        </p:nvSpPr>
        <p:spPr>
          <a:xfrm>
            <a:off x="3850588" y="9428743"/>
            <a:ext cx="2944946" cy="49711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-RU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D8294DC-A325-4157-89EF-CE577B3C2AA7}" type="slidenum">
              <a:rPr lang="ru-RU" sz="1200" b="0" strike="noStrike" spc="-1">
                <a:solidFill>
                  <a:srgbClr val="000000"/>
                </a:solidFill>
                <a:latin typeface="Times New Roman"/>
              </a:rPr>
              <a:t>30</a:t>
            </a:fld>
            <a:endParaRPr lang="ru-RU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89F79888-E724-4D12-BA88-937F7E530F13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EEFDC634-2D54-4404-A6E6-4AE09AC49E7B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00851078-7C2B-4A18-8960-D5D55DDDF071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6502D3AB-9180-453C-BA77-D1D6A257336D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760D4414-0A4B-4E51-A860-225A79AE7F88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C86D6209-5801-4BD2-B6AA-90482099F1C1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lstStyle/>
          <a:p>
            <a:fld id="{84B3305A-14F0-4527-A3BB-DCFFB3B4CBD3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lstStyle/>
          <a:p>
            <a:fld id="{1A47BA19-1E43-4067-9749-1DC0BDD2FDB0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lstStyle/>
          <a:p>
            <a:fld id="{31044825-5494-4374-9EB5-998613D5FBDC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87A02CD0-99E8-4747-9931-1F9BD638DAFD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E15D90CB-F744-4ED6-8BA0-75BDB9362F13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354CF88-C397-40D8-BDA4-9FB735EF2122}" type="slidenum">
              <a:rPr lang="ru-RU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ru-RU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&lt;дата/время&gt;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A20983B-B38E-4280-BF1D-F1BB3E476624}" type="slidenum">
              <a:rPr lang="ru-RU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ru-RU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&lt;дата/время&gt;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</a:p>
        </p:txBody>
      </p:sp>
      <p:sp>
        <p:nvSpPr>
          <p:cNvPr id="11" name="PlaceHolder 2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EB4EE99-03C2-41E6-8A56-19CB960369A5}" type="slidenum">
              <a:rPr lang="ru-RU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ru-RU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&lt;дата/время&gt;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  <p:sp>
        <p:nvSpPr>
          <p:cNvPr id="15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</a:p>
        </p:txBody>
      </p:sp>
      <p:sp>
        <p:nvSpPr>
          <p:cNvPr id="16" name="PlaceHolder 4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E1DA3C5-F4D7-451D-8F01-D9EB0FE34C53}" type="slidenum">
              <a:rPr lang="ru-RU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ru-RU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&lt;дата/время&gt;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6B9D67E-7B16-4879-A16E-EB966A0C0E19}" type="slidenum">
              <a:rPr lang="ru-RU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ru-RU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&lt;дата/время&gt;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  <p:sp>
        <p:nvSpPr>
          <p:cNvPr id="26" name="PlaceHolder 4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</a:p>
        </p:txBody>
      </p:sp>
      <p:sp>
        <p:nvSpPr>
          <p:cNvPr id="27" name="PlaceHolder 5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2F02917-A8D5-4181-AB6A-9293C22AB2D7}" type="slidenum">
              <a:rPr lang="ru-RU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ru-RU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&lt;дата/время&gt;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5AD9E69-0922-4396-8955-AD1A6B01AA59}" type="slidenum">
              <a:rPr lang="ru-RU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ru-RU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&lt;дата/время&gt;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36" name="PlaceHolder 2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</a:p>
        </p:txBody>
      </p:sp>
      <p:sp>
        <p:nvSpPr>
          <p:cNvPr id="37" name="PlaceHolder 3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F1CBAFE-7505-48B2-AD1D-792213D304C3}" type="slidenum">
              <a:rPr lang="ru-RU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ru-RU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&lt;дата/время&gt;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87E0FBE-D962-4374-AAEC-4B43B0F6D820}" type="slidenum">
              <a:rPr lang="ru-RU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ru-RU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&lt;дата/время&gt;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</a:p>
        </p:txBody>
      </p:sp>
      <p:sp>
        <p:nvSpPr>
          <p:cNvPr id="44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244152D-07A4-4BE1-B867-4840F7040969}" type="slidenum">
              <a:rPr lang="ru-RU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ru-RU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&lt;дата/время&gt;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</a:p>
        </p:txBody>
      </p:sp>
      <p:sp>
        <p:nvSpPr>
          <p:cNvPr id="47" name="PlaceHolder 2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4C6A1BB-4A87-4420-A55D-9C77C84E962D}" type="slidenum">
              <a:rPr lang="ru-RU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ru-RU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&lt;дата/время&gt;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subTitle"/>
          </p:nvPr>
        </p:nvSpPr>
        <p:spPr>
          <a:xfrm>
            <a:off x="1920960" y="3573720"/>
            <a:ext cx="9238680" cy="2143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2400" b="0" strike="noStrike" spc="-1">
                <a:solidFill>
                  <a:schemeClr val="dk1"/>
                </a:solidFill>
                <a:latin typeface="Calibri"/>
              </a:rPr>
              <a:t>Студент: _______________ Иванов Данила , группа 3342 </a:t>
            </a:r>
            <a:endParaRPr lang="ru-RU" sz="24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2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2400" b="0" strike="noStrike" spc="-1">
                <a:solidFill>
                  <a:schemeClr val="dk1"/>
                </a:solidFill>
                <a:latin typeface="Calibri"/>
              </a:rPr>
              <a:t>Руководитель:___________ Племянников А.К., доцент каф. ИБ</a:t>
            </a:r>
            <a:endParaRPr lang="ru-RU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Box 3"/>
          <p:cNvSpPr/>
          <p:nvPr/>
        </p:nvSpPr>
        <p:spPr>
          <a:xfrm>
            <a:off x="1523880" y="343080"/>
            <a:ext cx="914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1800" b="0" strike="noStrike" spc="-1">
                <a:solidFill>
                  <a:schemeClr val="dk1"/>
                </a:solidFill>
                <a:latin typeface="Calibri"/>
              </a:rPr>
              <a:t>Санкт-Петербургский государственный электротехнический </a:t>
            </a:r>
            <a:endParaRPr lang="ru-RU" sz="18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ru-RU" sz="1800" b="0" strike="noStrike" spc="-1">
                <a:solidFill>
                  <a:schemeClr val="dk1"/>
                </a:solidFill>
                <a:latin typeface="Calibri"/>
              </a:rPr>
              <a:t>университет «ЛЭТИ» им. В.И. Ульянова (Ленина) </a:t>
            </a:r>
            <a:endParaRPr lang="ru-R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Box 4"/>
          <p:cNvSpPr/>
          <p:nvPr/>
        </p:nvSpPr>
        <p:spPr>
          <a:xfrm>
            <a:off x="1523880" y="1731240"/>
            <a:ext cx="9143280" cy="943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2400" b="0" strike="noStrike" spc="-1">
                <a:solidFill>
                  <a:schemeClr val="dk1"/>
                </a:solidFill>
                <a:latin typeface="Calibri"/>
              </a:rPr>
              <a:t>Лабораторная №</a:t>
            </a: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 1</a:t>
            </a:r>
            <a:endParaRPr lang="ru-RU" sz="24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ru-RU" sz="3200" b="0" i="1" strike="noStrike" spc="-1">
                <a:solidFill>
                  <a:schemeClr val="dk1"/>
                </a:solidFill>
                <a:latin typeface="Calibri"/>
              </a:rPr>
              <a:t> </a:t>
            </a:r>
            <a:r>
              <a:rPr lang="ru-RU" sz="2800" b="0" i="1" strike="noStrike" spc="-1">
                <a:solidFill>
                  <a:schemeClr val="dk1"/>
                </a:solidFill>
                <a:latin typeface="Calibri"/>
              </a:rPr>
              <a:t>Изучение классических шифров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Box 5"/>
          <p:cNvSpPr/>
          <p:nvPr/>
        </p:nvSpPr>
        <p:spPr>
          <a:xfrm>
            <a:off x="1523880" y="5868720"/>
            <a:ext cx="914328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1800" b="0" strike="noStrike" spc="-1">
                <a:solidFill>
                  <a:schemeClr val="dk1"/>
                </a:solidFill>
                <a:latin typeface="Calibri"/>
              </a:rPr>
              <a:t>Сант-Петербург 2026</a:t>
            </a:r>
            <a:endParaRPr lang="ru-RU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/>
          </p:nvPr>
        </p:nvSpPr>
        <p:spPr>
          <a:xfrm>
            <a:off x="838080" y="582840"/>
            <a:ext cx="10514880" cy="5918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1" strike="noStrike" spc="-1">
                <a:solidFill>
                  <a:schemeClr val="dk1"/>
                </a:solidFill>
                <a:latin typeface="Calibri"/>
              </a:rPr>
              <a:t>Цель.</a:t>
            </a:r>
            <a:r>
              <a:rPr lang="ru-RU" sz="2400" b="0" strike="noStrike" spc="-1">
                <a:solidFill>
                  <a:schemeClr val="dk1"/>
                </a:solidFill>
                <a:latin typeface="Calibri"/>
              </a:rPr>
              <a:t> Повышение компетентности в области зашифрования и расшифрования с помощью таких классических шрифтов, как </a:t>
            </a: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"Scytale", "</a:t>
            </a:r>
            <a:r>
              <a:rPr lang="ru-RU" sz="2400" b="0" strike="noStrike" spc="-1">
                <a:solidFill>
                  <a:schemeClr val="dk1"/>
                </a:solidFill>
                <a:latin typeface="Calibri"/>
              </a:rPr>
              <a:t>Агентурный", "</a:t>
            </a: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Vigenere", "Hill", "ADFGVX"</a:t>
            </a:r>
            <a:r>
              <a:rPr lang="ru-RU" sz="2400" b="0" strike="noStrike" spc="-1">
                <a:solidFill>
                  <a:schemeClr val="dk1"/>
                </a:solidFill>
                <a:latin typeface="Calibri"/>
              </a:rPr>
              <a:t>.</a:t>
            </a:r>
            <a:endParaRPr lang="ru-RU" sz="24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0" strike="noStrike" spc="-1">
                <a:solidFill>
                  <a:schemeClr val="dk1"/>
                </a:solidFill>
                <a:latin typeface="Calibri"/>
              </a:rPr>
              <a:t>Для достижения поставленной цели предстояло решить следующие основные задачи:</a:t>
            </a:r>
            <a:endParaRPr lang="ru-RU" sz="24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1) </a:t>
            </a:r>
            <a:r>
              <a:rPr lang="ru-RU" sz="2400" b="0" strike="noStrike" spc="-1">
                <a:solidFill>
                  <a:schemeClr val="dk1"/>
                </a:solidFill>
                <a:latin typeface="Calibri"/>
              </a:rPr>
              <a:t>Изучить шифр </a:t>
            </a: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"Scytale"</a:t>
            </a:r>
            <a:endParaRPr lang="ru-RU" sz="24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0" strike="noStrike" spc="-1">
                <a:solidFill>
                  <a:schemeClr val="dk1"/>
                </a:solidFill>
                <a:latin typeface="Calibri"/>
              </a:rPr>
              <a:t>2) Изучить шифр </a:t>
            </a: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"</a:t>
            </a:r>
            <a:r>
              <a:rPr lang="ru-RU" sz="2400" b="0" strike="noStrike" spc="-1">
                <a:solidFill>
                  <a:schemeClr val="dk1"/>
                </a:solidFill>
                <a:latin typeface="Calibri"/>
              </a:rPr>
              <a:t>Агентурный</a:t>
            </a: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"</a:t>
            </a:r>
            <a:endParaRPr lang="ru-RU" sz="24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0" strike="noStrike" spc="-1">
                <a:solidFill>
                  <a:schemeClr val="dk1"/>
                </a:solidFill>
                <a:latin typeface="Calibri"/>
              </a:rPr>
              <a:t>3) Изучить шифр </a:t>
            </a: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"Vigenere"</a:t>
            </a:r>
            <a:endParaRPr lang="ru-RU" sz="24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0" strike="noStrike" spc="-1">
                <a:solidFill>
                  <a:schemeClr val="dk1"/>
                </a:solidFill>
                <a:latin typeface="Calibri"/>
              </a:rPr>
              <a:t>4) Изучить шифр </a:t>
            </a: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"Hill"</a:t>
            </a:r>
            <a:endParaRPr lang="ru-RU" sz="24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0" strike="noStrike" spc="-1">
                <a:solidFill>
                  <a:schemeClr val="dk1"/>
                </a:solidFill>
                <a:latin typeface="Calibri"/>
              </a:rPr>
              <a:t>5) Изучить шифр </a:t>
            </a: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"ADFGVX"</a:t>
            </a:r>
            <a:endParaRPr lang="ru-RU" sz="24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0" strike="noStrike" spc="-1">
                <a:solidFill>
                  <a:schemeClr val="dk1"/>
                </a:solidFill>
                <a:latin typeface="Calibri"/>
              </a:rPr>
              <a:t>6) Изучить шифр, заданный вариантом.</a:t>
            </a:r>
            <a:endParaRPr lang="ru-RU" sz="24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ru-RU" sz="2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ru-RU" sz="4400" b="0" strike="noStrike" spc="-1">
                <a:solidFill>
                  <a:schemeClr val="dk1"/>
                </a:solidFill>
                <a:latin typeface="Calibri Light"/>
              </a:rPr>
              <a:t>Scytale</a:t>
            </a: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Scytale - классический перестановочный шифр. При его использовании изменяется порядок символов исходного сообщения.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Ключом является количество строк в табличном представлении алгоритма.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Количество столбцов будет вычисляться, как ⌈n / k⌉, где n - длина открытого текста, k - ключ.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Сложность атаки методом грубой силы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O(n),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где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n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длина шифротекста.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/>
          </p:nvPr>
        </p:nvSpPr>
        <p:spPr>
          <a:xfrm>
            <a:off x="838080" y="461520"/>
            <a:ext cx="3768480" cy="5714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Открытый текст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danila (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6 символов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)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Ключ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7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Шифротекст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danila_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3" name="Рисунок 3"/>
          <p:cNvPicPr/>
          <p:nvPr/>
        </p:nvPicPr>
        <p:blipFill>
          <a:blip r:embed="rId2"/>
          <a:stretch/>
        </p:blipFill>
        <p:spPr>
          <a:xfrm>
            <a:off x="5859360" y="461520"/>
            <a:ext cx="5134680" cy="290052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64" name="Таблица 5"/>
          <p:cNvGraphicFramePr/>
          <p:nvPr/>
        </p:nvGraphicFramePr>
        <p:xfrm>
          <a:off x="7756200" y="3693600"/>
          <a:ext cx="1341360" cy="2595600"/>
        </p:xfrm>
        <a:graphic>
          <a:graphicData uri="http://schemas.openxmlformats.org/drawingml/2006/table">
            <a:tbl>
              <a:tblPr/>
              <a:tblGrid>
                <a:gridCol w="1341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d</a:t>
                      </a:r>
                      <a:endParaRPr lang="ru-RU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a</a:t>
                      </a:r>
                      <a:endParaRPr lang="ru-RU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n</a:t>
                      </a:r>
                      <a:endParaRPr lang="ru-RU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i</a:t>
                      </a:r>
                      <a:endParaRPr lang="ru-RU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l</a:t>
                      </a:r>
                      <a:endParaRPr lang="ru-RU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a</a:t>
                      </a:r>
                      <a:endParaRPr lang="ru-RU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-</a:t>
                      </a:r>
                      <a:endParaRPr lang="ru-RU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/>
          </p:nvPr>
        </p:nvSpPr>
        <p:spPr>
          <a:xfrm>
            <a:off x="838080" y="461520"/>
            <a:ext cx="3967920" cy="5714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Открытый текст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danila (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6 символов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)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Ключ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5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Шифротекст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dnl__aia__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66" name="Таблица 5"/>
          <p:cNvGraphicFramePr/>
          <p:nvPr/>
        </p:nvGraphicFramePr>
        <p:xfrm>
          <a:off x="7756200" y="3693600"/>
          <a:ext cx="1884960" cy="1854000"/>
        </p:xfrm>
        <a:graphic>
          <a:graphicData uri="http://schemas.openxmlformats.org/drawingml/2006/table">
            <a:tbl>
              <a:tblPr/>
              <a:tblGrid>
                <a:gridCol w="942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d</a:t>
                      </a:r>
                      <a:endParaRPr lang="ru-RU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a</a:t>
                      </a:r>
                      <a:endParaRPr lang="ru-RU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n</a:t>
                      </a:r>
                      <a:endParaRPr lang="ru-RU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i</a:t>
                      </a:r>
                      <a:endParaRPr lang="ru-RU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l</a:t>
                      </a:r>
                      <a:endParaRPr lang="ru-RU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a</a:t>
                      </a:r>
                      <a:endParaRPr lang="ru-RU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-</a:t>
                      </a:r>
                      <a:endParaRPr lang="ru-RU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-</a:t>
                      </a:r>
                      <a:endParaRPr lang="ru-RU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-</a:t>
                      </a:r>
                      <a:endParaRPr lang="ru-RU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-</a:t>
                      </a:r>
                      <a:endParaRPr lang="ru-RU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67" name="Рисунок 7"/>
          <p:cNvPicPr/>
          <p:nvPr/>
        </p:nvPicPr>
        <p:blipFill>
          <a:blip r:embed="rId2"/>
          <a:stretch/>
        </p:blipFill>
        <p:spPr>
          <a:xfrm>
            <a:off x="5865120" y="485640"/>
            <a:ext cx="5122440" cy="28332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/>
          </p:nvPr>
        </p:nvSpPr>
        <p:spPr>
          <a:xfrm>
            <a:off x="838080" y="461520"/>
            <a:ext cx="3768480" cy="5714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Открытый текст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danila (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6 символов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)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Ключ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2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Шифротекст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dialna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69" name="Таблица 5"/>
          <p:cNvGraphicFramePr/>
          <p:nvPr/>
        </p:nvGraphicFramePr>
        <p:xfrm>
          <a:off x="7250040" y="4048920"/>
          <a:ext cx="3136320" cy="741600"/>
        </p:xfrm>
        <a:graphic>
          <a:graphicData uri="http://schemas.openxmlformats.org/drawingml/2006/table">
            <a:tbl>
              <a:tblPr/>
              <a:tblGrid>
                <a:gridCol w="1045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5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5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d</a:t>
                      </a:r>
                      <a:endParaRPr lang="ru-RU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a</a:t>
                      </a:r>
                      <a:endParaRPr lang="ru-RU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n</a:t>
                      </a:r>
                      <a:endParaRPr lang="ru-RU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i</a:t>
                      </a:r>
                      <a:endParaRPr lang="ru-RU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l</a:t>
                      </a:r>
                      <a:endParaRPr lang="ru-RU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a</a:t>
                      </a:r>
                      <a:endParaRPr lang="ru-RU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70" name="Рисунок 1"/>
          <p:cNvPicPr/>
          <p:nvPr/>
        </p:nvPicPr>
        <p:blipFill>
          <a:blip r:embed="rId2"/>
          <a:stretch/>
        </p:blipFill>
        <p:spPr>
          <a:xfrm>
            <a:off x="5950440" y="461520"/>
            <a:ext cx="5310000" cy="28846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ru-RU" sz="4400" b="0" strike="noStrike" spc="-1">
                <a:solidFill>
                  <a:schemeClr val="dk1"/>
                </a:solidFill>
                <a:latin typeface="Calibri Light"/>
              </a:rPr>
              <a:t>Внешняя спецификация алгоритма расшифрования Scytale</a:t>
            </a: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Назначение: восстановление открытого текста из шифровки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Входные данные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C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шифротекст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; k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ключ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Выходные данные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S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расшифрованное сообщение 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Ограничения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C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набор символов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;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k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целое положительное число.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Алгоритм расшифрования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Строится таблица размером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k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строк и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⌈n / k⌉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 столбцов, где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n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длина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C.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 Шифротекст записывается по столбцам сверху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вниз, начиная с левого столбца. После этого текст читается построчно, это и будет восстановленный открытый текст.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ru-RU" sz="4400" b="0" strike="noStrike" spc="-1">
                <a:solidFill>
                  <a:schemeClr val="dk1"/>
                </a:solidFill>
                <a:latin typeface="Calibri Light"/>
              </a:rPr>
              <a:t>Блок-схема алгоритма расшифрования </a:t>
            </a: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Scytale</a:t>
            </a: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4" name="Рисунок 2"/>
          <p:cNvPicPr/>
          <p:nvPr/>
        </p:nvPicPr>
        <p:blipFill>
          <a:blip r:embed="rId2"/>
          <a:stretch/>
        </p:blipFill>
        <p:spPr>
          <a:xfrm>
            <a:off x="5850000" y="1828800"/>
            <a:ext cx="4949640" cy="44708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ru-RU" sz="4400" b="0" strike="noStrike" spc="-1">
                <a:solidFill>
                  <a:schemeClr val="dk1"/>
                </a:solidFill>
                <a:latin typeface="Calibri Light"/>
              </a:rPr>
              <a:t>Агентурный шифр</a:t>
            </a: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277"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Агентурный шифр замены</a:t>
            </a:r>
            <a:r>
              <a:rPr lang="en-US" sz="2800" b="0" strike="noStrike" spc="-1" dirty="0">
                <a:solidFill>
                  <a:schemeClr val="dk1"/>
                </a:solidFill>
                <a:latin typeface="Calibri"/>
              </a:rPr>
              <a:t> - 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классический шифр </a:t>
            </a:r>
            <a:r>
              <a:rPr lang="ru-RU" sz="2800" b="0" strike="noStrike" spc="-1" dirty="0" err="1">
                <a:solidFill>
                  <a:schemeClr val="dk1"/>
                </a:solidFill>
                <a:latin typeface="Calibri"/>
              </a:rPr>
              <a:t>моноалфавитной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 подстановки. При его использовании каждый символ исходного сообщения заменяется другим символом в соответствии с заданным ключом.</a:t>
            </a:r>
            <a:endParaRPr lang="ru-RU" sz="28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Ключом являются пароль и сдвиг.</a:t>
            </a:r>
            <a:endParaRPr lang="ru-RU" sz="28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Пароль используется для формирования ключевого алфавита: сначала записываются уникальные символы пароля, затем</a:t>
            </a:r>
            <a:r>
              <a:rPr lang="en-US" sz="2800" b="0" strike="noStrike" spc="-1" dirty="0">
                <a:solidFill>
                  <a:schemeClr val="dk1"/>
                </a:solidFill>
                <a:latin typeface="Calibri"/>
              </a:rPr>
              <a:t> - 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оставшиеся символы алфавита.</a:t>
            </a:r>
            <a:endParaRPr lang="ru-RU" sz="28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Сдвиг определяет, на какое количество позиций смещается полученный ключевой алфавит при формировании таблицы замены.</a:t>
            </a:r>
            <a:endParaRPr lang="ru-RU" sz="28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Сложность атаки методом грубой силы</a:t>
            </a:r>
            <a:r>
              <a:rPr lang="en-US" sz="2800" b="0" strike="noStrike" spc="-1" dirty="0">
                <a:solidFill>
                  <a:schemeClr val="dk1"/>
                </a:solidFill>
                <a:latin typeface="Calibri"/>
              </a:rPr>
              <a:t>: O(n!), 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где </a:t>
            </a:r>
            <a:r>
              <a:rPr lang="en-US" sz="2800" b="0" strike="noStrike" spc="-1" dirty="0">
                <a:solidFill>
                  <a:schemeClr val="dk1"/>
                </a:solidFill>
                <a:latin typeface="Calibri"/>
              </a:rPr>
              <a:t>n – 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мощность алфавита</a:t>
            </a:r>
            <a:r>
              <a:rPr lang="en-US" sz="2800" b="0" strike="noStrike" spc="-1" dirty="0">
                <a:solidFill>
                  <a:schemeClr val="dk1"/>
                </a:solidFill>
                <a:latin typeface="Calibri"/>
              </a:rPr>
              <a:t>. 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Возможна атака методом частотного анализа.</a:t>
            </a:r>
            <a:endParaRPr lang="ru-RU" sz="28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/>
          </p:nvPr>
        </p:nvSpPr>
        <p:spPr>
          <a:xfrm>
            <a:off x="360000" y="461520"/>
            <a:ext cx="4246560" cy="277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Открытый текст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danila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Ключ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python; 0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Шифротекст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hpicfp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8" name="Рисунок 5"/>
          <p:cNvPicPr/>
          <p:nvPr/>
        </p:nvPicPr>
        <p:blipFill>
          <a:blip r:embed="rId3"/>
          <a:stretch/>
        </p:blipFill>
        <p:spPr>
          <a:xfrm>
            <a:off x="4527720" y="461520"/>
            <a:ext cx="7560000" cy="4065120"/>
          </a:xfrm>
          <a:prstGeom prst="rect">
            <a:avLst/>
          </a:prstGeom>
          <a:ln w="0">
            <a:noFill/>
          </a:ln>
        </p:spPr>
      </p:pic>
      <p:pic>
        <p:nvPicPr>
          <p:cNvPr id="79" name="Рисунок 6"/>
          <p:cNvPicPr/>
          <p:nvPr/>
        </p:nvPicPr>
        <p:blipFill>
          <a:blip r:embed="rId4"/>
          <a:stretch/>
        </p:blipFill>
        <p:spPr>
          <a:xfrm>
            <a:off x="1414800" y="5125680"/>
            <a:ext cx="9361800" cy="7153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/>
          </p:nvPr>
        </p:nvSpPr>
        <p:spPr>
          <a:xfrm>
            <a:off x="180000" y="461520"/>
            <a:ext cx="4426560" cy="1517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Открытый текст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danila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Ключ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python;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2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Шифротекст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ntkeit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1" name="Рисунок 1"/>
          <p:cNvPicPr/>
          <p:nvPr/>
        </p:nvPicPr>
        <p:blipFill>
          <a:blip r:embed="rId3"/>
          <a:stretch/>
        </p:blipFill>
        <p:spPr>
          <a:xfrm>
            <a:off x="4492080" y="461520"/>
            <a:ext cx="7620840" cy="4091760"/>
          </a:xfrm>
          <a:prstGeom prst="rect">
            <a:avLst/>
          </a:prstGeom>
          <a:ln w="0">
            <a:noFill/>
          </a:ln>
        </p:spPr>
      </p:pic>
      <p:pic>
        <p:nvPicPr>
          <p:cNvPr id="82" name="Рисунок 3"/>
          <p:cNvPicPr/>
          <p:nvPr/>
        </p:nvPicPr>
        <p:blipFill>
          <a:blip r:embed="rId4"/>
          <a:stretch/>
        </p:blipFill>
        <p:spPr>
          <a:xfrm>
            <a:off x="1414800" y="5330160"/>
            <a:ext cx="9361800" cy="7185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/>
          </p:nvPr>
        </p:nvSpPr>
        <p:spPr>
          <a:xfrm>
            <a:off x="838080" y="461520"/>
            <a:ext cx="3768480" cy="1517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Открытый текст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xyz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Ключ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python; 1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Шифротекст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xzp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4" name="Рисунок 3"/>
          <p:cNvPicPr/>
          <p:nvPr/>
        </p:nvPicPr>
        <p:blipFill>
          <a:blip r:embed="rId3"/>
          <a:stretch/>
        </p:blipFill>
        <p:spPr>
          <a:xfrm>
            <a:off x="4500360" y="461520"/>
            <a:ext cx="7620840" cy="4097520"/>
          </a:xfrm>
          <a:prstGeom prst="rect">
            <a:avLst/>
          </a:prstGeom>
          <a:ln w="0">
            <a:noFill/>
          </a:ln>
        </p:spPr>
      </p:pic>
      <p:pic>
        <p:nvPicPr>
          <p:cNvPr id="85" name="Рисунок 4"/>
          <p:cNvPicPr/>
          <p:nvPr/>
        </p:nvPicPr>
        <p:blipFill>
          <a:blip r:embed="rId4"/>
          <a:stretch/>
        </p:blipFill>
        <p:spPr>
          <a:xfrm>
            <a:off x="1414800" y="5288760"/>
            <a:ext cx="9361800" cy="7426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ru-RU" sz="4400" b="0" strike="noStrike" spc="-1">
                <a:solidFill>
                  <a:schemeClr val="dk1"/>
                </a:solidFill>
                <a:latin typeface="Calibri Light"/>
              </a:rPr>
              <a:t>Внешняя спецификация алгоритма расшифрования Агентурного шифра</a:t>
            </a: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7222"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Назначение: восстановление открытого текста из шифровки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Входные данные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C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шифротекст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; s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ключ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,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сдвиг алфавита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; p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ключ, пароль.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Выходные данные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S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расшифрованное сообщение 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Ограничения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C, p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набор символов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;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целое неотрицательное число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;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Алгоритм расшифрования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Сформировать ключевой алфавит на основе пароля p: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удалить повторяющиеся символы из p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,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дописать символы исходного алфавита, отсутствующие в p.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Выполнить обратный сдвиг полученного ключевого алфавита на s позиций.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Для каждого символа шифровки C определить его положение в полученном алфавите и записать найденный символы в строку S.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ru-RU" sz="4400" b="0" strike="noStrike" spc="-1">
                <a:solidFill>
                  <a:schemeClr val="dk1"/>
                </a:solidFill>
                <a:latin typeface="Calibri Light"/>
              </a:rPr>
              <a:t>Блок-схема алгоритма расшифрования Агентурного шифра</a:t>
            </a: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9" name="Рисунок 2"/>
          <p:cNvPicPr/>
          <p:nvPr/>
        </p:nvPicPr>
        <p:blipFill>
          <a:blip r:embed="rId2"/>
          <a:stretch/>
        </p:blipFill>
        <p:spPr>
          <a:xfrm>
            <a:off x="4390200" y="1800000"/>
            <a:ext cx="2809440" cy="49640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Vigenere</a:t>
            </a: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4722" lnSpcReduction="10000"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Vigenere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 - классический полиалфавитный шифр подстановки. При его использовании изменяются символы исходного сообщения в соответствии с ключом.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Ключом является периодически повторяющееся ключевое слово.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Для шифрования каждый символ открытого текста складывается с соответствующим символом ключа по модулю размера алфавита. Полученный символ добавляется в шифротекст. Если ключ короче открытого текста, он циклически повторяется до необходимой длины.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Сложность атаки методом грубой силы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O(n!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/ (n - m)!),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где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n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мощность алфавита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, m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длина ключа. Возможна атака через автокорреляционный и статистический методы.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/>
          </p:nvPr>
        </p:nvSpPr>
        <p:spPr>
          <a:xfrm>
            <a:off x="180000" y="461520"/>
            <a:ext cx="4426560" cy="1517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Открытый текст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danila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Ключ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key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Шифротекст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nelspy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3" name="Рисунок 1"/>
          <p:cNvPicPr/>
          <p:nvPr/>
        </p:nvPicPr>
        <p:blipFill>
          <a:blip r:embed="rId3"/>
          <a:stretch/>
        </p:blipFill>
        <p:spPr>
          <a:xfrm>
            <a:off x="4607640" y="461520"/>
            <a:ext cx="7443000" cy="3716280"/>
          </a:xfrm>
          <a:prstGeom prst="rect">
            <a:avLst/>
          </a:prstGeom>
          <a:ln w="0">
            <a:noFill/>
          </a:ln>
        </p:spPr>
      </p:pic>
      <p:pic>
        <p:nvPicPr>
          <p:cNvPr id="94" name="Рисунок 4"/>
          <p:cNvPicPr/>
          <p:nvPr/>
        </p:nvPicPr>
        <p:blipFill>
          <a:blip r:embed="rId4"/>
          <a:stretch/>
        </p:blipFill>
        <p:spPr>
          <a:xfrm>
            <a:off x="2843280" y="4579560"/>
            <a:ext cx="6504840" cy="18756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/>
          </p:nvPr>
        </p:nvSpPr>
        <p:spPr>
          <a:xfrm>
            <a:off x="0" y="461520"/>
            <a:ext cx="4606560" cy="1517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Открытый текст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java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Ключ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key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Шифротекст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tetk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6" name="Рисунок 4"/>
          <p:cNvPicPr/>
          <p:nvPr/>
        </p:nvPicPr>
        <p:blipFill>
          <a:blip r:embed="rId3"/>
          <a:stretch/>
        </p:blipFill>
        <p:spPr>
          <a:xfrm>
            <a:off x="4220280" y="461520"/>
            <a:ext cx="7856280" cy="3925080"/>
          </a:xfrm>
          <a:prstGeom prst="rect">
            <a:avLst/>
          </a:prstGeom>
          <a:ln w="0">
            <a:noFill/>
          </a:ln>
        </p:spPr>
      </p:pic>
      <p:pic>
        <p:nvPicPr>
          <p:cNvPr id="97" name="Рисунок 6"/>
          <p:cNvPicPr/>
          <p:nvPr/>
        </p:nvPicPr>
        <p:blipFill>
          <a:blip r:embed="rId4"/>
          <a:stretch/>
        </p:blipFill>
        <p:spPr>
          <a:xfrm>
            <a:off x="2852640" y="4692240"/>
            <a:ext cx="6485760" cy="18187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ru-RU" sz="4400" b="0" strike="noStrike" spc="-1">
                <a:solidFill>
                  <a:schemeClr val="dk1"/>
                </a:solidFill>
                <a:latin typeface="Calibri Light"/>
              </a:rPr>
              <a:t>Внешняя спецификация алгоритма расшифрования </a:t>
            </a: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Vigenere</a:t>
            </a: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6666"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Назначение: восстановление открытого текста из шифровки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Входные данные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C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шифротекст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; p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ключ, ключевое слово.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Выходные данные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S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расшифрованное сообщение 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Ограничения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C, p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набор символов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;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Алгоритм расшифрования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Пронумеровать буквы алфавита порядковыми номерами от 0 до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n.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Повторять ключ p циклически до длины шифротекста C. Для каждого символа шифровки Cᵢ и ключа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pi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 определить его числовое значение.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Вычислить числовое значение символа открытого текста по формуле: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Sᵢ = (Cᵢ − pᵢ) mod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m,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где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m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размер алфавита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.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ru-RU" sz="4400" b="0" strike="noStrike" spc="-1">
                <a:solidFill>
                  <a:schemeClr val="dk1"/>
                </a:solidFill>
                <a:latin typeface="Calibri Light"/>
              </a:rPr>
              <a:t>Блок-схема алгоритма расшифрования </a:t>
            </a: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Vigenere</a:t>
            </a: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" name="Рисунок 4"/>
          <p:cNvPicPr/>
          <p:nvPr/>
        </p:nvPicPr>
        <p:blipFill>
          <a:blip r:embed="rId2"/>
          <a:stretch/>
        </p:blipFill>
        <p:spPr>
          <a:xfrm>
            <a:off x="5335060" y="1027440"/>
            <a:ext cx="2914560" cy="53892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strike="noStrike" spc="-1" dirty="0">
                <a:solidFill>
                  <a:schemeClr val="dk1"/>
                </a:solidFill>
                <a:latin typeface="Calibri Light"/>
              </a:rPr>
              <a:t>Hill</a:t>
            </a:r>
            <a:endParaRPr lang="ru-RU" sz="4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77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7222"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 dirty="0" err="1">
                <a:solidFill>
                  <a:schemeClr val="dk1"/>
                </a:solidFill>
                <a:latin typeface="Calibri"/>
              </a:rPr>
              <a:t>Hill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 — классический полиграфический шифр подстановки. При его использовании символы открытого текста преобразуются в другие символы с помощью матричного умножения.</a:t>
            </a:r>
            <a:endParaRPr lang="ru-RU" sz="28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Ключом является квадратная обратимая матрица размера </a:t>
            </a:r>
            <a:r>
              <a:rPr lang="en-US" sz="2800" b="0" strike="noStrike" spc="-1" dirty="0">
                <a:solidFill>
                  <a:schemeClr val="dk1"/>
                </a:solidFill>
                <a:latin typeface="Calibri"/>
              </a:rPr>
              <a:t>k * k. 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Открытый текст переводится в числовую последовательность в соответствии с выбранным алфавитом и разбивается на блоки по </a:t>
            </a:r>
            <a:r>
              <a:rPr lang="en-US" sz="2800" b="0" strike="noStrike" spc="-1" dirty="0">
                <a:solidFill>
                  <a:schemeClr val="dk1"/>
                </a:solidFill>
                <a:latin typeface="Calibri"/>
              </a:rPr>
              <a:t>k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 символов</a:t>
            </a:r>
            <a:r>
              <a:rPr lang="en-US" sz="2800" b="0" strike="noStrike" spc="-1" dirty="0">
                <a:solidFill>
                  <a:schemeClr val="dk1"/>
                </a:solidFill>
                <a:latin typeface="Calibri"/>
              </a:rPr>
              <a:t> (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если текст не делится на блоки, добавляется доп. символ </a:t>
            </a:r>
            <a:r>
              <a:rPr lang="en-US" sz="2800" b="0" strike="noStrike" spc="-1" dirty="0">
                <a:solidFill>
                  <a:schemeClr val="dk1"/>
                </a:solidFill>
                <a:latin typeface="Calibri"/>
              </a:rPr>
              <a:t>x)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.</a:t>
            </a:r>
            <a:r>
              <a:rPr lang="en-US" sz="2800" b="0" strike="noStrike" spc="-1" dirty="0">
                <a:solidFill>
                  <a:schemeClr val="dk1"/>
                </a:solidFill>
                <a:latin typeface="Calibri"/>
              </a:rPr>
              <a:t> 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Каждый блок открытого текста из </a:t>
            </a:r>
            <a:r>
              <a:rPr lang="en-US" sz="2800" b="0" strike="noStrike" spc="-1" dirty="0">
                <a:solidFill>
                  <a:schemeClr val="dk1"/>
                </a:solidFill>
                <a:latin typeface="Calibri"/>
              </a:rPr>
              <a:t>k 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символов представляется в виде столбца матрицы. Данная матрица умножается на ключ и результат делится по модулю на размер алфавита, из нее получается шифровка.</a:t>
            </a:r>
            <a:endParaRPr lang="ru-RU" sz="28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Сложность атаки методом грубой силы</a:t>
            </a:r>
            <a:r>
              <a:rPr lang="en-US" sz="2800" b="0" strike="noStrike" spc="-1" dirty="0">
                <a:solidFill>
                  <a:schemeClr val="dk1"/>
                </a:solidFill>
                <a:latin typeface="Calibri"/>
              </a:rPr>
              <a:t>: O(n^(k*k)), 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где </a:t>
            </a:r>
            <a:r>
              <a:rPr lang="en-US" sz="2800" b="0" strike="noStrike" spc="-1" dirty="0">
                <a:solidFill>
                  <a:schemeClr val="dk1"/>
                </a:solidFill>
                <a:latin typeface="Calibri"/>
              </a:rPr>
              <a:t>n – 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мощность алфавита</a:t>
            </a:r>
            <a:r>
              <a:rPr lang="en-US" sz="2800" b="0" strike="noStrike" spc="-1" dirty="0">
                <a:solidFill>
                  <a:schemeClr val="dk1"/>
                </a:solidFill>
                <a:latin typeface="Calibri"/>
              </a:rPr>
              <a:t>, k – 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размер блока. Возможна атака на основе знания исходного текста.</a:t>
            </a:r>
            <a:endParaRPr lang="ru-RU" sz="28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ru-RU" sz="28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/>
          </p:nvPr>
        </p:nvSpPr>
        <p:spPr>
          <a:xfrm>
            <a:off x="838080" y="461520"/>
            <a:ext cx="3917520" cy="331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6666" lnSpcReduction="10000"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Открытый текст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danilaiv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Ключ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 2 15 22  3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 1  9  1 12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16  7 13 11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 8  5  9  6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Шифровка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eithblra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5" name="Рисунок 5"/>
          <p:cNvPicPr/>
          <p:nvPr/>
        </p:nvPicPr>
        <p:blipFill>
          <a:blip r:embed="rId3"/>
          <a:stretch/>
        </p:blipFill>
        <p:spPr>
          <a:xfrm>
            <a:off x="763560" y="4841280"/>
            <a:ext cx="4535280" cy="1660320"/>
          </a:xfrm>
          <a:prstGeom prst="rect">
            <a:avLst/>
          </a:prstGeom>
          <a:ln w="0">
            <a:noFill/>
          </a:ln>
        </p:spPr>
      </p:pic>
      <p:pic>
        <p:nvPicPr>
          <p:cNvPr id="106" name="Рисунок 6"/>
          <p:cNvPicPr/>
          <p:nvPr/>
        </p:nvPicPr>
        <p:blipFill>
          <a:blip r:embed="rId4"/>
          <a:stretch/>
        </p:blipFill>
        <p:spPr>
          <a:xfrm>
            <a:off x="4664160" y="8280"/>
            <a:ext cx="7369560" cy="48322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/>
          </p:nvPr>
        </p:nvSpPr>
        <p:spPr>
          <a:xfrm>
            <a:off x="838080" y="461520"/>
            <a:ext cx="3917520" cy="331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6666" lnSpcReduction="10000"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Открытый текст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danila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Ключ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 2 15 22  3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 1  9  1 12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16  7 13 11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 8  5  9  6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Шифровка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eithzyar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8" name="Рисунок 4"/>
          <p:cNvPicPr/>
          <p:nvPr/>
        </p:nvPicPr>
        <p:blipFill>
          <a:blip r:embed="rId3"/>
          <a:stretch/>
        </p:blipFill>
        <p:spPr>
          <a:xfrm>
            <a:off x="4756680" y="44640"/>
            <a:ext cx="7337880" cy="4796280"/>
          </a:xfrm>
          <a:prstGeom prst="rect">
            <a:avLst/>
          </a:prstGeom>
          <a:ln w="0">
            <a:noFill/>
          </a:ln>
        </p:spPr>
      </p:pic>
      <p:pic>
        <p:nvPicPr>
          <p:cNvPr id="109" name="Рисунок 6"/>
          <p:cNvPicPr/>
          <p:nvPr/>
        </p:nvPicPr>
        <p:blipFill>
          <a:blip r:embed="rId4"/>
          <a:stretch/>
        </p:blipFill>
        <p:spPr>
          <a:xfrm>
            <a:off x="521640" y="4844520"/>
            <a:ext cx="5114880" cy="1852560"/>
          </a:xfrm>
          <a:prstGeom prst="rect">
            <a:avLst/>
          </a:prstGeom>
          <a:ln w="0">
            <a:noFill/>
          </a:ln>
        </p:spPr>
      </p:pic>
      <p:pic>
        <p:nvPicPr>
          <p:cNvPr id="110" name="Рисунок 1"/>
          <p:cNvPicPr/>
          <p:nvPr/>
        </p:nvPicPr>
        <p:blipFill>
          <a:blip r:embed="rId5"/>
          <a:stretch/>
        </p:blipFill>
        <p:spPr>
          <a:xfrm>
            <a:off x="5869080" y="5285520"/>
            <a:ext cx="6123960" cy="9709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ru-RU" sz="4400" b="0" strike="noStrike" spc="-1">
                <a:solidFill>
                  <a:schemeClr val="dk1"/>
                </a:solidFill>
                <a:latin typeface="Calibri Light"/>
              </a:rPr>
              <a:t>Внешняя спецификация алгоритма расшифрования </a:t>
            </a: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Hill</a:t>
            </a: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7499" lnSpcReduction="10000"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Назначение: восстановление открытого текста из шифровки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Входные данные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C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шифровка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; K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ключ, матрица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размером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k*k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.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Выходные данные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S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расшифрованное сообщение 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Ограничения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K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квадратная обратимая матрица по модулю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m,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где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m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размер алфавита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Алгоритм расшифрования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Пронумеровать буквы алфавита порядковыми номерами от 0 до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n.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Разбить шифровку на блоки по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k.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Каждый блок представить в виде столбца матрицы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P.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Получить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R = (K^-1 * P) mod m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и перевести числовые значения в символы алфавита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.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Каждый столбец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R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блок открытого текста.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ru-RU" sz="4400" b="0" strike="noStrike" spc="-1">
                <a:solidFill>
                  <a:schemeClr val="dk1"/>
                </a:solidFill>
                <a:latin typeface="Calibri Light"/>
              </a:rPr>
              <a:t>Блок-схема алгоритма расшифрования </a:t>
            </a: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Hill</a:t>
            </a: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4" name="Рисунок 3"/>
          <p:cNvPicPr/>
          <p:nvPr/>
        </p:nvPicPr>
        <p:blipFill>
          <a:blip r:embed="rId2"/>
          <a:stretch/>
        </p:blipFill>
        <p:spPr>
          <a:xfrm>
            <a:off x="3917520" y="1468440"/>
            <a:ext cx="5293440" cy="51958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ADFGVX</a:t>
            </a: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838080" y="1442880"/>
            <a:ext cx="10514880" cy="514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4722" lnSpcReduction="10000"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ADFGVX — классический фракционный перестановочный шифр.</a:t>
            </a:r>
            <a:endParaRPr lang="ru-RU" sz="28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Ключами являются пароль подстановки и пароль перестановки.</a:t>
            </a:r>
            <a:endParaRPr lang="ru-RU" sz="28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Пароль </a:t>
            </a:r>
            <a:r>
              <a:rPr lang="ru-RU" sz="2800" b="0" u="sng" strike="noStrike" spc="-1" dirty="0">
                <a:solidFill>
                  <a:schemeClr val="dk1"/>
                </a:solidFill>
                <a:uFillTx/>
                <a:latin typeface="Calibri"/>
              </a:rPr>
              <a:t>подстановки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 смещает алфавит внутри таблицы </a:t>
            </a:r>
            <a:r>
              <a:rPr lang="en-US" sz="2800" b="0" strike="noStrike" spc="-1" dirty="0">
                <a:solidFill>
                  <a:schemeClr val="dk1"/>
                </a:solidFill>
                <a:latin typeface="Calibri"/>
              </a:rPr>
              <a:t>ADFGVX: 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сначала идут символы пароля затем остальной алфавит. С помощью таблицы каждому символу исходного сообщения ставится в соответствие пара символов из набора A, D, F, G, V, X.</a:t>
            </a:r>
            <a:endParaRPr lang="ru-RU" sz="28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После подстановки полученная последовательность символов записывается в таблицу с количеством столбцов, равным длине пароля перестановки. Пароль </a:t>
            </a:r>
            <a:r>
              <a:rPr lang="ru-RU" sz="2800" b="0" u="sng" strike="noStrike" spc="-1" dirty="0">
                <a:solidFill>
                  <a:schemeClr val="dk1"/>
                </a:solidFill>
                <a:uFillTx/>
                <a:latin typeface="Calibri"/>
              </a:rPr>
              <a:t>перестановки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 определяет порядок перестановки столбцов таблицы. После перестановки символы считываются по столбцам, формируя зашифрованное сообщение.</a:t>
            </a:r>
            <a:endParaRPr lang="ru-RU" sz="28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Сложность атаки методом грубой силы</a:t>
            </a:r>
            <a:r>
              <a:rPr lang="en-US" sz="2800" b="0" strike="noStrike" spc="-1" dirty="0">
                <a:solidFill>
                  <a:schemeClr val="dk1"/>
                </a:solidFill>
                <a:latin typeface="Calibri"/>
              </a:rPr>
              <a:t>: O(n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! * </a:t>
            </a:r>
            <a:r>
              <a:rPr lang="en-US" sz="2800" b="0" strike="noStrike" spc="-1" dirty="0">
                <a:solidFill>
                  <a:schemeClr val="dk1"/>
                </a:solidFill>
                <a:latin typeface="Calibri"/>
              </a:rPr>
              <a:t>m!), 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где </a:t>
            </a:r>
            <a:r>
              <a:rPr lang="en-US" sz="2800" b="0" strike="noStrike" spc="-1" dirty="0">
                <a:solidFill>
                  <a:schemeClr val="dk1"/>
                </a:solidFill>
                <a:latin typeface="Calibri"/>
              </a:rPr>
              <a:t>n – 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мощность алфавита</a:t>
            </a:r>
            <a:r>
              <a:rPr lang="en-US" sz="2800" b="0" strike="noStrike" spc="-1" dirty="0">
                <a:solidFill>
                  <a:schemeClr val="dk1"/>
                </a:solidFill>
                <a:latin typeface="Calibri"/>
              </a:rPr>
              <a:t>, m – 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размер пароля перестановки</a:t>
            </a:r>
            <a:endParaRPr lang="ru-RU" sz="28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ru-RU" sz="28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/>
          </p:nvPr>
        </p:nvSpPr>
        <p:spPr>
          <a:xfrm>
            <a:off x="838080" y="461520"/>
            <a:ext cx="4068720" cy="331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Открытый текст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DANILAX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Ключ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подстановки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key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перестановки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BAR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Шифровка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AFVAADGDAVAFFG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8" name="Рисунок 1"/>
          <p:cNvPicPr/>
          <p:nvPr/>
        </p:nvPicPr>
        <p:blipFill>
          <a:blip r:embed="rId3"/>
          <a:stretch/>
        </p:blipFill>
        <p:spPr>
          <a:xfrm>
            <a:off x="5097600" y="239040"/>
            <a:ext cx="7043040" cy="3803760"/>
          </a:xfrm>
          <a:prstGeom prst="rect">
            <a:avLst/>
          </a:prstGeom>
          <a:ln w="0">
            <a:noFill/>
          </a:ln>
        </p:spPr>
      </p:pic>
      <p:pic>
        <p:nvPicPr>
          <p:cNvPr id="119" name="Рисунок 3"/>
          <p:cNvPicPr/>
          <p:nvPr/>
        </p:nvPicPr>
        <p:blipFill>
          <a:blip r:embed="rId4"/>
          <a:stretch/>
        </p:blipFill>
        <p:spPr>
          <a:xfrm>
            <a:off x="215280" y="4043520"/>
            <a:ext cx="4259880" cy="2456280"/>
          </a:xfrm>
          <a:prstGeom prst="rect">
            <a:avLst/>
          </a:prstGeom>
          <a:ln w="0">
            <a:noFill/>
          </a:ln>
        </p:spPr>
      </p:pic>
      <p:pic>
        <p:nvPicPr>
          <p:cNvPr id="120" name="Рисунок 4"/>
          <p:cNvPicPr/>
          <p:nvPr/>
        </p:nvPicPr>
        <p:blipFill>
          <a:blip r:embed="rId5"/>
          <a:stretch/>
        </p:blipFill>
        <p:spPr>
          <a:xfrm>
            <a:off x="5097600" y="4576680"/>
            <a:ext cx="6219000" cy="13899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ru-RU" sz="4400" b="0" strike="noStrike" spc="-1">
                <a:solidFill>
                  <a:schemeClr val="dk1"/>
                </a:solidFill>
                <a:latin typeface="Calibri Light"/>
              </a:rPr>
              <a:t>Внешняя спецификация алгоритма расшифрования </a:t>
            </a: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ADFGVX</a:t>
            </a: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503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8611" lnSpcReduction="10000"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Назначение: восстановление открытого текста из шифровки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Входные данные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C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шифровка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; K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1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ключ, пароль подстановки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; K2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ключ, пароль перестановки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; A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алфавит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 (26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латинских букв + 10 цифр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)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.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Выходные данные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S –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расшифрованное сообщение 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Ограничения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C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из символов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(A,D,F,G,V,X); 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Алгоритм расшифрования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: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Построить таблицу подстановки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T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по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K1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 и алфавиту. Построить таблицу перестановки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E(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⌈длина(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C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)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 /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длина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(K2)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⌉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строк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;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длина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(K2)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столбцов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).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Если длина(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C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)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 mod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длина(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K2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)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 != 0,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то сначала после перестановки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K2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в алфавитный порядок определить, в каких столбцах будут неполное заполнение. С учетом этого вписать шифровку в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E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сверху вниз по сортированному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K2, 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затем переставить столбцы </a:t>
            </a: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E</a:t>
            </a:r>
            <a:r>
              <a:rPr lang="ru-RU" sz="2800" b="0" strike="noStrike" spc="-1">
                <a:solidFill>
                  <a:schemeClr val="dk1"/>
                </a:solidFill>
                <a:latin typeface="Calibri"/>
              </a:rPr>
              <a:t> в соответствии с  начальным порядком. После этого читать построчно слева направо и по 2-ум символам получать итоговый символ из открытого текста.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ru-RU" sz="4400" b="0" strike="noStrike" spc="-1">
                <a:solidFill>
                  <a:schemeClr val="dk1"/>
                </a:solidFill>
                <a:latin typeface="Calibri Light"/>
              </a:rPr>
              <a:t>Блок-схема алгоритма расшифрования </a:t>
            </a: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ADFGVX</a:t>
            </a: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611DCA4-753B-472C-8308-59B30A73A7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8651" y="1376039"/>
            <a:ext cx="5401174" cy="53373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ru-RU" sz="4400" b="0" strike="noStrike" spc="-1">
                <a:solidFill>
                  <a:schemeClr val="dk1"/>
                </a:solidFill>
                <a:latin typeface="Calibri Light"/>
              </a:rPr>
              <a:t>Шифр, заданный вариантом</a:t>
            </a: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Прототип шифра векторной перестановки - это метод симметричного шифрования, в котором порядок символов открытого текста меняется на основе числового вектора-ключа, при этом сами символы не изменяются.</a:t>
            </a:r>
            <a:endParaRPr lang="ru-RU" sz="28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Ключом шифрования K является перестановка целых чисел от 1 до |</a:t>
            </a:r>
            <a:r>
              <a:rPr lang="en-US" sz="2800" b="0" strike="noStrike" spc="-1" dirty="0">
                <a:solidFill>
                  <a:schemeClr val="dk1"/>
                </a:solidFill>
                <a:latin typeface="Calibri"/>
              </a:rPr>
              <a:t>P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|, которая задает порядок следования байт в шифровке, где </a:t>
            </a:r>
            <a:r>
              <a:rPr lang="en-US" sz="2800" spc="-1" dirty="0">
                <a:solidFill>
                  <a:schemeClr val="dk1"/>
                </a:solidFill>
                <a:latin typeface="Calibri"/>
              </a:rPr>
              <a:t>P</a:t>
            </a:r>
            <a:r>
              <a:rPr lang="en-US" sz="2800" b="0" strike="noStrike" spc="-1" dirty="0">
                <a:solidFill>
                  <a:schemeClr val="dk1"/>
                </a:solidFill>
                <a:latin typeface="Calibri"/>
              </a:rPr>
              <a:t> – 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открытый текст.</a:t>
            </a:r>
            <a:endParaRPr lang="ru-RU" sz="28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Сложность атаки методом грубой силы</a:t>
            </a:r>
            <a:r>
              <a:rPr lang="en-US" sz="2800" b="0" strike="noStrike" spc="-1" dirty="0">
                <a:solidFill>
                  <a:schemeClr val="dk1"/>
                </a:solidFill>
                <a:latin typeface="Calibri"/>
              </a:rPr>
              <a:t>: O(n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!</a:t>
            </a:r>
            <a:r>
              <a:rPr lang="en-US" sz="2800" b="0" strike="noStrike" spc="-1" dirty="0">
                <a:solidFill>
                  <a:schemeClr val="dk1"/>
                </a:solidFill>
                <a:latin typeface="Calibri"/>
              </a:rPr>
              <a:t>), 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где </a:t>
            </a:r>
            <a:r>
              <a:rPr lang="en-US" sz="2800" b="0" strike="noStrike" spc="-1" dirty="0">
                <a:solidFill>
                  <a:schemeClr val="dk1"/>
                </a:solidFill>
                <a:latin typeface="Calibri"/>
              </a:rPr>
              <a:t>n – </a:t>
            </a:r>
            <a:r>
              <a:rPr lang="ru-RU" sz="2800" b="0" strike="noStrike" spc="-1" dirty="0">
                <a:solidFill>
                  <a:schemeClr val="dk1"/>
                </a:solidFill>
                <a:latin typeface="Calibri"/>
              </a:rPr>
              <a:t>длина открытого текста</a:t>
            </a:r>
            <a:endParaRPr lang="ru-RU" sz="28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ru-RU" sz="28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Рисунок 8"/>
          <p:cNvPicPr/>
          <p:nvPr/>
        </p:nvPicPr>
        <p:blipFill>
          <a:blip r:embed="rId3"/>
          <a:stretch/>
        </p:blipFill>
        <p:spPr>
          <a:xfrm>
            <a:off x="6095880" y="800280"/>
            <a:ext cx="5552280" cy="894600"/>
          </a:xfrm>
          <a:prstGeom prst="rect">
            <a:avLst/>
          </a:prstGeom>
          <a:ln w="0">
            <a:noFill/>
          </a:ln>
        </p:spPr>
      </p:pic>
      <p:pic>
        <p:nvPicPr>
          <p:cNvPr id="128" name="Рисунок 10"/>
          <p:cNvPicPr/>
          <p:nvPr/>
        </p:nvPicPr>
        <p:blipFill>
          <a:blip r:embed="rId4"/>
          <a:stretch/>
        </p:blipFill>
        <p:spPr>
          <a:xfrm>
            <a:off x="6095880" y="3097800"/>
            <a:ext cx="5390280" cy="2456640"/>
          </a:xfrm>
          <a:prstGeom prst="rect">
            <a:avLst/>
          </a:prstGeom>
          <a:ln w="0">
            <a:noFill/>
          </a:ln>
        </p:spPr>
      </p:pic>
      <p:pic>
        <p:nvPicPr>
          <p:cNvPr id="129" name="Рисунок 11"/>
          <p:cNvPicPr/>
          <p:nvPr/>
        </p:nvPicPr>
        <p:blipFill>
          <a:blip r:embed="rId5"/>
          <a:stretch/>
        </p:blipFill>
        <p:spPr>
          <a:xfrm>
            <a:off x="133200" y="349920"/>
            <a:ext cx="5762160" cy="54950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ru-RU" sz="4400" b="0" strike="noStrike" spc="-1">
                <a:solidFill>
                  <a:schemeClr val="dk1"/>
                </a:solidFill>
                <a:latin typeface="Calibri Light"/>
              </a:rPr>
              <a:t>Блок-схема алгоритма зашифрования, заданного вариантом</a:t>
            </a: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1" name="Рисунок 2"/>
          <p:cNvPicPr/>
          <p:nvPr/>
        </p:nvPicPr>
        <p:blipFill>
          <a:blip r:embed="rId2"/>
          <a:stretch/>
        </p:blipFill>
        <p:spPr>
          <a:xfrm>
            <a:off x="4347360" y="1854000"/>
            <a:ext cx="3497040" cy="41590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ru-RU" sz="4400" b="0" strike="noStrike" spc="-1">
                <a:solidFill>
                  <a:schemeClr val="dk1"/>
                </a:solidFill>
                <a:latin typeface="Calibri Light"/>
              </a:rPr>
              <a:t>Заключение</a:t>
            </a: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78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В работе получены следующие результаты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: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1) 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Изучен шифр 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Scytale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 и выявлены его следующие характеристики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: 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перестановочный шифр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, 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ключом является количество строк в табличном представлении. Сложность атаки методом грубой силы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: O(n), 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где 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n – 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длина шифротекста.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2) Изучен шифр Агентурный и выявлены его следующие характеристики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: 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шифр моноалфавитной подстановки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, 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ключом являются пароль (для формирования ключевого алфавита) и сдвиг. Сложность атаки методом грубой силы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: O(n!), 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где 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n – 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мощность алфавита.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3) Изучен шифр 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Vigenere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 и выявлены его следующие характеристики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: 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полиалфавитный шифр подстановки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, 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ключом является периодически повторяющееся ключевое слово. Сложность атаки методом грубой силы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: O(n!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 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/ (n - m)!), 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где 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n – 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мощность алфавита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, m – 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длина ключа.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4) Изучен шифр 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Hill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 и выявлены его следующие характеристики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: 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полиграфический шифр подстановки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, 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ключом является квадратная обратимая матрица размера 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k * k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. Сложность атаки методом грубой силы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: O(n^(k*k)), 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где 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n – 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мощность алфавита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, k – 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размер блока.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5) Изучен шифр ADFGVX и выявлены его следующие характеристики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: 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фракционный перестановочный шифр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, 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ключами являются пароль подстановки и пароль перестановки. 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O(n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! * 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m!), 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где 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n – 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мощность алфавита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, m – 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размер пароля перестановки.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6) Изучен прототип шифра векторной перестановки и выявлены его следующие характеристики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: 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метод симметричного шифрования, в котором порядок символов открытого текста меняется на основе числового вектора-ключа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. 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Разработан и программно реализован алгоритм шифрования</a:t>
            </a:r>
            <a:r>
              <a:rPr lang="en-US" sz="1500" b="0" strike="noStrike" spc="-1">
                <a:solidFill>
                  <a:schemeClr val="dk1"/>
                </a:solidFill>
                <a:latin typeface="Calibri"/>
              </a:rPr>
              <a:t>: </a:t>
            </a:r>
            <a:r>
              <a:rPr lang="ru-RU" sz="1500" b="0" strike="noStrike" spc="-1">
                <a:solidFill>
                  <a:schemeClr val="dk1"/>
                </a:solidFill>
                <a:latin typeface="Calibri"/>
              </a:rPr>
              <a:t>на вход подаются открытый текст, алфавит, ключ, на выходе получается шифровка.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3124</TotalTime>
  <Words>1806</Words>
  <Application>Microsoft Office PowerPoint</Application>
  <PresentationFormat>Широкоэкранный</PresentationFormat>
  <Paragraphs>157</Paragraphs>
  <Slides>32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11</vt:i4>
      </vt:variant>
      <vt:variant>
        <vt:lpstr>Заголовки слайдов</vt:lpstr>
      </vt:variant>
      <vt:variant>
        <vt:i4>32</vt:i4>
      </vt:variant>
    </vt:vector>
  </HeadingPairs>
  <TitlesOfParts>
    <vt:vector size="49" baseType="lpstr">
      <vt:lpstr>Arial</vt:lpstr>
      <vt:lpstr>Calibri</vt:lpstr>
      <vt:lpstr>Calibri Light</vt:lpstr>
      <vt:lpstr>Symbol</vt:lpstr>
      <vt:lpstr>Times New Roman</vt:lpstr>
      <vt:lpstr>Wingdings</vt:lpstr>
      <vt:lpstr>Тема Office</vt:lpstr>
      <vt:lpstr>Тема Office</vt:lpstr>
      <vt:lpstr>Тема Office</vt:lpstr>
      <vt:lpstr>Тема Office</vt:lpstr>
      <vt:lpstr>Тема Office</vt:lpstr>
      <vt:lpstr>Тема Office</vt:lpstr>
      <vt:lpstr>Тема Office</vt:lpstr>
      <vt:lpstr>Тема Office</vt:lpstr>
      <vt:lpstr>Тема Office</vt:lpstr>
      <vt:lpstr>Тема Office</vt:lpstr>
      <vt:lpstr>Тема Office</vt:lpstr>
      <vt:lpstr>Презентация PowerPoint</vt:lpstr>
      <vt:lpstr>Презентация PowerPoint</vt:lpstr>
      <vt:lpstr>Scytale</vt:lpstr>
      <vt:lpstr>Презентация PowerPoint</vt:lpstr>
      <vt:lpstr>Презентация PowerPoint</vt:lpstr>
      <vt:lpstr>Презентация PowerPoint</vt:lpstr>
      <vt:lpstr>Внешняя спецификация алгоритма расшифрования Scytale</vt:lpstr>
      <vt:lpstr>Блок-схема алгоритма расшифрования Scytale</vt:lpstr>
      <vt:lpstr>Агентурный шифр</vt:lpstr>
      <vt:lpstr>Презентация PowerPoint</vt:lpstr>
      <vt:lpstr>Презентация PowerPoint</vt:lpstr>
      <vt:lpstr>Презентация PowerPoint</vt:lpstr>
      <vt:lpstr>Внешняя спецификация алгоритма расшифрования Агентурного шифра</vt:lpstr>
      <vt:lpstr>Блок-схема алгоритма расшифрования Агентурного шифра</vt:lpstr>
      <vt:lpstr>Vigenere</vt:lpstr>
      <vt:lpstr>Презентация PowerPoint</vt:lpstr>
      <vt:lpstr>Презентация PowerPoint</vt:lpstr>
      <vt:lpstr>Внешняя спецификация алгоритма расшифрования Vigenere</vt:lpstr>
      <vt:lpstr>Блок-схема алгоритма расшифрования Vigenere</vt:lpstr>
      <vt:lpstr>Hill</vt:lpstr>
      <vt:lpstr>Презентация PowerPoint</vt:lpstr>
      <vt:lpstr>Презентация PowerPoint</vt:lpstr>
      <vt:lpstr>Внешняя спецификация алгоритма расшифрования Hill</vt:lpstr>
      <vt:lpstr>Блок-схема алгоритма расшифрования Hill</vt:lpstr>
      <vt:lpstr>ADFGVX</vt:lpstr>
      <vt:lpstr>Презентация PowerPoint</vt:lpstr>
      <vt:lpstr>Внешняя спецификация алгоритма расшифрования ADFGVX</vt:lpstr>
      <vt:lpstr>Блок-схема алгоритма расшифрования ADFGVX</vt:lpstr>
      <vt:lpstr>Шифр, заданный вариантом</vt:lpstr>
      <vt:lpstr>Презентация PowerPoint</vt:lpstr>
      <vt:lpstr>Блок-схема алгоритма зашифрования, заданного вариантом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Danila Ivanov</dc:creator>
  <dc:description/>
  <cp:lastModifiedBy>Danila Ivanov</cp:lastModifiedBy>
  <cp:revision>71</cp:revision>
  <cp:lastPrinted>2026-09-28T18:33:12Z</cp:lastPrinted>
  <dcterms:created xsi:type="dcterms:W3CDTF">2026-09-19T12:55:56Z</dcterms:created>
  <dcterms:modified xsi:type="dcterms:W3CDTF">2026-09-28T21:23:22Z</dcterms:modified>
  <dc:language>ru-RU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Широкоэкранный</vt:lpwstr>
  </property>
  <property fmtid="{D5CDD505-2E9C-101B-9397-08002B2CF9AE}" pid="4" name="Slides">
    <vt:i4>32</vt:i4>
  </property>
</Properties>
</file>