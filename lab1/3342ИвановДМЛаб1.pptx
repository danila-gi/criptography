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7.png" ContentType="image/png"/>
  <Override PartName="/ppt/media/image16.png" ContentType="image/png"/>
  <Override PartName="/ppt/media/image11.png" ContentType="image/png"/>
  <Override PartName="/ppt/media/image2.png" ContentType="image/png"/>
  <Override PartName="/ppt/media/image17.png" ContentType="image/png"/>
  <Override PartName="/ppt/media/image8.png" ContentType="image/png"/>
  <Override PartName="/ppt/media/image3.png" ContentType="image/png"/>
  <Override PartName="/ppt/media/image12.png" ContentType="image/png"/>
  <Override PartName="/ppt/media/image18.png" ContentType="image/png"/>
  <Override PartName="/ppt/media/image20.png" ContentType="image/png"/>
  <Override PartName="/ppt/media/image9.png" ContentType="image/png"/>
  <Override PartName="/ppt/media/image4.png" ContentType="image/png"/>
  <Override PartName="/ppt/media/image13.png" ContentType="image/png"/>
  <Override PartName="/ppt/media/image30.png" ContentType="image/png"/>
  <Override PartName="/ppt/media/image28.png" ContentType="image/png"/>
  <Override PartName="/ppt/media/image10.png" ContentType="image/png"/>
  <Override PartName="/ppt/media/image1.png" ContentType="image/png"/>
  <Override PartName="/ppt/media/image6.png" ContentType="image/png"/>
  <Override PartName="/ppt/media/image15.png" ContentType="image/png"/>
  <Override PartName="/ppt/media/image5.png" ContentType="image/png"/>
  <Override PartName="/ppt/media/image14.png" ContentType="image/png"/>
  <Override PartName="/ppt/media/image19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27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_rels/notesSlide30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10.xml.rels" ContentType="application/vnd.openxmlformats-package.relationship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перемещения страницы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&lt;верхний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81FF73C-13C9-4D31-88C7-A25F05A311EE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19156B-2AE7-4BCC-9F64-D879DC3CAA28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843DB9-A56E-4593-BAD4-E091F6F813F7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DEE86E-7277-4533-BF89-C8C7C471556A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837E60-7AC3-42C1-91C3-C25009BB934E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C2B47C-6C42-413C-B3DF-C324B92DFA56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CF29E52-6F88-448F-A997-B4512D5DE86D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EC17DB-2C8E-45D8-B2F3-13E0F41E7943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6901A1-1FB7-4A11-AF8B-80E60F631BF5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8294DC-A325-4157-89EF-CE577B3C2AA7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9F79888-E724-4D12-BA88-937F7E530F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EFDC634-2D54-4404-A6E6-4AE09AC49E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0851078-7C2B-4A18-8960-D5D55DDDF0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502D3AB-9180-453C-BA77-D1D6A25733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60D4414-0A4B-4E51-A860-225A79AE7F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86D6209-5801-4BD2-B6AA-90482099F1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84B3305A-14F0-4527-A3BB-DCFFB3B4CBD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1A47BA19-1E43-4067-9749-1DC0BDD2FD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1044825-5494-4374-9EB5-998613D5FB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87A02CD0-99E8-4747-9931-1F9BD638DA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E15D90CB-F744-4ED6-8BA0-75BDB9362F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354CF88-C397-40D8-BDA4-9FB735EF2122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</a:t>
            </a: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структуры </a:t>
            </a: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</a:t>
            </a: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</a:t>
            </a: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уровень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уровень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уровень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ой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уровен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ь 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структ</a:t>
            </a: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A20983B-B38E-4280-BF1D-F1BB3E476624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EB4EE99-03C2-41E6-8A56-19CB960369A5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1DA3C5-F4D7-451D-8F01-D9EB0FE34C53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B9D67E-7B16-4879-A16E-EB966A0C0E19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2F02917-A8D5-4181-AB6A-9293C22AB2D7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5AD9E69-0922-4396-8955-AD1A6B01AA59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F1CBAFE-7505-48B2-AD1D-792213D304C3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87E0FBE-D962-4374-AAEC-4B43B0F6D820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44152D-07A4-4BE1-B867-4840F7040969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4C6A1BB-4A87-4420-A55D-9C77C84E962D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1920960" y="3573720"/>
            <a:ext cx="9238680" cy="214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Студент: _______________ Иванов Данила , группа 3342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25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Руководитель:___________ Племянников А.К., доцент каф. ИБ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3"/>
          <p:cNvSpPr/>
          <p:nvPr/>
        </p:nvSpPr>
        <p:spPr>
          <a:xfrm>
            <a:off x="1523880" y="343080"/>
            <a:ext cx="91432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Санкт-Петербургский государственный электротехнический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университет «ЛЭТИ» им. В.И. Ульянова (Ленина)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4"/>
          <p:cNvSpPr/>
          <p:nvPr/>
        </p:nvSpPr>
        <p:spPr>
          <a:xfrm>
            <a:off x="1523880" y="1731240"/>
            <a:ext cx="9143280" cy="9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Лабораторная №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1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i="1" lang="ru-RU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i="1" lang="ru-RU" sz="2800" spc="-1" strike="noStrike">
                <a:solidFill>
                  <a:schemeClr val="dk1"/>
                </a:solidFill>
                <a:latin typeface="Calibri"/>
              </a:rPr>
              <a:t>Изучение классических шифров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Box 5"/>
          <p:cNvSpPr/>
          <p:nvPr/>
        </p:nvSpPr>
        <p:spPr>
          <a:xfrm>
            <a:off x="1523880" y="5868720"/>
            <a:ext cx="9143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Сант-Петербург 2026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/>
          </p:nvPr>
        </p:nvSpPr>
        <p:spPr>
          <a:xfrm>
            <a:off x="838080" y="582840"/>
            <a:ext cx="10514880" cy="591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Цель.</a:t>
            </a: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 Повышение компетентности в области зашифрования и расшифрования с помощью таких классических шрифтов, как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"Scytale", "</a:t>
            </a: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Агентурный", "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Vigenere", "Hill", "ADFGVX"</a:t>
            </a: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Для достижения поставленной цели предстояло решить следующие основные задачи: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1) </a:t>
            </a: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Изучить шифр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"Scytale"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2) Изучить шифр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"</a:t>
            </a: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Агентурный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"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3) Изучить шифр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"Vigenere"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4) Изучить шифр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"Hill"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5) Изучить шифр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"ADFGVX"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6) Изучить шифр, заданный вариантом.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Scytale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Scytale - классический перестановочный шифр. При его использовании изменяется порядок символов исходного сообщения.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Ключом является количество строк в табличном представлении алгоритма.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Количество столбцов будет вычисляться, как ⌈n / k⌉, где n - длина открытого текста, k - ключ.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Сложность атаки методом грубой силы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O(n),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где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длина шифротекста.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/>
          </p:nvPr>
        </p:nvSpPr>
        <p:spPr>
          <a:xfrm>
            <a:off x="838080" y="461520"/>
            <a:ext cx="3768480" cy="571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Открытый 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danila (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6 символов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7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danila_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Рисунок 3" descr=""/>
          <p:cNvPicPr/>
          <p:nvPr/>
        </p:nvPicPr>
        <p:blipFill>
          <a:blip r:embed="rId1"/>
          <a:stretch/>
        </p:blipFill>
        <p:spPr>
          <a:xfrm>
            <a:off x="5859360" y="461520"/>
            <a:ext cx="5134680" cy="290052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64" name="Таблица 5"/>
          <p:cNvGraphicFramePr/>
          <p:nvPr/>
        </p:nvGraphicFramePr>
        <p:xfrm>
          <a:off x="7756200" y="3693600"/>
          <a:ext cx="1341000" cy="2819880"/>
        </p:xfrm>
        <a:graphic>
          <a:graphicData uri="http://schemas.openxmlformats.org/drawingml/2006/table">
            <a:tbl>
              <a:tblPr/>
              <a:tblGrid>
                <a:gridCol w="134136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d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a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n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i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l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a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/>
          </p:nvPr>
        </p:nvSpPr>
        <p:spPr>
          <a:xfrm>
            <a:off x="838080" y="461520"/>
            <a:ext cx="3967920" cy="571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Открытый 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danila (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6 символов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5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dnl__aia__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6" name="Таблица 5"/>
          <p:cNvGraphicFramePr/>
          <p:nvPr/>
        </p:nvGraphicFramePr>
        <p:xfrm>
          <a:off x="7756200" y="3693600"/>
          <a:ext cx="1884600" cy="2014200"/>
        </p:xfrm>
        <a:graphic>
          <a:graphicData uri="http://schemas.openxmlformats.org/drawingml/2006/table">
            <a:tbl>
              <a:tblPr/>
              <a:tblGrid>
                <a:gridCol w="942480"/>
                <a:gridCol w="94248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d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a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n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i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l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a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-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67" name="Рисунок 7" descr=""/>
          <p:cNvPicPr/>
          <p:nvPr/>
        </p:nvPicPr>
        <p:blipFill>
          <a:blip r:embed="rId1"/>
          <a:stretch/>
        </p:blipFill>
        <p:spPr>
          <a:xfrm>
            <a:off x="5865120" y="485640"/>
            <a:ext cx="5122440" cy="2833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/>
          </p:nvPr>
        </p:nvSpPr>
        <p:spPr>
          <a:xfrm>
            <a:off x="838080" y="461520"/>
            <a:ext cx="3768480" cy="571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Открытый 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danila (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6 символов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)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2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dialna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9" name="Таблица 5"/>
          <p:cNvGraphicFramePr/>
          <p:nvPr/>
        </p:nvGraphicFramePr>
        <p:xfrm>
          <a:off x="7250040" y="4048920"/>
          <a:ext cx="3135960" cy="805680"/>
        </p:xfrm>
        <a:graphic>
          <a:graphicData uri="http://schemas.openxmlformats.org/drawingml/2006/table">
            <a:tbl>
              <a:tblPr/>
              <a:tblGrid>
                <a:gridCol w="1045440"/>
                <a:gridCol w="1045440"/>
                <a:gridCol w="104544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d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a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n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i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l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a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0" name="Рисунок 1" descr=""/>
          <p:cNvPicPr/>
          <p:nvPr/>
        </p:nvPicPr>
        <p:blipFill>
          <a:blip r:embed="rId1"/>
          <a:stretch/>
        </p:blipFill>
        <p:spPr>
          <a:xfrm>
            <a:off x="5950440" y="461520"/>
            <a:ext cx="5310000" cy="2884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Внешняя спецификация алгоритма расшифрования Scytale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Назначение: восстановление открытого текста из шифровки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Входные данные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C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; k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Выходные данные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S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расшифрованное сообщение 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Ограничения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C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набор символов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;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k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целое положительное число.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Алгоритм расшифрования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Строится таблица размером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строк и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⌈n / k⌉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столбцов, где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длина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C.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Шифротекст записывается по столбцам сверху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вниз, начиная с левого столбца. После этого текст читается построчно, это и будет восстановленный открытый текст.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Блок-схема алгоритма расшифрования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Scytale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Рисунок 2" descr=""/>
          <p:cNvPicPr/>
          <p:nvPr/>
        </p:nvPicPr>
        <p:blipFill>
          <a:blip r:embed="rId1"/>
          <a:stretch/>
        </p:blipFill>
        <p:spPr>
          <a:xfrm>
            <a:off x="5850000" y="1828800"/>
            <a:ext cx="4949640" cy="447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Агентурный шифр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777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Агентурный шифр замены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-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классический шифр моноалфавитной подстановки. При его использовании каждый символ исходного сообщения заменяется другим символом в соответствии с заданным ключом.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Ключом являются пароль и сдвиг.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Пароль используется для формирования ключевого алфавита: сначала записываются уникальные символы пароля, затем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-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оставшиеся символы алфавита.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Сдвиг определяет, на какое количество позиций смещается полученный ключевой алфавит при формировании таблицы замены.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Сложность атаки методом грубой силы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O(n!),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где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мощность алфавита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Возможна атака методом частотного анализа.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/>
          </p:nvPr>
        </p:nvSpPr>
        <p:spPr>
          <a:xfrm>
            <a:off x="360000" y="461520"/>
            <a:ext cx="4246560" cy="277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Открытый 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danila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python; 0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hpicfp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Рисунок 5" descr=""/>
          <p:cNvPicPr/>
          <p:nvPr/>
        </p:nvPicPr>
        <p:blipFill>
          <a:blip r:embed="rId1"/>
          <a:stretch/>
        </p:blipFill>
        <p:spPr>
          <a:xfrm>
            <a:off x="4527720" y="461520"/>
            <a:ext cx="7560000" cy="4065120"/>
          </a:xfrm>
          <a:prstGeom prst="rect">
            <a:avLst/>
          </a:prstGeom>
          <a:ln w="0">
            <a:noFill/>
          </a:ln>
        </p:spPr>
      </p:pic>
      <p:pic>
        <p:nvPicPr>
          <p:cNvPr id="79" name="Рисунок 6" descr=""/>
          <p:cNvPicPr/>
          <p:nvPr/>
        </p:nvPicPr>
        <p:blipFill>
          <a:blip r:embed="rId2"/>
          <a:stretch/>
        </p:blipFill>
        <p:spPr>
          <a:xfrm>
            <a:off x="1414800" y="5125680"/>
            <a:ext cx="9361800" cy="715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/>
          </p:nvPr>
        </p:nvSpPr>
        <p:spPr>
          <a:xfrm>
            <a:off x="180000" y="461520"/>
            <a:ext cx="4426560" cy="151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Открытый 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danila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python;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2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ntkeit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Рисунок 1" descr=""/>
          <p:cNvPicPr/>
          <p:nvPr/>
        </p:nvPicPr>
        <p:blipFill>
          <a:blip r:embed="rId1"/>
          <a:stretch/>
        </p:blipFill>
        <p:spPr>
          <a:xfrm>
            <a:off x="4492080" y="461520"/>
            <a:ext cx="7620840" cy="4091760"/>
          </a:xfrm>
          <a:prstGeom prst="rect">
            <a:avLst/>
          </a:prstGeom>
          <a:ln w="0">
            <a:noFill/>
          </a:ln>
        </p:spPr>
      </p:pic>
      <p:pic>
        <p:nvPicPr>
          <p:cNvPr id="82" name="Рисунок 3" descr=""/>
          <p:cNvPicPr/>
          <p:nvPr/>
        </p:nvPicPr>
        <p:blipFill>
          <a:blip r:embed="rId2"/>
          <a:stretch/>
        </p:blipFill>
        <p:spPr>
          <a:xfrm>
            <a:off x="1414800" y="5330160"/>
            <a:ext cx="9361800" cy="71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/>
          </p:nvPr>
        </p:nvSpPr>
        <p:spPr>
          <a:xfrm>
            <a:off x="838080" y="461520"/>
            <a:ext cx="3768480" cy="151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Открытый 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xyz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python; 1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xzp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Рисунок 3" descr=""/>
          <p:cNvPicPr/>
          <p:nvPr/>
        </p:nvPicPr>
        <p:blipFill>
          <a:blip r:embed="rId1"/>
          <a:stretch/>
        </p:blipFill>
        <p:spPr>
          <a:xfrm>
            <a:off x="4500360" y="461520"/>
            <a:ext cx="7620840" cy="4097520"/>
          </a:xfrm>
          <a:prstGeom prst="rect">
            <a:avLst/>
          </a:prstGeom>
          <a:ln w="0">
            <a:noFill/>
          </a:ln>
        </p:spPr>
      </p:pic>
      <p:pic>
        <p:nvPicPr>
          <p:cNvPr id="85" name="Рисунок 4" descr=""/>
          <p:cNvPicPr/>
          <p:nvPr/>
        </p:nvPicPr>
        <p:blipFill>
          <a:blip r:embed="rId2"/>
          <a:stretch/>
        </p:blipFill>
        <p:spPr>
          <a:xfrm>
            <a:off x="1414800" y="5288760"/>
            <a:ext cx="9361800" cy="742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Внешняя спецификация алгоритма расшифрования Агентурного шифра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222" lnSpcReduction="10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Назначение: восстановление открытого текста из шифровки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Входные данные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C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; s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сдвиг алфавита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; p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ключ, пароль.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Выходные данные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S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расшифрованное сообщение 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Ограничения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C, p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набор символов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;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целое неотрицательное число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;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Алгоритм расшифрования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Сформировать ключевой алфавит на основе пароля p: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удалить повторяющиеся символы из p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дописать символы исходного алфавита, отсутствующие в p.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Выполнить обратный сдвиг полученного ключевого алфавита на s позиций.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каждого символа шифровки C определить его положение в полученном алфавите и записать найденный символы в строку S.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Блок-схема алгоритма расшифрования Агентурного шифра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Рисунок 2" descr=""/>
          <p:cNvPicPr/>
          <p:nvPr/>
        </p:nvPicPr>
        <p:blipFill>
          <a:blip r:embed="rId1"/>
          <a:stretch/>
        </p:blipFill>
        <p:spPr>
          <a:xfrm>
            <a:off x="4390200" y="1800000"/>
            <a:ext cx="2809440" cy="4964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Vigenere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222" lnSpcReduction="10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Vigenere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- классический полиалфавитный шифр подстановки. При его использовании изменяются символы исходного сообщения в соответствии с ключом.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Ключом является периодически повторяющееся ключевое слово.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шифрования каждый символ открытого текста складывается с соответствующим символом ключа по модулю размера алфавита. Полученный символ добавляется в шифротекст. Если ключ короче открытого текста, он циклически повторяется до необходимой длины.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Сложность атаки методом грубой силы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O(n!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/ (n - m)!),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где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мощность алфавита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m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длина ключа. Возможна атака через автокорреляционный и статистический методы.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/>
          </p:nvPr>
        </p:nvSpPr>
        <p:spPr>
          <a:xfrm>
            <a:off x="180000" y="461520"/>
            <a:ext cx="4426560" cy="151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Открытый 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danila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key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nelspy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Рисунок 1" descr=""/>
          <p:cNvPicPr/>
          <p:nvPr/>
        </p:nvPicPr>
        <p:blipFill>
          <a:blip r:embed="rId1"/>
          <a:stretch/>
        </p:blipFill>
        <p:spPr>
          <a:xfrm>
            <a:off x="4607640" y="461520"/>
            <a:ext cx="7443000" cy="3716280"/>
          </a:xfrm>
          <a:prstGeom prst="rect">
            <a:avLst/>
          </a:prstGeom>
          <a:ln w="0">
            <a:noFill/>
          </a:ln>
        </p:spPr>
      </p:pic>
      <p:pic>
        <p:nvPicPr>
          <p:cNvPr id="94" name="Рисунок 4" descr=""/>
          <p:cNvPicPr/>
          <p:nvPr/>
        </p:nvPicPr>
        <p:blipFill>
          <a:blip r:embed="rId2"/>
          <a:stretch/>
        </p:blipFill>
        <p:spPr>
          <a:xfrm>
            <a:off x="2843280" y="4579560"/>
            <a:ext cx="6504840" cy="1875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/>
          </p:nvPr>
        </p:nvSpPr>
        <p:spPr>
          <a:xfrm>
            <a:off x="0" y="461520"/>
            <a:ext cx="4606560" cy="151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Открытый 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java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key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tetk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Рисунок 4" descr=""/>
          <p:cNvPicPr/>
          <p:nvPr/>
        </p:nvPicPr>
        <p:blipFill>
          <a:blip r:embed="rId1"/>
          <a:stretch/>
        </p:blipFill>
        <p:spPr>
          <a:xfrm>
            <a:off x="4220280" y="461520"/>
            <a:ext cx="7856280" cy="3925080"/>
          </a:xfrm>
          <a:prstGeom prst="rect">
            <a:avLst/>
          </a:prstGeom>
          <a:ln w="0">
            <a:noFill/>
          </a:ln>
        </p:spPr>
      </p:pic>
      <p:pic>
        <p:nvPicPr>
          <p:cNvPr id="97" name="Рисунок 6" descr=""/>
          <p:cNvPicPr/>
          <p:nvPr/>
        </p:nvPicPr>
        <p:blipFill>
          <a:blip r:embed="rId2"/>
          <a:stretch/>
        </p:blipFill>
        <p:spPr>
          <a:xfrm>
            <a:off x="2852640" y="4692240"/>
            <a:ext cx="6485760" cy="1818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Внешняя спецификация алгоритма расшифрования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Vigenere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66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Назначение: восстановление открытого текста из шифровки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Входные данные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C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; p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ключ, ключевое слово.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Выходные данные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S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расшифрованное сообщение 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Ограничения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C, p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набор символов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;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Алгоритм расшифрования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Пронумеровать буквы алфавита порядковыми номерами от 0 до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Повторять ключ p циклически до длины шифротекста C. Для каждого символа шифровки Cᵢ и ключа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pi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определить его числовое значение.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Вычислить числовое значение символа открытого текста по формуле: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Sᵢ = (Cᵢ − pᵢ) mod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где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размер алфавита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Блок-схема алгоритма расшифрования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Vigenere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Рисунок 4" descr=""/>
          <p:cNvPicPr/>
          <p:nvPr/>
        </p:nvPicPr>
        <p:blipFill>
          <a:blip r:embed="rId1"/>
          <a:stretch/>
        </p:blipFill>
        <p:spPr>
          <a:xfrm>
            <a:off x="8460000" y="190440"/>
            <a:ext cx="2914560" cy="5389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Hill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77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222" lnSpcReduction="10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Hill — классический полиграфический шифр подстановки. При его использовании символы открытого текста преобразуются в другие символы с помощью матричного умножения.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Ключом является квадратная обратимая матрица размера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k * k.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Открытый текст переводится в числовую последовательность в соответствии с выбранным алфавитом и разбивается на блоки по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символов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(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если текст не делится на блоки, добавляется доп. символ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x)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.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Каждый блок открытого текста из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символов представляется в виде столбца матрицы. Данная матрица умножается на ключ и результат делится по модулю на размер алфавита, из нее получается шифровка.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Сложность атаки методом грубой силы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O(n^(k*k)),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где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мощность алфавита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k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размер блока. Возможна атака на основе знания исходного текста.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/>
          </p:nvPr>
        </p:nvSpPr>
        <p:spPr>
          <a:xfrm>
            <a:off x="838080" y="461520"/>
            <a:ext cx="3917520" cy="331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66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Открытый 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danilaiv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2 15 22  3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1  9  1 12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16  7 13 11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8  5  9  6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Шифровка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eithblra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Рисунок 5" descr=""/>
          <p:cNvPicPr/>
          <p:nvPr/>
        </p:nvPicPr>
        <p:blipFill>
          <a:blip r:embed="rId1"/>
          <a:stretch/>
        </p:blipFill>
        <p:spPr>
          <a:xfrm>
            <a:off x="763560" y="4841280"/>
            <a:ext cx="4535280" cy="1660320"/>
          </a:xfrm>
          <a:prstGeom prst="rect">
            <a:avLst/>
          </a:prstGeom>
          <a:ln w="0">
            <a:noFill/>
          </a:ln>
        </p:spPr>
      </p:pic>
      <p:pic>
        <p:nvPicPr>
          <p:cNvPr id="106" name="Рисунок 6" descr=""/>
          <p:cNvPicPr/>
          <p:nvPr/>
        </p:nvPicPr>
        <p:blipFill>
          <a:blip r:embed="rId2"/>
          <a:stretch/>
        </p:blipFill>
        <p:spPr>
          <a:xfrm>
            <a:off x="4664160" y="8280"/>
            <a:ext cx="7369560" cy="4832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/>
          </p:nvPr>
        </p:nvSpPr>
        <p:spPr>
          <a:xfrm>
            <a:off x="838080" y="461520"/>
            <a:ext cx="3917520" cy="331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6666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Открытый 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danila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2 15 22  3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1  9  1 12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16  7 13 11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8  5  9  6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Шифровка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eithzyar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Рисунок 4" descr=""/>
          <p:cNvPicPr/>
          <p:nvPr/>
        </p:nvPicPr>
        <p:blipFill>
          <a:blip r:embed="rId1"/>
          <a:stretch/>
        </p:blipFill>
        <p:spPr>
          <a:xfrm>
            <a:off x="4756680" y="44640"/>
            <a:ext cx="7337880" cy="4796280"/>
          </a:xfrm>
          <a:prstGeom prst="rect">
            <a:avLst/>
          </a:prstGeom>
          <a:ln w="0">
            <a:noFill/>
          </a:ln>
        </p:spPr>
      </p:pic>
      <p:pic>
        <p:nvPicPr>
          <p:cNvPr id="109" name="Рисунок 6" descr=""/>
          <p:cNvPicPr/>
          <p:nvPr/>
        </p:nvPicPr>
        <p:blipFill>
          <a:blip r:embed="rId2"/>
          <a:stretch/>
        </p:blipFill>
        <p:spPr>
          <a:xfrm>
            <a:off x="521640" y="4844520"/>
            <a:ext cx="5114880" cy="1852560"/>
          </a:xfrm>
          <a:prstGeom prst="rect">
            <a:avLst/>
          </a:prstGeom>
          <a:ln w="0">
            <a:noFill/>
          </a:ln>
        </p:spPr>
      </p:pic>
      <p:pic>
        <p:nvPicPr>
          <p:cNvPr id="110" name="Рисунок 1" descr=""/>
          <p:cNvPicPr/>
          <p:nvPr/>
        </p:nvPicPr>
        <p:blipFill>
          <a:blip r:embed="rId3"/>
          <a:stretch/>
        </p:blipFill>
        <p:spPr>
          <a:xfrm>
            <a:off x="5869080" y="5285520"/>
            <a:ext cx="6123960" cy="970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Внешняя спецификация алгоритма расшифрования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Hill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9999" lnSpcReduction="10000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Назначение: восстановление открытого текста из шифровки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Входные данные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C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шифровка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; K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ключ, матрица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размером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k*k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Выходные данные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S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расшифрованное сообщение 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Ограничения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K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квадратная обратимая матрица по модулю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где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размер алфавита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Алгоритм расшифрования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Пронумеровать буквы алфавита порядковыми номерами от 0 до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Разбить шифровку на блоки по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k.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Каждый блок представить в виде столбца матрицы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Получить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 = (K^-1 * P) mod m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и перевести числовые значения в символы алфавита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Каждый столбец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блок открытого текста.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Блок-схема алгоритма расшифрования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Hill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Рисунок 3" descr=""/>
          <p:cNvPicPr/>
          <p:nvPr/>
        </p:nvPicPr>
        <p:blipFill>
          <a:blip r:embed="rId1"/>
          <a:stretch/>
        </p:blipFill>
        <p:spPr>
          <a:xfrm>
            <a:off x="3917520" y="1468440"/>
            <a:ext cx="5293440" cy="5195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ADFGVX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838080" y="1442880"/>
            <a:ext cx="10514880" cy="514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7222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ADFGVX — классический фракционный перестановочный шифр.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Ключами являются пароль подстановки и пароль перестановки.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Пароль </a:t>
            </a:r>
            <a:r>
              <a:rPr b="0" lang="ru-RU" sz="2800" spc="-1" strike="noStrike" u="sng">
                <a:solidFill>
                  <a:schemeClr val="dk1"/>
                </a:solidFill>
                <a:uFillTx/>
                <a:latin typeface="Calibri"/>
              </a:rPr>
              <a:t>подстановки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смещает алфавит внутри таблицы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ADFGVX: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сначала идут символы пароля затем остальной алфавит. С помощью таблицы каждому символу исходного сообщения ставится в соответствие пара символов из набора A, D, F, G, V, X.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После подстановки полученная последовательность символов записывается в таблицу с количеством столбцов, равным длине пароля перестановки. Пароль </a:t>
            </a:r>
            <a:r>
              <a:rPr b="0" lang="ru-RU" sz="2800" spc="-1" strike="noStrike" u="sng">
                <a:solidFill>
                  <a:schemeClr val="dk1"/>
                </a:solidFill>
                <a:uFillTx/>
                <a:latin typeface="Calibri"/>
              </a:rPr>
              <a:t>перестановки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определяет порядок перестановки столбцов таблицы. После перестановки символы считываются по столбцам, формируя зашифрованное сообщение.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Сложность атаки методом грубой силы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O(n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! *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m!),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где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мощность алфавита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, m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размер пароля перестановки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/>
          </p:nvPr>
        </p:nvSpPr>
        <p:spPr>
          <a:xfrm>
            <a:off x="838080" y="461520"/>
            <a:ext cx="4068720" cy="331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Открытый текст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DANILAX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подстановки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key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перестановки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BAR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Шифровка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AFVAADGDAVAFFG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Рисунок 1" descr=""/>
          <p:cNvPicPr/>
          <p:nvPr/>
        </p:nvPicPr>
        <p:blipFill>
          <a:blip r:embed="rId1"/>
          <a:stretch/>
        </p:blipFill>
        <p:spPr>
          <a:xfrm>
            <a:off x="5097600" y="239040"/>
            <a:ext cx="7043040" cy="3803760"/>
          </a:xfrm>
          <a:prstGeom prst="rect">
            <a:avLst/>
          </a:prstGeom>
          <a:ln w="0">
            <a:noFill/>
          </a:ln>
        </p:spPr>
      </p:pic>
      <p:pic>
        <p:nvPicPr>
          <p:cNvPr id="119" name="Рисунок 3" descr=""/>
          <p:cNvPicPr/>
          <p:nvPr/>
        </p:nvPicPr>
        <p:blipFill>
          <a:blip r:embed="rId2"/>
          <a:stretch/>
        </p:blipFill>
        <p:spPr>
          <a:xfrm>
            <a:off x="215280" y="4043520"/>
            <a:ext cx="4259880" cy="2456280"/>
          </a:xfrm>
          <a:prstGeom prst="rect">
            <a:avLst/>
          </a:prstGeom>
          <a:ln w="0">
            <a:noFill/>
          </a:ln>
        </p:spPr>
      </p:pic>
      <p:pic>
        <p:nvPicPr>
          <p:cNvPr id="120" name="Рисунок 4" descr=""/>
          <p:cNvPicPr/>
          <p:nvPr/>
        </p:nvPicPr>
        <p:blipFill>
          <a:blip r:embed="rId3"/>
          <a:stretch/>
        </p:blipFill>
        <p:spPr>
          <a:xfrm>
            <a:off x="5097600" y="4576680"/>
            <a:ext cx="6219000" cy="138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Внешняя спецификация алгоритма расшифрования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ADFGVX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503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1111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Назначение: восстановление открытого текста из шифровки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Входные данные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C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шифровка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; K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1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ключ, пароль подстановки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; K2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ключ, пароль перестановки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; A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алфавит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(26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латинских букв + 10 цифр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)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Выходные данные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S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расшифрованное сообщение 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Ограничения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C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из символов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(A,D,F,G,V,X); 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Алгоритм расшифрования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Построить таблицу подстановки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по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K1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и алфавиту. Построить таблицу перестановки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E(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⌈длина(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)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/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длина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(K2)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⌉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строк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;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длина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(K2)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столбцов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).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Если длина(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)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mod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длина(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K2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)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!= 0,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то сначала после перестановки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K2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 алфавитный порядок определить, в каких столбцах будут неполное заполнение. С учетом этого вписать шифровку в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сверху вниз по сортированному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K2,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затем переставить столбцы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 в соответствии с  начальным порядком. После этого читать построчно слева направо и по 2-ум символам получать итоговый символ из открытого текста.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Блок-схема алгоритма расшифрования </a:t>
            </a: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ADFGVX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" name="Рисунок 2" descr=""/>
          <p:cNvPicPr/>
          <p:nvPr/>
        </p:nvPicPr>
        <p:blipFill>
          <a:blip r:embed="rId1"/>
          <a:stretch/>
        </p:blipFill>
        <p:spPr>
          <a:xfrm>
            <a:off x="4674600" y="1690200"/>
            <a:ext cx="4740840" cy="467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Шифр, заданный вариантом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Прототип шифра векторной перестановки - это метод симметричного шифрования, в котором порядок символов открытого текста меняется на основе числового вектора-ключа, при этом сами символы не изменяются.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Ключом шифрования K является перестановка целых чисел от 1 до |B|, которая задает порядок следования байт в шифровке, где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 -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алфавит.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Сложность атаки методом грубой силы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: O(n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!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),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где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 –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длина открытого текста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Рисунок 8" descr=""/>
          <p:cNvPicPr/>
          <p:nvPr/>
        </p:nvPicPr>
        <p:blipFill>
          <a:blip r:embed="rId1"/>
          <a:stretch/>
        </p:blipFill>
        <p:spPr>
          <a:xfrm>
            <a:off x="6095880" y="800280"/>
            <a:ext cx="5552280" cy="894600"/>
          </a:xfrm>
          <a:prstGeom prst="rect">
            <a:avLst/>
          </a:prstGeom>
          <a:ln w="0">
            <a:noFill/>
          </a:ln>
        </p:spPr>
      </p:pic>
      <p:pic>
        <p:nvPicPr>
          <p:cNvPr id="128" name="Рисунок 10" descr=""/>
          <p:cNvPicPr/>
          <p:nvPr/>
        </p:nvPicPr>
        <p:blipFill>
          <a:blip r:embed="rId2"/>
          <a:stretch/>
        </p:blipFill>
        <p:spPr>
          <a:xfrm>
            <a:off x="6095880" y="3097800"/>
            <a:ext cx="5390280" cy="2456640"/>
          </a:xfrm>
          <a:prstGeom prst="rect">
            <a:avLst/>
          </a:prstGeom>
          <a:ln w="0">
            <a:noFill/>
          </a:ln>
        </p:spPr>
      </p:pic>
      <p:pic>
        <p:nvPicPr>
          <p:cNvPr id="129" name="Рисунок 11" descr=""/>
          <p:cNvPicPr/>
          <p:nvPr/>
        </p:nvPicPr>
        <p:blipFill>
          <a:blip r:embed="rId3"/>
          <a:stretch/>
        </p:blipFill>
        <p:spPr>
          <a:xfrm>
            <a:off x="133200" y="349920"/>
            <a:ext cx="5762160" cy="5495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Блок-схема алгоритма зашифрования, заданного вариантом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Рисунок 2" descr=""/>
          <p:cNvPicPr/>
          <p:nvPr/>
        </p:nvPicPr>
        <p:blipFill>
          <a:blip r:embed="rId1"/>
          <a:stretch/>
        </p:blipFill>
        <p:spPr>
          <a:xfrm>
            <a:off x="4347360" y="1854000"/>
            <a:ext cx="3497040" cy="4159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Заключение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78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В работе получены следующие результаты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1)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Изучен шифр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Scytale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и выявлены его следующие характеристики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перестановочный шифр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ключом является количество строк в табличном представлении. Сложность атаки методом грубой силы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: O(n),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где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n –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длина шифротекста.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2) Изучен шифр Агентурный и выявлены его следующие характеристики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шифр моноалфавитной подстановки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ключом являются пароль (для формирования ключевого алфавита) и сдвиг. Сложность атаки методом грубой силы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: O(n!),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где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n –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мощность алфавита.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3) Изучен шифр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Vigenere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и выявлены его следующие характеристики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полиалфавитный шифр подстановки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ключом является периодически повторяющееся ключевое слово. Сложность атаки методом грубой силы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: O(n!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/ (n - m)!),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где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n –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мощность алфавита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, m –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длина ключа.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4) Изучен шифр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Hill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 и выявлены его следующие характеристики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полиграфический шифр подстановки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ключом является квадратная обратимая матрица размера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k * k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. Сложность атаки методом грубой силы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: O(n^(k*k)),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где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n –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мощность алфавита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, k –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размер блока.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5) Изучен шифр ADFGVX и выявлены его следующие характеристики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фракционный перестановочный шифр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ключами являются пароль подстановки и пароль перестановки.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O(n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! *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m!),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где 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n –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мощность алфавита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, m –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размер пароля перестановки.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6) Изучен прототип шифра векторной перестановки и выявлены его следующие характеристики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метод симметричного шифрования, в котором порядок символов открытого текста меняется на основе числового вектора-ключа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.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Разработан и программно реализован алгоритм шифрования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</a:rPr>
              <a:t>: </a:t>
            </a:r>
            <a:r>
              <a:rPr b="0" lang="ru-RU" sz="1500" spc="-1" strike="noStrike">
                <a:solidFill>
                  <a:schemeClr val="dk1"/>
                </a:solidFill>
                <a:latin typeface="Calibri"/>
              </a:rPr>
              <a:t>на вход подаются открытый текст, алфавит, ключ, на выходе получается шифровка.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2954</TotalTime>
  <Application>LibreOffice/24.2.7.2$Linux_X86_64 LibreOffice_project/420$Build-2</Application>
  <AppVersion>15.0000</AppVersion>
  <Words>1805</Words>
  <Paragraphs>157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2026-09-19T12:55:56Z</dcterms:created>
  <dc:creator>Danila Ivanov</dc:creator>
  <dc:description/>
  <dc:language>ru-RU</dc:language>
  <cp:lastModifiedBy/>
  <dcterms:modified xsi:type="dcterms:W3CDTF">2026-09-28T00:57:45Z</dcterms:modified>
  <cp:revision>64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32</vt:i4>
  </property>
</Properties>
</file>